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We're here today to talk about a fundamental challenge facing our industry: PR's data structure problem. This isn't just about better reporting; it's about building a foundation for consistent, comparable, and AI-ready measurement. This distinction is critical for how we prove our value and drive strategic impact. We'll explore why our current approach to data is holding us back and what we can do to fix it. This is an opportunity to redefine how PR operates at a fundamental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 a quick introduction. I've spent [Years] years immersed in PR measurement and communications strategy, focusing on [Area of expertise]. My work has always centered on leveraging data to drive more effective communication. I'm passionate about helping PR teams move beyond anecdotal evidence to truly data-led insights. My goal today is to share some perspectives that I believe are crucial for the future of our profession. Let's get into the core of our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that, this session isn't about the usual suspects: reporting, dashboards, or even measurement frameworks. Those are symptoms, not the root cause. We have a structured communications data problem, and understanding this distinction is vital. Over the next 30 minutes, we'll unpack this problem, from the strategic gap in insight to how AI is exposing our current weaknesses. We'll also explore a new proposal for standardizing our data inputs. This will set the stage for a deeper dive into the operational realities many of us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start with what I call the strategic gap. Sarah Waddington CBE perfectly captures this challenge: if PR teams were consistently data-led, we wouldn't be fighting so hard to prove our value. Notice she says 'PR teams,' not just specialist analysts. This is key. Strategic insight often remains siloed within specialist measurement functions. This means the critical, ongoing analysis that should inform campaigns in real-time simply isn't happening consistently enough. This gap prevents everyday PR from being truly strategic. Now, let's look at what this looks like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the core question: what does this look like outside those specialist teams? We wanted to understand the measurement reality for everyday PR and communications professionals. Our research and roundtables revealed something important. It wasn't a picture of bad work or a lack of effort. Instead, it showed an industry operating without a shared operational structure. This lack of a common foundation is at the heart of our data problem. Next, we'll examine what practitioners told us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research and roundtables revealed a clear picture of the operational challenges facing PR teams today. We found that fragmented taxonomies and inconsistent tagging are rampant, making it nearly impossible to compare data effectively. This leads to a lack of real-time strategic insight during campaigns, meaning teams are often flying blind. It also creates uncertainty about whether existing data is even ready for AI analysis, which is a huge concern for the future. This isn't just about messy data; it's about the strategic consequences of that mess.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operational challenges translate directly into some stark numbers that underscore the reality for PR professionals. A staggering 68% of practitioners feel budget decisions are guesswork without structured analysis. Even more, 75%, find it difficult to lead strategically without consistent insight. And perhaps most concerning, over 85% have no formal method for assessing coverage quality. This isn't a failure of individual effort; it's a symptom of an industry that has never been given a shared operational structure. It's clear we need to move beyond just reporting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a critical distinction: reporting and insight are not the same thing. Reporting tells you what happened; insight tells you what's happening and what to do next. Most PR reporting is retrospective, focusing on how much coverage was achieved. But strategic insight demands real-time learning, asking which narratives are winning and where we should focus our efforts. The issue isn't just that reporting is backward-looking; it's that fragmented data makes ongoing strategic learning operationally difficult. We need PR to stop reporting what happened and start explaining what's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between reporting and insight highlights a fundamental problem: the industry often operates in a loop that produces no real learning. We see activity, it generates coverage, we produce a report, and then we repeat the cycle. But without consistent classification or comparable data, each campaign becomes an isolated event. There's no embedded learning because the structural causes, like inconsistent classification and spreadsheet dependency, prevent meaningful pattern recognition over time. We've built reporting systems, but not shared operational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illustrate this, let's look at a real-world example of operational reality. This table shows how a single taxonomy field, like 'thought leadership,' can appear across one team's data. You see variations like 'Thought Leadership,' 'thought leadership,' 'T. Leadership,' 'Exec Profiling,' and 'Executive Profile' all meaning the same thing. This isn't an isolated incident; we also find duplicated values, broken formulas, and inconsistent sentiment labels. The problem is that time and energy are spent designing classification systems rather than analyzing the coverage itself. This fragmented approach makes it incredibly difficult to gain any consistent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tools are powerful, but they don't automatically solve our core problem. We've seen how messy data gets in spreadsheets, and that problem doesn't vanish just because you buy a fancy platform. The reality is, teams use a mix of tools, or no tools at all, and many supplement manually. This manual supplementation immediately breaks any hope of consistency. We can't expect every PR team globally to use the same vendor. The industry needs a shared, portable structure that works across all these different scenarios. This brings us to the core of our discussion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talked about the symptoms, the fragmented data, the inconsistent reporting. But the root cause is much deeper. PR doesn't just have a measurement problem. It has a fundamental data structure problem. This distinction is critical for us to move forward as an industry. And this problem is only getting more urgent.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data structure problem is becoming even more apparent with the rise of AI. AI thrives on consistency, structure, and repeatable inputs. But our current fragmented data environment is the opposite of what AI needs. Over half of PR professionals aren't confident their data is reliable for AI analysis. Inconsistent taxonomies and sentiment labels lead to unreliable AI outputs. We risk missing the true potential of AI if we don't address this foundational issue. And this brings us to a critical mistake we've made as an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focused on standardizing the wrong things first. We jumped to KPIs, dashboards, and reporting frameworks. But we did this before standardizing the underlying classification and operational data inputs. This is like building a beautiful house on a shaky foundation. Inconsistent inputs will always lead to unreliable comparisons. We need to flip this approach. And this leads to a very simple, yet profound,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KPIs will always change. Our objectives shift, campaigns evolve, and what we measure will adapt. But the underlying classification, the fundamental way we categorize our communications, should not. This is the central idea we need to embrace. It's about finding stability beneath the flux.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KPIs change, but classification shouldn't, what does that look like in practice? It means we need fixed drivers beneath flexible outcomes. We're not saying every campaign should have the same objectives or KPIs. Those are flexible and change with each campaign. But the underlying data points, the 'fixed drivers' like activity type, format, sentiment, and prominence, these should remain constant. These drivers are the stable operational layer. They don't change when your campaign goals shift. They are the bedrock that makes meaningful comparison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establish this structural consistency, a whole new world opens up for PR. This isn't just about tidier data; it's about unlocking real strategic power. We can finally compare performance across campaigns, teams, and markets. This enables true benchmarking and helps us recognize patterns in what actually drives outcomes. It means our insights accumulate, building on each other, instead of starting from scratch every time. And crucially, it makes our data truly AI-ready, providing the consistent inputs AI needs to deliver reliable analysis. Without this consistency, every campaign remains an isolated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beauty of it: this same underlying structure works across all PR disciplines. Whether you're doing consumer PR for brand awareness, corporate PR for stakeholder confidence, or crisis PR for narrative stabilization, the fixed drivers remain the same. The activity type, format, sentiment, and prominence are always relevant. The objectives and outcomes might differ wildly, but the foundational data points don't. This means the fixed drivers don't constrain your strategic flexibility; they actually enable it by making your results comparable across diverse contexts. Same structure, different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while measurement expertise is crucial for designing this system, the system itself must be scalable. It needs to be usable by everyday PR teams, not just specialist analysts. We don't expect PR professionals to become data scientists. But we do need systems that allow strategic insight to become part of their daily workflow. The timing is critical here. If insights only arrive at the end of a campaign, it's often too late to make a difference. Strategic learning needs to happen during the campaign, and that requires an operational structure that's accessible and actionable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new concept in other industries. They improve precisely because they can compare. Think about SEO, paid media, CRM, or finance. They all have shared operational structures that enable cross-campaign benchmarking and consistent performance analysis. But in PR today, we're still largely comparing isolated campaigns using inconsistent systems. This means learning stays siloed, benchmarks are unreliable, and our industry's evidence base remains fragmented. We're missing out on a massive opportunity for collective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shared structure actually unlock for PR? It unlocks the ability to finally compare and benchmark effectively, moving us beyond isolated campaigns. We're talking about meaningful benchmarking across agencies, markets, and campaign types, which means cross-agency comparison becomes possible for the first time at scale. This leads to stronger evidence of PR effectiveness for leadership and more confident investment decisions based on reliable data. Ultimately, this means better strategic learning that accumulates across the industry, clearer budget conversations, and stronger industry credibility with boards and C-suites. It also means better AI analysis, built on consistent, structured inputs. Without this shared structure, every campaign remains an island, every agency incomparable, and every reporting system its own version of PR effectiveness. Other industries improve because they can compare; PR still struggles to do this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want you to pause and consider this: What could PR become if the industry finally had comparable, structured data? The opportunity now isn't simply better reporting. It's about creating a shared operational structure that allows PR to benchmark more credibly, learn more collectively, and demonstrate value more confidently as an industry. Because measurement shouldn't just function as reporting. It should become a system of evidence for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appreciate your time and attention today. I'm happy to take any questions you might have, and I look forward to a good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e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jpe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jpe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jpe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jpe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jpe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jpe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jpe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jpe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jpe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image" Target="../media/image-15-3.jpe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image" Target="../media/image-17-3.jpe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image" Target="../media/image-19-3.jpe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image" Target="../media/image-20-2.png"/><Relationship Id="rId3" Type="http://schemas.openxmlformats.org/officeDocument/2006/relationships/image" Target="../media/image-20-3.jpe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png"/><Relationship Id="rId3" Type="http://schemas.openxmlformats.org/officeDocument/2006/relationships/image" Target="../media/image-21-3.jpe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png"/><Relationship Id="rId3" Type="http://schemas.openxmlformats.org/officeDocument/2006/relationships/image" Target="../media/image-22-3.jpe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image" Target="../media/image-24-3.jpe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image" Target="../media/image-25-2.png"/><Relationship Id="rId3" Type="http://schemas.openxmlformats.org/officeDocument/2006/relationships/image" Target="../media/image-25-3.jpe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png"/><Relationship Id="rId3" Type="http://schemas.openxmlformats.org/officeDocument/2006/relationships/image" Target="../media/image-26-3.jpe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pic>
        <p:nvPicPr>
          <p:cNvPr id="5" name="Image 2" descr="preencoded.png">    </p:cNvPr>
          <p:cNvPicPr>
            <a:picLocks noChangeAspect="1"/>
          </p:cNvPicPr>
          <p:nvPr/>
        </p:nvPicPr>
        <p:blipFill>
          <a:blip r:embed="rId3"/>
          <a:stretch>
            <a:fillRect/>
          </a:stretch>
        </p:blipFill>
        <p:spPr>
          <a:xfrm>
            <a:off x="942975" y="857250"/>
            <a:ext cx="2857500" cy="2857500"/>
          </a:xfrm>
          <a:prstGeom prst="rect">
            <a:avLst/>
          </a:prstGeom>
        </p:spPr>
      </p:pic>
      <p:sp>
        <p:nvSpPr>
          <p:cNvPr id="6" name="Text 0"/>
          <p:cNvSpPr/>
          <p:nvPr/>
        </p:nvSpPr>
        <p:spPr>
          <a:xfrm>
            <a:off x="4600575" y="1143000"/>
            <a:ext cx="3971925" cy="512564"/>
          </a:xfrm>
          <a:prstGeom prst="rect">
            <a:avLst/>
          </a:prstGeom>
          <a:noFill/>
          <a:ln/>
        </p:spPr>
        <p:txBody>
          <a:bodyPr wrap="square" lIns="0" tIns="0" rIns="0" bIns="0" rtlCol="0" anchor="t">
            <a:spAutoFit/>
          </a:bodyPr>
          <a:lstStyle/>
          <a:p>
            <a:pPr algn="l" indent="0" marL="0">
              <a:buNone/>
            </a:pPr>
            <a:r>
              <a:rPr lang="en-US" sz="2450" b="1" dirty="0">
                <a:solidFill>
                  <a:srgbClr val="000000"/>
                </a:solidFill>
                <a:latin typeface="Kanit Bold" pitchFamily="34" charset="0"/>
                <a:ea typeface="Kanit Bold" pitchFamily="34" charset="-122"/>
                <a:cs typeface="Kanit Bold" pitchFamily="34" charset="-120"/>
              </a:rPr>
              <a:t>STELLA BAYLES</a:t>
            </a:r>
            <a:endParaRPr lang="en-US" sz="2450" dirty="0"/>
          </a:p>
        </p:txBody>
      </p:sp>
      <p:sp>
        <p:nvSpPr>
          <p:cNvPr id="7" name="Text 1"/>
          <p:cNvSpPr/>
          <p:nvPr/>
        </p:nvSpPr>
        <p:spPr>
          <a:xfrm>
            <a:off x="4600575" y="1727002"/>
            <a:ext cx="3971925" cy="298252"/>
          </a:xfrm>
          <a:prstGeom prst="rect">
            <a:avLst/>
          </a:prstGeom>
          <a:noFill/>
          <a:ln/>
        </p:spPr>
        <p:txBody>
          <a:bodyPr wrap="square" lIns="0" tIns="0" rIns="0" bIns="0" rtlCol="0" anchor="t">
            <a:spAutoFit/>
          </a:bodyPr>
          <a:lstStyle/>
          <a:p>
            <a:pPr algn="l" indent="0" marL="0">
              <a:buNone/>
            </a:pPr>
            <a:r>
              <a:rPr lang="en-US" sz="1500" dirty="0">
                <a:solidFill>
                  <a:srgbClr val="000000"/>
                </a:solidFill>
                <a:latin typeface="Kanit Medium" pitchFamily="34" charset="0"/>
                <a:ea typeface="Kanit Medium" pitchFamily="34" charset="-122"/>
                <a:cs typeface="Kanit Medium" pitchFamily="34" charset="-120"/>
              </a:rPr>
              <a:t>Head of Industry Relations, CoverageBook</a:t>
            </a:r>
            <a:endParaRPr lang="en-US" sz="1500" dirty="0"/>
          </a:p>
        </p:txBody>
      </p:sp>
      <p:sp>
        <p:nvSpPr>
          <p:cNvPr id="8" name="Text 2"/>
          <p:cNvSpPr/>
          <p:nvPr/>
        </p:nvSpPr>
        <p:spPr>
          <a:xfrm>
            <a:off x="4600575" y="2411016"/>
            <a:ext cx="3971925" cy="720040"/>
          </a:xfrm>
          <a:prstGeom prst="rect">
            <a:avLst/>
          </a:prstGeom>
          <a:noFill/>
          <a:ln/>
        </p:spPr>
        <p:txBody>
          <a:bodyPr wrap="square" lIns="212598" tIns="0" rIns="0" bIns="0" rtlCol="0" anchor="t">
            <a:spAutoFit/>
          </a:bodyPr>
          <a:lstStyle/>
          <a:p>
            <a:pPr algn="l" indent="0" marL="0">
              <a:lnSpc>
                <a:spcPct val="112000"/>
              </a:lnSpc>
              <a:buNone/>
            </a:pPr>
            <a:r>
              <a:rPr lang="en-US" sz="1200" b="1" dirty="0">
                <a:solidFill>
                  <a:srgbClr val="333333"/>
                </a:solidFill>
                <a:latin typeface="Kanit Bold" pitchFamily="34" charset="0"/>
                <a:ea typeface="Kanit Bold" pitchFamily="34" charset="-122"/>
                <a:cs typeface="Kanit Bold" pitchFamily="34" charset="-120"/>
              </a:rPr>
              <a:t>20+ years experience</a:t>
            </a:r>
            <a:r>
              <a:rPr lang="en-US" sz="1250" dirty="0">
                <a:solidFill>
                  <a:srgbClr val="333333"/>
                </a:solidFill>
                <a:latin typeface="Kanit" pitchFamily="34" charset="0"/>
                <a:ea typeface="Kanit" pitchFamily="34" charset="-122"/>
                <a:cs typeface="Kanit" pitchFamily="34" charset="-120"/>
              </a:rPr>
              <a:t> spanning agency, consultancy, and PR tech, pioneering the integration of SEO strategy with PR campaigns.</a:t>
            </a:r>
            <a:endParaRPr lang="en-US" sz="1200" dirty="0"/>
          </a:p>
        </p:txBody>
      </p:sp>
      <p:sp>
        <p:nvSpPr>
          <p:cNvPr id="9" name="Text 3"/>
          <p:cNvSpPr/>
          <p:nvPr/>
        </p:nvSpPr>
        <p:spPr>
          <a:xfrm>
            <a:off x="4600575" y="3273930"/>
            <a:ext cx="3971925" cy="720040"/>
          </a:xfrm>
          <a:prstGeom prst="rect">
            <a:avLst/>
          </a:prstGeom>
          <a:noFill/>
          <a:ln/>
        </p:spPr>
        <p:txBody>
          <a:bodyPr wrap="square" lIns="212598" tIns="0" rIns="0" bIns="0" rtlCol="0" anchor="t">
            <a:spAutoFit/>
          </a:bodyPr>
          <a:lstStyle/>
          <a:p>
            <a:pPr algn="l" indent="0" marL="0">
              <a:lnSpc>
                <a:spcPct val="112000"/>
              </a:lnSpc>
              <a:buNone/>
            </a:pPr>
            <a:r>
              <a:rPr lang="en-US" sz="1200" b="1" dirty="0">
                <a:solidFill>
                  <a:srgbClr val="333333"/>
                </a:solidFill>
                <a:latin typeface="Kanit Bold" pitchFamily="34" charset="0"/>
                <a:ea typeface="Kanit Bold" pitchFamily="34" charset="-122"/>
                <a:cs typeface="Kanit Bold" pitchFamily="34" charset="-120"/>
              </a:rPr>
              <a:t>Author &amp; Podcaster:</a:t>
            </a:r>
            <a:r>
              <a:rPr lang="en-US" sz="1250" dirty="0">
                <a:solidFill>
                  <a:srgbClr val="333333"/>
                </a:solidFill>
                <a:latin typeface="Kanit" pitchFamily="34" charset="0"/>
                <a:ea typeface="Kanit" pitchFamily="34" charset="-122"/>
                <a:cs typeface="Kanit" pitchFamily="34" charset="-120"/>
              </a:rPr>
              <a:t> Wrote </a:t>
            </a:r>
            <a:r>
              <a:rPr lang="en-US" sz="1250" i="1" dirty="0">
                <a:solidFill>
                  <a:srgbClr val="333333"/>
                </a:solidFill>
                <a:latin typeface="Kanit" pitchFamily="34" charset="0"/>
                <a:ea typeface="Kanit" pitchFamily="34" charset="-122"/>
                <a:cs typeface="Kanit" pitchFamily="34" charset="-120"/>
              </a:rPr>
              <a:t>PR's Digital Resolution</a:t>
            </a:r>
            <a:r>
              <a:rPr lang="en-US" sz="1250" dirty="0">
                <a:solidFill>
                  <a:srgbClr val="333333"/>
                </a:solidFill>
                <a:latin typeface="Kanit" pitchFamily="34" charset="0"/>
                <a:ea typeface="Kanit" pitchFamily="34" charset="-122"/>
                <a:cs typeface="Kanit" pitchFamily="34" charset="-120"/>
              </a:rPr>
              <a:t> (2016) and hosts the long-running </a:t>
            </a:r>
            <a:r>
              <a:rPr lang="en-US" sz="1250" i="1" dirty="0">
                <a:solidFill>
                  <a:srgbClr val="333333"/>
                </a:solidFill>
                <a:latin typeface="Kanit" pitchFamily="34" charset="0"/>
                <a:ea typeface="Kanit" pitchFamily="34" charset="-122"/>
                <a:cs typeface="Kanit" pitchFamily="34" charset="-120"/>
              </a:rPr>
              <a:t>PR Resolution Podcast</a:t>
            </a:r>
            <a:r>
              <a:rPr lang="en-US" sz="1250" dirty="0">
                <a:solidFill>
                  <a:srgbClr val="333333"/>
                </a:solidFill>
                <a:latin typeface="Kanit" pitchFamily="34" charset="0"/>
                <a:ea typeface="Kanit" pitchFamily="34" charset="-122"/>
                <a:cs typeface="Kanit" pitchFamily="34" charset="-120"/>
              </a:rPr>
              <a:t>.</a:t>
            </a:r>
            <a:endParaRPr lang="en-US" sz="1200" dirty="0"/>
          </a:p>
        </p:txBody>
      </p:sp>
      <p:sp>
        <p:nvSpPr>
          <p:cNvPr id="10" name="Text 4"/>
          <p:cNvSpPr/>
          <p:nvPr/>
        </p:nvSpPr>
        <p:spPr>
          <a:xfrm>
            <a:off x="4600575" y="4136845"/>
            <a:ext cx="3971925" cy="480027"/>
          </a:xfrm>
          <a:prstGeom prst="rect">
            <a:avLst/>
          </a:prstGeom>
          <a:noFill/>
          <a:ln/>
        </p:spPr>
        <p:txBody>
          <a:bodyPr wrap="square" lIns="212598" tIns="0" rIns="0" bIns="0" rtlCol="0" anchor="t">
            <a:spAutoFit/>
          </a:bodyPr>
          <a:lstStyle/>
          <a:p>
            <a:pPr algn="l" indent="0" marL="0">
              <a:lnSpc>
                <a:spcPct val="112000"/>
              </a:lnSpc>
              <a:buNone/>
            </a:pPr>
            <a:r>
              <a:rPr lang="en-US" sz="1200" b="1" dirty="0">
                <a:solidFill>
                  <a:srgbClr val="333333"/>
                </a:solidFill>
                <a:latin typeface="Kanit Bold" pitchFamily="34" charset="0"/>
                <a:ea typeface="Kanit Bold" pitchFamily="34" charset="-122"/>
                <a:cs typeface="Kanit Bold" pitchFamily="34" charset="-120"/>
              </a:rPr>
              <a:t>Industry Educator:</a:t>
            </a:r>
            <a:r>
              <a:rPr lang="en-US" sz="1250" dirty="0">
                <a:solidFill>
                  <a:srgbClr val="333333"/>
                </a:solidFill>
                <a:latin typeface="Kanit" pitchFamily="34" charset="0"/>
                <a:ea typeface="Kanit" pitchFamily="34" charset="-122"/>
                <a:cs typeface="Kanit" pitchFamily="34" charset="-120"/>
              </a:rPr>
              <a:t> Advocate for smarter, AI-ready PR measurement,</a:t>
            </a:r>
            <a:endParaRPr lang="en-US" sz="1200" dirty="0"/>
          </a:p>
        </p:txBody>
      </p:sp>
      <p:sp>
        <p:nvSpPr>
          <p:cNvPr id="11" name="Text 5"/>
          <p:cNvSpPr/>
          <p:nvPr/>
        </p:nvSpPr>
        <p:spPr>
          <a:xfrm>
            <a:off x="4600575" y="2411016"/>
            <a:ext cx="55364" cy="240013"/>
          </a:xfrm>
          <a:prstGeom prst="rect">
            <a:avLst/>
          </a:prstGeom>
          <a:noFill/>
          <a:ln/>
        </p:spPr>
        <p:txBody>
          <a:bodyPr wrap="none" lIns="0" tIns="0" rIns="0" bIns="0" rtlCol="0" anchor="t">
            <a:spAutoFit/>
          </a:bodyPr>
          <a:lstStyle/>
          <a:p>
            <a:pPr algn="l" indent="0" marL="0">
              <a:lnSpc>
                <a:spcPct val="112000"/>
              </a:lnSpc>
              <a:buNone/>
            </a:pPr>
            <a:r>
              <a:rPr lang="en-US" sz="1200" b="1" dirty="0">
                <a:solidFill>
                  <a:srgbClr val="04787F"/>
                </a:solidFill>
                <a:latin typeface="Kanit Bold" pitchFamily="34" charset="0"/>
                <a:ea typeface="Kanit Bold" pitchFamily="34" charset="-122"/>
                <a:cs typeface="Kanit Bold" pitchFamily="34" charset="-120"/>
              </a:rPr>
              <a:t>•</a:t>
            </a:r>
            <a:endParaRPr lang="en-US" sz="1200" dirty="0"/>
          </a:p>
        </p:txBody>
      </p:sp>
      <p:sp>
        <p:nvSpPr>
          <p:cNvPr id="12" name="Text 6"/>
          <p:cNvSpPr/>
          <p:nvPr/>
        </p:nvSpPr>
        <p:spPr>
          <a:xfrm>
            <a:off x="4600575" y="3273930"/>
            <a:ext cx="55364" cy="240013"/>
          </a:xfrm>
          <a:prstGeom prst="rect">
            <a:avLst/>
          </a:prstGeom>
          <a:noFill/>
          <a:ln/>
        </p:spPr>
        <p:txBody>
          <a:bodyPr wrap="none" lIns="0" tIns="0" rIns="0" bIns="0" rtlCol="0" anchor="t">
            <a:spAutoFit/>
          </a:bodyPr>
          <a:lstStyle/>
          <a:p>
            <a:pPr algn="l" indent="0" marL="0">
              <a:lnSpc>
                <a:spcPct val="112000"/>
              </a:lnSpc>
              <a:buNone/>
            </a:pPr>
            <a:r>
              <a:rPr lang="en-US" sz="1200" b="1" dirty="0">
                <a:solidFill>
                  <a:srgbClr val="04787F"/>
                </a:solidFill>
                <a:latin typeface="Kanit Bold" pitchFamily="34" charset="0"/>
                <a:ea typeface="Kanit Bold" pitchFamily="34" charset="-122"/>
                <a:cs typeface="Kanit Bold" pitchFamily="34" charset="-120"/>
              </a:rPr>
              <a:t>•</a:t>
            </a:r>
            <a:endParaRPr lang="en-US" sz="1200" dirty="0"/>
          </a:p>
        </p:txBody>
      </p:sp>
      <p:sp>
        <p:nvSpPr>
          <p:cNvPr id="13" name="Text 7"/>
          <p:cNvSpPr/>
          <p:nvPr/>
        </p:nvSpPr>
        <p:spPr>
          <a:xfrm>
            <a:off x="4600575" y="4136845"/>
            <a:ext cx="55364" cy="240013"/>
          </a:xfrm>
          <a:prstGeom prst="rect">
            <a:avLst/>
          </a:prstGeom>
          <a:noFill/>
          <a:ln/>
        </p:spPr>
        <p:txBody>
          <a:bodyPr wrap="none" lIns="0" tIns="0" rIns="0" bIns="0" rtlCol="0" anchor="t">
            <a:spAutoFit/>
          </a:bodyPr>
          <a:lstStyle/>
          <a:p>
            <a:pPr algn="l" indent="0" marL="0">
              <a:lnSpc>
                <a:spcPct val="112000"/>
              </a:lnSpc>
              <a:buNone/>
            </a:pPr>
            <a:r>
              <a:rPr lang="en-US" sz="1200" b="1" dirty="0">
                <a:solidFill>
                  <a:srgbClr val="04787F"/>
                </a:solidFill>
                <a:latin typeface="Kanit Bold" pitchFamily="34" charset="0"/>
                <a:ea typeface="Kanit Bold" pitchFamily="34" charset="-122"/>
                <a:cs typeface="Kanit Bold" pitchFamily="34" charset="-120"/>
              </a:rPr>
              <a:t>•</a:t>
            </a:r>
            <a:endParaRPr lang="en-US" sz="1200" dirty="0"/>
          </a:p>
        </p:txBody>
      </p:sp>
      <p:pic>
        <p:nvPicPr>
          <p:cNvPr id="14" name="Image 3" descr="preencoded.png">    </p:cNvPr>
          <p:cNvPicPr>
            <a:picLocks noChangeAspect="1"/>
          </p:cNvPicPr>
          <p:nvPr/>
        </p:nvPicPr>
        <p:blipFill>
          <a:blip r:embed="rId4"/>
          <a:stretch>
            <a:fillRect/>
          </a:stretch>
        </p:blipFill>
        <p:spPr>
          <a:xfrm>
            <a:off x="0" y="4529138"/>
            <a:ext cx="9144000" cy="6143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480054"/>
          </a:xfrm>
          <a:prstGeom prst="rect">
            <a:avLst/>
          </a:prstGeom>
          <a:noFill/>
          <a:ln/>
        </p:spPr>
        <p:txBody>
          <a:bodyPr wrap="none" lIns="0" tIns="0" rIns="0" bIns="0" rtlCol="0" anchor="t">
            <a:spAutoFit/>
          </a:bodyPr>
          <a:lstStyle/>
          <a:p>
            <a:pPr algn="l" indent="0" marL="0">
              <a:lnSpc>
                <a:spcPct val="96000"/>
              </a:lnSpc>
              <a:buNone/>
            </a:pPr>
            <a:r>
              <a:rPr lang="en-US" sz="2850" b="1" dirty="0">
                <a:solidFill>
                  <a:srgbClr val="000000"/>
                </a:solidFill>
                <a:latin typeface="Kanit Bold" pitchFamily="34" charset="0"/>
                <a:ea typeface="Kanit Bold" pitchFamily="34" charset="-122"/>
                <a:cs typeface="Kanit Bold" pitchFamily="34" charset="-120"/>
              </a:rPr>
              <a:t>WHAT WE'LL COVER</a:t>
            </a:r>
            <a:endParaRPr lang="en-US" sz="2850" dirty="0"/>
          </a:p>
        </p:txBody>
      </p:sp>
      <p:sp>
        <p:nvSpPr>
          <p:cNvPr id="6" name="Text 1"/>
          <p:cNvSpPr/>
          <p:nvPr/>
        </p:nvSpPr>
        <p:spPr>
          <a:xfrm>
            <a:off x="571500" y="1408742"/>
            <a:ext cx="428625" cy="514350"/>
          </a:xfrm>
          <a:prstGeom prst="rect">
            <a:avLst/>
          </a:prstGeom>
          <a:noFill/>
          <a:ln/>
        </p:spPr>
        <p:txBody>
          <a:bodyPr wrap="none" lIns="0" tIns="0" rIns="0" bIns="0" rtlCol="0" anchor="t">
            <a:spAutoFit/>
          </a:bodyPr>
          <a:lstStyle/>
          <a:p>
            <a:pPr algn="r" indent="0" marL="0">
              <a:lnSpc>
                <a:spcPct val="80000"/>
              </a:lnSpc>
              <a:buNone/>
            </a:pPr>
            <a:r>
              <a:rPr lang="en-US" sz="3750" b="1" dirty="0">
                <a:solidFill>
                  <a:srgbClr val="FF5800"/>
                </a:solidFill>
                <a:latin typeface="Kanit Bold" pitchFamily="34" charset="0"/>
                <a:ea typeface="Kanit Bold" pitchFamily="34" charset="-122"/>
                <a:cs typeface="Kanit Bold" pitchFamily="34" charset="-120"/>
              </a:rPr>
              <a:t>1</a:t>
            </a:r>
            <a:endParaRPr lang="en-US" sz="3750" dirty="0"/>
          </a:p>
        </p:txBody>
      </p:sp>
      <p:sp>
        <p:nvSpPr>
          <p:cNvPr id="7" name="Text 2"/>
          <p:cNvSpPr/>
          <p:nvPr/>
        </p:nvSpPr>
        <p:spPr>
          <a:xfrm>
            <a:off x="1171575" y="1465892"/>
            <a:ext cx="2959298" cy="240013"/>
          </a:xfrm>
          <a:prstGeom prst="rect">
            <a:avLst/>
          </a:prstGeom>
          <a:noFill/>
          <a:ln/>
        </p:spPr>
        <p:txBody>
          <a:bodyPr wrap="none" lIns="0" tIns="0" rIns="0" bIns="0" rtlCol="0" anchor="t">
            <a:spAutoFit/>
          </a:bodyPr>
          <a:lstStyle/>
          <a:p>
            <a:pPr algn="l" indent="0" marL="0">
              <a:lnSpc>
                <a:spcPct val="96000"/>
              </a:lnSpc>
              <a:buNone/>
            </a:pPr>
            <a:r>
              <a:rPr lang="en-US" sz="1400" b="1" dirty="0">
                <a:solidFill>
                  <a:srgbClr val="000000"/>
                </a:solidFill>
                <a:latin typeface="Kanit Bold" pitchFamily="34" charset="0"/>
                <a:ea typeface="Kanit Bold" pitchFamily="34" charset="-122"/>
                <a:cs typeface="Kanit Bold" pitchFamily="34" charset="-120"/>
              </a:rPr>
              <a:t>THE DATA STRUCTURE PROBLEM</a:t>
            </a:r>
            <a:endParaRPr lang="en-US" sz="1400" dirty="0"/>
          </a:p>
        </p:txBody>
      </p:sp>
      <p:sp>
        <p:nvSpPr>
          <p:cNvPr id="8" name="Text 3"/>
          <p:cNvSpPr/>
          <p:nvPr/>
        </p:nvSpPr>
        <p:spPr>
          <a:xfrm>
            <a:off x="1171575" y="1748768"/>
            <a:ext cx="2959298" cy="214313"/>
          </a:xfrm>
          <a:prstGeom prst="rect">
            <a:avLst/>
          </a:prstGeom>
          <a:noFill/>
          <a:ln/>
        </p:spPr>
        <p:txBody>
          <a:bodyPr wrap="square" lIns="0" tIns="0" rIns="0" bIns="0" rtlCol="0" anchor="t">
            <a:spAutoFit/>
          </a:bodyPr>
          <a:lstStyle/>
          <a:p>
            <a:pPr algn="l" indent="0" marL="0">
              <a:buNone/>
            </a:pPr>
            <a:r>
              <a:rPr lang="en-US" sz="1050" i="1" dirty="0">
                <a:solidFill>
                  <a:srgbClr val="04787F"/>
                </a:solidFill>
                <a:latin typeface="Kanit" pitchFamily="34" charset="0"/>
                <a:ea typeface="Kanit" pitchFamily="34" charset="-122"/>
                <a:cs typeface="Kanit" pitchFamily="34" charset="-120"/>
              </a:rPr>
              <a:t>Why PR's core issue isn't reporting</a:t>
            </a:r>
            <a:endParaRPr lang="en-US" sz="1050" dirty="0"/>
          </a:p>
        </p:txBody>
      </p:sp>
      <p:sp>
        <p:nvSpPr>
          <p:cNvPr id="9" name="Text 4"/>
          <p:cNvSpPr/>
          <p:nvPr/>
        </p:nvSpPr>
        <p:spPr>
          <a:xfrm>
            <a:off x="4679156" y="1408742"/>
            <a:ext cx="428625" cy="514350"/>
          </a:xfrm>
          <a:prstGeom prst="rect">
            <a:avLst/>
          </a:prstGeom>
          <a:noFill/>
          <a:ln/>
        </p:spPr>
        <p:txBody>
          <a:bodyPr wrap="none" lIns="0" tIns="0" rIns="0" bIns="0" rtlCol="0" anchor="t">
            <a:spAutoFit/>
          </a:bodyPr>
          <a:lstStyle/>
          <a:p>
            <a:pPr algn="r" indent="0" marL="0">
              <a:lnSpc>
                <a:spcPct val="80000"/>
              </a:lnSpc>
              <a:buNone/>
            </a:pPr>
            <a:r>
              <a:rPr lang="en-US" sz="3750" b="1" dirty="0">
                <a:solidFill>
                  <a:srgbClr val="FF5800"/>
                </a:solidFill>
                <a:latin typeface="Kanit Bold" pitchFamily="34" charset="0"/>
                <a:ea typeface="Kanit Bold" pitchFamily="34" charset="-122"/>
                <a:cs typeface="Kanit Bold" pitchFamily="34" charset="-120"/>
              </a:rPr>
              <a:t>2</a:t>
            </a:r>
            <a:endParaRPr lang="en-US" sz="3750" dirty="0"/>
          </a:p>
        </p:txBody>
      </p:sp>
      <p:sp>
        <p:nvSpPr>
          <p:cNvPr id="10" name="Text 5"/>
          <p:cNvSpPr/>
          <p:nvPr/>
        </p:nvSpPr>
        <p:spPr>
          <a:xfrm>
            <a:off x="5279231" y="1465892"/>
            <a:ext cx="2557463" cy="240013"/>
          </a:xfrm>
          <a:prstGeom prst="rect">
            <a:avLst/>
          </a:prstGeom>
          <a:noFill/>
          <a:ln/>
        </p:spPr>
        <p:txBody>
          <a:bodyPr wrap="none" lIns="0" tIns="0" rIns="0" bIns="0" rtlCol="0" anchor="t">
            <a:spAutoFit/>
          </a:bodyPr>
          <a:lstStyle/>
          <a:p>
            <a:pPr algn="l" indent="0" marL="0">
              <a:lnSpc>
                <a:spcPct val="96000"/>
              </a:lnSpc>
              <a:buNone/>
            </a:pPr>
            <a:r>
              <a:rPr lang="en-US" sz="1400" b="1" dirty="0">
                <a:solidFill>
                  <a:srgbClr val="000000"/>
                </a:solidFill>
                <a:latin typeface="Kanit Bold" pitchFamily="34" charset="0"/>
                <a:ea typeface="Kanit Bold" pitchFamily="34" charset="-122"/>
                <a:cs typeface="Kanit Bold" pitchFamily="34" charset="-120"/>
              </a:rPr>
              <a:t>THE OPERATIONAL REALITY</a:t>
            </a:r>
            <a:endParaRPr lang="en-US" sz="1400" dirty="0"/>
          </a:p>
        </p:txBody>
      </p:sp>
      <p:sp>
        <p:nvSpPr>
          <p:cNvPr id="11" name="Text 6"/>
          <p:cNvSpPr/>
          <p:nvPr/>
        </p:nvSpPr>
        <p:spPr>
          <a:xfrm>
            <a:off x="5279231" y="1748768"/>
            <a:ext cx="2557463" cy="214313"/>
          </a:xfrm>
          <a:prstGeom prst="rect">
            <a:avLst/>
          </a:prstGeom>
          <a:noFill/>
          <a:ln/>
        </p:spPr>
        <p:txBody>
          <a:bodyPr wrap="square" lIns="0" tIns="0" rIns="0" bIns="0" rtlCol="0" anchor="t">
            <a:spAutoFit/>
          </a:bodyPr>
          <a:lstStyle/>
          <a:p>
            <a:pPr algn="l" indent="0" marL="0">
              <a:buNone/>
            </a:pPr>
            <a:r>
              <a:rPr lang="en-US" sz="1050" i="1" dirty="0">
                <a:solidFill>
                  <a:srgbClr val="04787F"/>
                </a:solidFill>
                <a:latin typeface="Kanit" pitchFamily="34" charset="0"/>
                <a:ea typeface="Kanit" pitchFamily="34" charset="-122"/>
                <a:cs typeface="Kanit" pitchFamily="34" charset="-120"/>
              </a:rPr>
              <a:t>What research and roundtables reveal</a:t>
            </a:r>
            <a:endParaRPr lang="en-US" sz="1050" dirty="0"/>
          </a:p>
        </p:txBody>
      </p:sp>
      <p:sp>
        <p:nvSpPr>
          <p:cNvPr id="12" name="Text 7"/>
          <p:cNvSpPr/>
          <p:nvPr/>
        </p:nvSpPr>
        <p:spPr>
          <a:xfrm>
            <a:off x="571500" y="2177393"/>
            <a:ext cx="428625" cy="514350"/>
          </a:xfrm>
          <a:prstGeom prst="rect">
            <a:avLst/>
          </a:prstGeom>
          <a:noFill/>
          <a:ln/>
        </p:spPr>
        <p:txBody>
          <a:bodyPr wrap="none" lIns="0" tIns="0" rIns="0" bIns="0" rtlCol="0" anchor="t">
            <a:spAutoFit/>
          </a:bodyPr>
          <a:lstStyle/>
          <a:p>
            <a:pPr algn="r" indent="0" marL="0">
              <a:lnSpc>
                <a:spcPct val="80000"/>
              </a:lnSpc>
              <a:buNone/>
            </a:pPr>
            <a:r>
              <a:rPr lang="en-US" sz="3750" b="1" dirty="0">
                <a:solidFill>
                  <a:srgbClr val="FF5800"/>
                </a:solidFill>
                <a:latin typeface="Kanit Bold" pitchFamily="34" charset="0"/>
                <a:ea typeface="Kanit Bold" pitchFamily="34" charset="-122"/>
                <a:cs typeface="Kanit Bold" pitchFamily="34" charset="-120"/>
              </a:rPr>
              <a:t>3</a:t>
            </a:r>
            <a:endParaRPr lang="en-US" sz="3750" dirty="0"/>
          </a:p>
        </p:txBody>
      </p:sp>
      <p:sp>
        <p:nvSpPr>
          <p:cNvPr id="13" name="Text 8"/>
          <p:cNvSpPr/>
          <p:nvPr/>
        </p:nvSpPr>
        <p:spPr>
          <a:xfrm>
            <a:off x="1171575" y="2234543"/>
            <a:ext cx="2889647" cy="240013"/>
          </a:xfrm>
          <a:prstGeom prst="rect">
            <a:avLst/>
          </a:prstGeom>
          <a:noFill/>
          <a:ln/>
        </p:spPr>
        <p:txBody>
          <a:bodyPr wrap="none" lIns="0" tIns="0" rIns="0" bIns="0" rtlCol="0" anchor="t">
            <a:spAutoFit/>
          </a:bodyPr>
          <a:lstStyle/>
          <a:p>
            <a:pPr algn="l" indent="0" marL="0">
              <a:lnSpc>
                <a:spcPct val="96000"/>
              </a:lnSpc>
              <a:buNone/>
            </a:pPr>
            <a:r>
              <a:rPr lang="en-US" sz="1400" b="1" dirty="0">
                <a:solidFill>
                  <a:srgbClr val="000000"/>
                </a:solidFill>
                <a:latin typeface="Kanit Bold" pitchFamily="34" charset="0"/>
                <a:ea typeface="Kanit Bold" pitchFamily="34" charset="-122"/>
                <a:cs typeface="Kanit Bold" pitchFamily="34" charset="-120"/>
              </a:rPr>
              <a:t>THE INDUSTRY MISTAKE</a:t>
            </a:r>
            <a:endParaRPr lang="en-US" sz="1400" dirty="0"/>
          </a:p>
        </p:txBody>
      </p:sp>
      <p:sp>
        <p:nvSpPr>
          <p:cNvPr id="14" name="Text 9"/>
          <p:cNvSpPr/>
          <p:nvPr/>
        </p:nvSpPr>
        <p:spPr>
          <a:xfrm>
            <a:off x="1171575" y="2517418"/>
            <a:ext cx="2889647" cy="214313"/>
          </a:xfrm>
          <a:prstGeom prst="rect">
            <a:avLst/>
          </a:prstGeom>
          <a:noFill/>
          <a:ln/>
        </p:spPr>
        <p:txBody>
          <a:bodyPr wrap="square" lIns="0" tIns="0" rIns="0" bIns="0" rtlCol="0" anchor="t">
            <a:spAutoFit/>
          </a:bodyPr>
          <a:lstStyle/>
          <a:p>
            <a:pPr algn="l" indent="0" marL="0">
              <a:buNone/>
            </a:pPr>
            <a:r>
              <a:rPr lang="en-US" sz="1050" i="1" dirty="0">
                <a:solidFill>
                  <a:srgbClr val="04787F"/>
                </a:solidFill>
                <a:latin typeface="Kanit" pitchFamily="34" charset="0"/>
                <a:ea typeface="Kanit" pitchFamily="34" charset="-122"/>
                <a:cs typeface="Kanit" pitchFamily="34" charset="-120"/>
              </a:rPr>
              <a:t>Standardising outcomes before classification</a:t>
            </a:r>
            <a:endParaRPr lang="en-US" sz="1050" dirty="0"/>
          </a:p>
        </p:txBody>
      </p:sp>
      <p:sp>
        <p:nvSpPr>
          <p:cNvPr id="15" name="Text 10"/>
          <p:cNvSpPr/>
          <p:nvPr/>
        </p:nvSpPr>
        <p:spPr>
          <a:xfrm>
            <a:off x="4679156" y="2177393"/>
            <a:ext cx="428625" cy="514350"/>
          </a:xfrm>
          <a:prstGeom prst="rect">
            <a:avLst/>
          </a:prstGeom>
          <a:noFill/>
          <a:ln/>
        </p:spPr>
        <p:txBody>
          <a:bodyPr wrap="none" lIns="0" tIns="0" rIns="0" bIns="0" rtlCol="0" anchor="t">
            <a:spAutoFit/>
          </a:bodyPr>
          <a:lstStyle/>
          <a:p>
            <a:pPr algn="r" indent="0" marL="0">
              <a:lnSpc>
                <a:spcPct val="80000"/>
              </a:lnSpc>
              <a:buNone/>
            </a:pPr>
            <a:r>
              <a:rPr lang="en-US" sz="3750" b="1" dirty="0">
                <a:solidFill>
                  <a:srgbClr val="FF5800"/>
                </a:solidFill>
                <a:latin typeface="Kanit Bold" pitchFamily="34" charset="0"/>
                <a:ea typeface="Kanit Bold" pitchFamily="34" charset="-122"/>
                <a:cs typeface="Kanit Bold" pitchFamily="34" charset="-120"/>
              </a:rPr>
              <a:t>4</a:t>
            </a:r>
            <a:endParaRPr lang="en-US" sz="3750" dirty="0"/>
          </a:p>
        </p:txBody>
      </p:sp>
      <p:sp>
        <p:nvSpPr>
          <p:cNvPr id="16" name="Text 11"/>
          <p:cNvSpPr/>
          <p:nvPr/>
        </p:nvSpPr>
        <p:spPr>
          <a:xfrm>
            <a:off x="5279231" y="2234543"/>
            <a:ext cx="2537817" cy="240013"/>
          </a:xfrm>
          <a:prstGeom prst="rect">
            <a:avLst/>
          </a:prstGeom>
          <a:noFill/>
          <a:ln/>
        </p:spPr>
        <p:txBody>
          <a:bodyPr wrap="none" lIns="0" tIns="0" rIns="0" bIns="0" rtlCol="0" anchor="t">
            <a:spAutoFit/>
          </a:bodyPr>
          <a:lstStyle/>
          <a:p>
            <a:pPr algn="l" indent="0" marL="0">
              <a:lnSpc>
                <a:spcPct val="96000"/>
              </a:lnSpc>
              <a:buNone/>
            </a:pPr>
            <a:r>
              <a:rPr lang="en-US" sz="1400" b="1" dirty="0">
                <a:solidFill>
                  <a:srgbClr val="000000"/>
                </a:solidFill>
                <a:latin typeface="Kanit Bold" pitchFamily="34" charset="0"/>
                <a:ea typeface="Kanit Bold" pitchFamily="34" charset="-122"/>
                <a:cs typeface="Kanit Bold" pitchFamily="34" charset="-120"/>
              </a:rPr>
              <a:t>THE PROPOSAL</a:t>
            </a:r>
            <a:endParaRPr lang="en-US" sz="1400" dirty="0"/>
          </a:p>
        </p:txBody>
      </p:sp>
      <p:sp>
        <p:nvSpPr>
          <p:cNvPr id="17" name="Text 12"/>
          <p:cNvSpPr/>
          <p:nvPr/>
        </p:nvSpPr>
        <p:spPr>
          <a:xfrm>
            <a:off x="5279231" y="2517418"/>
            <a:ext cx="2537817" cy="214313"/>
          </a:xfrm>
          <a:prstGeom prst="rect">
            <a:avLst/>
          </a:prstGeom>
          <a:noFill/>
          <a:ln/>
        </p:spPr>
        <p:txBody>
          <a:bodyPr wrap="square" lIns="0" tIns="0" rIns="0" bIns="0" rtlCol="0" anchor="t">
            <a:spAutoFit/>
          </a:bodyPr>
          <a:lstStyle/>
          <a:p>
            <a:pPr algn="l" indent="0" marL="0">
              <a:buNone/>
            </a:pPr>
            <a:r>
              <a:rPr lang="en-US" sz="1050" i="1" dirty="0">
                <a:solidFill>
                  <a:srgbClr val="04787F"/>
                </a:solidFill>
                <a:latin typeface="Kanit" pitchFamily="34" charset="0"/>
                <a:ea typeface="Kanit" pitchFamily="34" charset="-122"/>
                <a:cs typeface="Kanit" pitchFamily="34" charset="-120"/>
              </a:rPr>
              <a:t>Fixed drivers beneath flexible outcomes</a:t>
            </a:r>
            <a:endParaRPr lang="en-US" sz="1050" dirty="0"/>
          </a:p>
        </p:txBody>
      </p:sp>
      <p:pic>
        <p:nvPicPr>
          <p:cNvPr id="18"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1057275" y="934938"/>
            <a:ext cx="6657975" cy="1157288"/>
          </a:xfrm>
          <a:prstGeom prst="rect">
            <a:avLst/>
          </a:prstGeom>
          <a:noFill/>
          <a:ln/>
        </p:spPr>
        <p:txBody>
          <a:bodyPr wrap="square" lIns="0" tIns="0" rIns="0" bIns="0" rtlCol="0" anchor="t">
            <a:spAutoFit/>
          </a:bodyPr>
          <a:lstStyle/>
          <a:p>
            <a:pPr algn="l" indent="0" marL="0">
              <a:lnSpc>
                <a:spcPct val="108000"/>
              </a:lnSpc>
              <a:buNone/>
            </a:pPr>
            <a:r>
              <a:rPr lang="en-US" sz="2150" i="1" dirty="0">
                <a:solidFill>
                  <a:srgbClr val="04787F"/>
                </a:solidFill>
                <a:latin typeface="Kanit Medium" pitchFamily="34" charset="0"/>
                <a:ea typeface="Kanit Medium" pitchFamily="34" charset="-122"/>
                <a:cs typeface="Kanit Medium" pitchFamily="34" charset="-120"/>
              </a:rPr>
              <a:t>"If PR teams were consistently speaking to leaders in a more data-led, strategic way, the industry wouldn't need to work so hard to prove its value."</a:t>
            </a:r>
            <a:endParaRPr lang="en-US" sz="2150" dirty="0"/>
          </a:p>
        </p:txBody>
      </p:sp>
      <p:sp>
        <p:nvSpPr>
          <p:cNvPr id="6" name="Text 1"/>
          <p:cNvSpPr/>
          <p:nvPr/>
        </p:nvSpPr>
        <p:spPr>
          <a:xfrm>
            <a:off x="1057275" y="2220813"/>
            <a:ext cx="6657975" cy="276820"/>
          </a:xfrm>
          <a:prstGeom prst="rect">
            <a:avLst/>
          </a:prstGeom>
          <a:noFill/>
          <a:ln/>
        </p:spPr>
        <p:txBody>
          <a:bodyPr wrap="square" lIns="0" tIns="0" rIns="0" bIns="0" rtlCol="0" anchor="t">
            <a:spAutoFit/>
          </a:bodyPr>
          <a:lstStyle/>
          <a:p>
            <a:pPr algn="l" indent="0" marL="0">
              <a:buNone/>
            </a:pPr>
            <a:r>
              <a:rPr lang="en-US" sz="1300" b="1" dirty="0">
                <a:solidFill>
                  <a:srgbClr val="000000"/>
                </a:solidFill>
                <a:latin typeface="Kanit Bold" pitchFamily="34" charset="0"/>
                <a:ea typeface="Kanit Bold" pitchFamily="34" charset="-122"/>
                <a:cs typeface="Kanit Bold" pitchFamily="34" charset="-120"/>
              </a:rPr>
              <a:t>— Sarah Waddington CBE</a:t>
            </a:r>
            <a:endParaRPr lang="en-US" sz="1300" dirty="0"/>
          </a:p>
        </p:txBody>
      </p:sp>
      <p:sp>
        <p:nvSpPr>
          <p:cNvPr id="7" name="Text 2"/>
          <p:cNvSpPr/>
          <p:nvPr/>
        </p:nvSpPr>
        <p:spPr>
          <a:xfrm>
            <a:off x="714375" y="2854821"/>
            <a:ext cx="7000875" cy="639366"/>
          </a:xfrm>
          <a:prstGeom prst="rect">
            <a:avLst/>
          </a:prstGeom>
          <a:noFill/>
          <a:ln/>
        </p:spPr>
        <p:txBody>
          <a:bodyPr wrap="square" lIns="0" tIns="0" rIns="0" bIns="0" rtlCol="0" anchor="t">
            <a:spAutoFit/>
          </a:bodyPr>
          <a:lstStyle/>
          <a:p>
            <a:pPr algn="l" indent="0" marL="0">
              <a:buNone/>
            </a:pPr>
            <a:r>
              <a:rPr lang="en-US" sz="1500" b="1" dirty="0">
                <a:solidFill>
                  <a:srgbClr val="FF5800"/>
                </a:solidFill>
                <a:latin typeface="Kanit Bold" pitchFamily="34" charset="0"/>
                <a:ea typeface="Kanit Bold" pitchFamily="34" charset="-122"/>
                <a:cs typeface="Kanit Bold" pitchFamily="34" charset="-120"/>
              </a:rPr>
              <a:t>Note the phrase: </a:t>
            </a:r>
            <a:r>
              <a:rPr lang="en-US" sz="1500" b="1" dirty="0">
                <a:solidFill>
                  <a:srgbClr val="FF5800"/>
                </a:solidFill>
                <a:latin typeface="Kanit Bold" pitchFamily="34" charset="0"/>
                <a:ea typeface="Kanit Bold" pitchFamily="34" charset="-122"/>
                <a:cs typeface="Kanit Bold" pitchFamily="34" charset="-120"/>
              </a:rPr>
              <a:t>PR teams</a:t>
            </a:r>
            <a:r>
              <a:rPr lang="en-US" sz="1500" b="1" dirty="0">
                <a:solidFill>
                  <a:srgbClr val="FF5800"/>
                </a:solidFill>
                <a:latin typeface="Kanit Bold" pitchFamily="34" charset="0"/>
                <a:ea typeface="Kanit Bold" pitchFamily="34" charset="-122"/>
                <a:cs typeface="Kanit Bold" pitchFamily="34" charset="-120"/>
              </a:rPr>
              <a:t> — not analysts. Not specialist measurement </a:t>
            </a:r>
            <a:r>
              <a:rPr lang="en-US" sz="1500" b="1" dirty="0">
                <a:solidFill>
                  <a:srgbClr val="FF5800"/>
                </a:solidFill>
                <a:latin typeface="Kanit Bold" pitchFamily="34" charset="0"/>
                <a:ea typeface="Kanit Bold" pitchFamily="34" charset="-122"/>
                <a:cs typeface="Kanit Bold" pitchFamily="34" charset="-120"/>
              </a:rPr>
              <a:t>departments. </a:t>
            </a:r>
            <a:r>
              <a:rPr lang="en-US" sz="1500" b="1" dirty="0">
                <a:solidFill>
                  <a:srgbClr val="FF5800"/>
                </a:solidFill>
                <a:latin typeface="Kanit Bold" pitchFamily="34" charset="0"/>
                <a:ea typeface="Kanit Bold" pitchFamily="34" charset="-122"/>
                <a:cs typeface="Kanit Bold" pitchFamily="34" charset="-120"/>
              </a:rPr>
              <a:t>PR teams.</a:t>
            </a:r>
            <a:endParaRPr lang="en-US" sz="1500" dirty="0"/>
          </a:p>
        </p:txBody>
      </p:sp>
      <p:pic>
        <p:nvPicPr>
          <p:cNvPr id="8"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714375" y="1080157"/>
            <a:ext cx="7000875" cy="891518"/>
          </a:xfrm>
          <a:prstGeom prst="rect">
            <a:avLst/>
          </a:prstGeom>
          <a:noFill/>
          <a:ln/>
        </p:spPr>
        <p:txBody>
          <a:bodyPr wrap="square" lIns="0" tIns="0" rIns="0" bIns="0" rtlCol="0" anchor="t">
            <a:spAutoFit/>
          </a:bodyPr>
          <a:lstStyle/>
          <a:p>
            <a:pPr algn="l" indent="0" marL="0">
              <a:lnSpc>
                <a:spcPct val="96000"/>
              </a:lnSpc>
              <a:buNone/>
            </a:pPr>
            <a:r>
              <a:rPr lang="en-US" sz="2650" b="1" dirty="0">
                <a:solidFill>
                  <a:srgbClr val="000000"/>
                </a:solidFill>
                <a:latin typeface="Kanit Bold" pitchFamily="34" charset="0"/>
                <a:ea typeface="Kanit Bold" pitchFamily="34" charset="-122"/>
                <a:cs typeface="Kanit Bold" pitchFamily="34" charset="-120"/>
              </a:rPr>
              <a:t>WHAT DOES THIS LOOK LIKE OUTSIDE SPECIALIST MEASUREMENT TEAMS?</a:t>
            </a:r>
            <a:endParaRPr lang="en-US" sz="2650" dirty="0"/>
          </a:p>
        </p:txBody>
      </p:sp>
      <p:sp>
        <p:nvSpPr>
          <p:cNvPr id="6" name="Text 1"/>
          <p:cNvSpPr/>
          <p:nvPr/>
        </p:nvSpPr>
        <p:spPr>
          <a:xfrm>
            <a:off x="714375" y="2328863"/>
            <a:ext cx="7000875" cy="1020077"/>
          </a:xfrm>
          <a:prstGeom prst="rect">
            <a:avLst/>
          </a:prstGeom>
          <a:noFill/>
          <a:ln/>
        </p:spPr>
        <p:txBody>
          <a:bodyPr wrap="square" lIns="255143" tIns="0" rIns="0" bIns="0" rtlCol="0" anchor="t">
            <a:spAutoFit/>
          </a:bodyPr>
          <a:lstStyle/>
          <a:p>
            <a:pPr algn="l" indent="0" marL="0">
              <a:lnSpc>
                <a:spcPct val="112000"/>
              </a:lnSpc>
              <a:buNone/>
            </a:pPr>
            <a:r>
              <a:rPr lang="en-US" sz="1800" i="1" dirty="0">
                <a:solidFill>
                  <a:srgbClr val="04787F"/>
                </a:solidFill>
                <a:latin typeface="Kanit Medium" pitchFamily="34" charset="0"/>
                <a:ea typeface="Kanit Medium" pitchFamily="34" charset="-122"/>
                <a:cs typeface="Kanit Medium" pitchFamily="34" charset="-120"/>
              </a:rPr>
              <a:t>What emerged was not a picture of bad work. It was a picture of an industry operating without a shared operational structure.</a:t>
            </a:r>
            <a:endParaRPr lang="en-US" sz="1800" dirty="0"/>
          </a:p>
        </p:txBody>
      </p:sp>
      <p:pic>
        <p:nvPicPr>
          <p:cNvPr id="7"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480054"/>
          </a:xfrm>
          <a:prstGeom prst="rect">
            <a:avLst/>
          </a:prstGeom>
          <a:noFill/>
          <a:ln/>
        </p:spPr>
        <p:txBody>
          <a:bodyPr wrap="none" lIns="0" tIns="0" rIns="0" bIns="0" rtlCol="0" anchor="t">
            <a:spAutoFit/>
          </a:bodyPr>
          <a:lstStyle/>
          <a:p>
            <a:pPr algn="l" indent="0" marL="0">
              <a:lnSpc>
                <a:spcPct val="96000"/>
              </a:lnSpc>
              <a:buNone/>
            </a:pPr>
            <a:r>
              <a:rPr lang="en-US" sz="2850" b="1" dirty="0">
                <a:solidFill>
                  <a:srgbClr val="000000"/>
                </a:solidFill>
                <a:latin typeface="Kanit Bold" pitchFamily="34" charset="0"/>
                <a:ea typeface="Kanit Bold" pitchFamily="34" charset="-122"/>
                <a:cs typeface="Kanit Bold" pitchFamily="34" charset="-120"/>
              </a:rPr>
              <a:t>WHAT PRACTITIONERS TOLD US</a:t>
            </a:r>
            <a:endParaRPr lang="en-US" sz="2850" dirty="0"/>
          </a:p>
        </p:txBody>
      </p:sp>
      <p:sp>
        <p:nvSpPr>
          <p:cNvPr id="6" name="Text 1"/>
          <p:cNvSpPr/>
          <p:nvPr/>
        </p:nvSpPr>
        <p:spPr>
          <a:xfrm>
            <a:off x="571500" y="1122992"/>
            <a:ext cx="6858000" cy="240013"/>
          </a:xfrm>
          <a:prstGeom prst="rect">
            <a:avLst/>
          </a:prstGeom>
          <a:noFill/>
          <a:ln/>
        </p:spPr>
        <p:txBody>
          <a:bodyPr wrap="none" lIns="0" tIns="0" rIns="0" bIns="0" rtlCol="0" anchor="t">
            <a:spAutoFit/>
          </a:bodyPr>
          <a:lstStyle/>
          <a:p>
            <a:pPr algn="l" indent="0" marL="0">
              <a:lnSpc>
                <a:spcPct val="112000"/>
              </a:lnSpc>
              <a:buNone/>
            </a:pPr>
            <a:r>
              <a:rPr lang="en-US" sz="1250" i="1" dirty="0">
                <a:solidFill>
                  <a:srgbClr val="737373"/>
                </a:solidFill>
                <a:latin typeface="Kanit" pitchFamily="34" charset="0"/>
                <a:ea typeface="Kanit" pitchFamily="34" charset="-122"/>
                <a:cs typeface="Kanit" pitchFamily="34" charset="-120"/>
              </a:rPr>
              <a:t>Recurring themes from research and roundtables</a:t>
            </a:r>
            <a:endParaRPr lang="en-US" sz="1250" dirty="0"/>
          </a:p>
        </p:txBody>
      </p:sp>
      <p:sp>
        <p:nvSpPr>
          <p:cNvPr id="7" name="Text 2"/>
          <p:cNvSpPr/>
          <p:nvPr/>
        </p:nvSpPr>
        <p:spPr>
          <a:xfrm>
            <a:off x="571500" y="1720193"/>
            <a:ext cx="2193131" cy="391120"/>
          </a:xfrm>
          <a:prstGeom prst="rect">
            <a:avLst/>
          </a:prstGeom>
          <a:noFill/>
          <a:ln/>
        </p:spPr>
        <p:txBody>
          <a:bodyPr wrap="square" lIns="0" tIns="0" rIns="0" bIns="85090" rtlCol="0" anchor="t">
            <a:spAutoFit/>
          </a:bodyPr>
          <a:lstStyle/>
          <a:p>
            <a:pPr algn="l" indent="0" marL="0">
              <a:buNone/>
            </a:pPr>
            <a:r>
              <a:rPr lang="en-US" sz="1400" b="1" dirty="0">
                <a:solidFill>
                  <a:srgbClr val="04787F"/>
                </a:solidFill>
                <a:latin typeface="Kanit Bold" pitchFamily="34" charset="0"/>
                <a:ea typeface="Kanit Bold" pitchFamily="34" charset="-122"/>
                <a:cs typeface="Kanit Bold" pitchFamily="34" charset="-120"/>
              </a:rPr>
              <a:t>Operational Challenges</a:t>
            </a:r>
            <a:endParaRPr lang="en-US" sz="1400" dirty="0"/>
          </a:p>
        </p:txBody>
      </p:sp>
      <p:sp>
        <p:nvSpPr>
          <p:cNvPr id="8" name="Text 3"/>
          <p:cNvSpPr/>
          <p:nvPr/>
        </p:nvSpPr>
        <p:spPr>
          <a:xfrm>
            <a:off x="571500" y="2254188"/>
            <a:ext cx="3760459" cy="408589"/>
          </a:xfrm>
          <a:prstGeom prst="rect">
            <a:avLst/>
          </a:prstGeom>
          <a:noFill/>
          <a:ln/>
        </p:spPr>
        <p:txBody>
          <a:bodyPr wrap="square" lIns="255143" tIns="0" rIns="0" bIns="0" rtlCol="0" anchor="t">
            <a:spAutoFit/>
          </a:bodyPr>
          <a:lstStyle/>
          <a:p>
            <a:pPr algn="l" indent="0" marL="0">
              <a:lnSpc>
                <a:spcPct val="104000"/>
              </a:lnSpc>
              <a:buNone/>
            </a:pPr>
            <a:r>
              <a:rPr lang="en-US" sz="1150" dirty="0">
                <a:solidFill>
                  <a:srgbClr val="333333"/>
                </a:solidFill>
                <a:latin typeface="Kanit" pitchFamily="34" charset="0"/>
                <a:ea typeface="Kanit" pitchFamily="34" charset="-122"/>
                <a:cs typeface="Kanit" pitchFamily="34" charset="-120"/>
              </a:rPr>
              <a:t>Fragmented taxonomies across teams and campaigns</a:t>
            </a:r>
            <a:endParaRPr lang="en-US" sz="1150" dirty="0"/>
          </a:p>
        </p:txBody>
      </p:sp>
      <p:sp>
        <p:nvSpPr>
          <p:cNvPr id="9" name="Text 4"/>
          <p:cNvSpPr/>
          <p:nvPr/>
        </p:nvSpPr>
        <p:spPr>
          <a:xfrm>
            <a:off x="571500" y="2791365"/>
            <a:ext cx="3760459" cy="204295"/>
          </a:xfrm>
          <a:prstGeom prst="rect">
            <a:avLst/>
          </a:prstGeom>
          <a:noFill/>
          <a:ln/>
        </p:spPr>
        <p:txBody>
          <a:bodyPr wrap="none" lIns="255143" tIns="0" rIns="0" bIns="0" rtlCol="0" anchor="t">
            <a:spAutoFit/>
          </a:bodyPr>
          <a:lstStyle/>
          <a:p>
            <a:pPr algn="l" indent="0" marL="0">
              <a:lnSpc>
                <a:spcPct val="104000"/>
              </a:lnSpc>
              <a:buNone/>
            </a:pPr>
            <a:r>
              <a:rPr lang="en-US" sz="1150" dirty="0">
                <a:solidFill>
                  <a:srgbClr val="333333"/>
                </a:solidFill>
                <a:latin typeface="Kanit" pitchFamily="34" charset="0"/>
                <a:ea typeface="Kanit" pitchFamily="34" charset="-122"/>
                <a:cs typeface="Kanit" pitchFamily="34" charset="-120"/>
              </a:rPr>
              <a:t>Inconsistent tagging and classification</a:t>
            </a:r>
            <a:endParaRPr lang="en-US" sz="1150" dirty="0"/>
          </a:p>
        </p:txBody>
      </p:sp>
      <p:sp>
        <p:nvSpPr>
          <p:cNvPr id="10" name="Text 5"/>
          <p:cNvSpPr/>
          <p:nvPr/>
        </p:nvSpPr>
        <p:spPr>
          <a:xfrm>
            <a:off x="571500" y="3124247"/>
            <a:ext cx="3760459" cy="408589"/>
          </a:xfrm>
          <a:prstGeom prst="rect">
            <a:avLst/>
          </a:prstGeom>
          <a:noFill/>
          <a:ln/>
        </p:spPr>
        <p:txBody>
          <a:bodyPr wrap="square" lIns="255143" tIns="0" rIns="0" bIns="0" rtlCol="0" anchor="t">
            <a:spAutoFit/>
          </a:bodyPr>
          <a:lstStyle/>
          <a:p>
            <a:pPr algn="l" indent="0" marL="0">
              <a:lnSpc>
                <a:spcPct val="104000"/>
              </a:lnSpc>
              <a:buNone/>
            </a:pPr>
            <a:r>
              <a:rPr lang="en-US" sz="1150" dirty="0">
                <a:solidFill>
                  <a:srgbClr val="333333"/>
                </a:solidFill>
                <a:latin typeface="Kanit" pitchFamily="34" charset="0"/>
                <a:ea typeface="Kanit" pitchFamily="34" charset="-122"/>
                <a:cs typeface="Kanit" pitchFamily="34" charset="-120"/>
              </a:rPr>
              <a:t>Spreadsheets becoming the primary system of record</a:t>
            </a:r>
            <a:endParaRPr lang="en-US" sz="1150" dirty="0"/>
          </a:p>
        </p:txBody>
      </p:sp>
      <p:sp>
        <p:nvSpPr>
          <p:cNvPr id="11" name="Text 6"/>
          <p:cNvSpPr/>
          <p:nvPr/>
        </p:nvSpPr>
        <p:spPr>
          <a:xfrm>
            <a:off x="571500" y="3661423"/>
            <a:ext cx="3760459" cy="204295"/>
          </a:xfrm>
          <a:prstGeom prst="rect">
            <a:avLst/>
          </a:prstGeom>
          <a:noFill/>
          <a:ln/>
        </p:spPr>
        <p:txBody>
          <a:bodyPr wrap="none" lIns="255143" tIns="0" rIns="0" bIns="0" rtlCol="0" anchor="t">
            <a:spAutoFit/>
          </a:bodyPr>
          <a:lstStyle/>
          <a:p>
            <a:pPr algn="l" indent="0" marL="0">
              <a:lnSpc>
                <a:spcPct val="104000"/>
              </a:lnSpc>
              <a:buNone/>
            </a:pPr>
            <a:r>
              <a:rPr lang="en-US" sz="1150" dirty="0">
                <a:solidFill>
                  <a:srgbClr val="333333"/>
                </a:solidFill>
                <a:latin typeface="Kanit" pitchFamily="34" charset="0"/>
                <a:ea typeface="Kanit" pitchFamily="34" charset="-122"/>
                <a:cs typeface="Kanit" pitchFamily="34" charset="-120"/>
              </a:rPr>
              <a:t>Processes living in one person's head</a:t>
            </a:r>
            <a:endParaRPr lang="en-US" sz="1150" dirty="0"/>
          </a:p>
        </p:txBody>
      </p:sp>
      <p:sp>
        <p:nvSpPr>
          <p:cNvPr id="12" name="Text 7"/>
          <p:cNvSpPr/>
          <p:nvPr/>
        </p:nvSpPr>
        <p:spPr>
          <a:xfrm>
            <a:off x="571500" y="3994305"/>
            <a:ext cx="3760459" cy="408589"/>
          </a:xfrm>
          <a:prstGeom prst="rect">
            <a:avLst/>
          </a:prstGeom>
          <a:noFill/>
          <a:ln/>
        </p:spPr>
        <p:txBody>
          <a:bodyPr wrap="square" lIns="255143" tIns="0" rIns="0" bIns="0" rtlCol="0" anchor="t">
            <a:spAutoFit/>
          </a:bodyPr>
          <a:lstStyle/>
          <a:p>
            <a:pPr algn="l" indent="0" marL="0">
              <a:lnSpc>
                <a:spcPct val="104000"/>
              </a:lnSpc>
              <a:buNone/>
            </a:pPr>
            <a:r>
              <a:rPr lang="en-US" sz="1150" dirty="0">
                <a:solidFill>
                  <a:srgbClr val="333333"/>
                </a:solidFill>
                <a:latin typeface="Kanit" pitchFamily="34" charset="0"/>
                <a:ea typeface="Kanit" pitchFamily="34" charset="-122"/>
                <a:cs typeface="Kanit" pitchFamily="34" charset="-120"/>
              </a:rPr>
              <a:t>Inconsistent classifications between teams and markets</a:t>
            </a:r>
            <a:endParaRPr lang="en-US" sz="1150" dirty="0"/>
          </a:p>
        </p:txBody>
      </p:sp>
      <p:sp>
        <p:nvSpPr>
          <p:cNvPr id="13" name="Text 8"/>
          <p:cNvSpPr/>
          <p:nvPr/>
        </p:nvSpPr>
        <p:spPr>
          <a:xfrm>
            <a:off x="571500" y="2268475"/>
            <a:ext cx="77688" cy="167125"/>
          </a:xfrm>
          <a:prstGeom prst="rect">
            <a:avLst/>
          </a:prstGeom>
          <a:noFill/>
          <a:ln/>
        </p:spPr>
        <p:txBody>
          <a:bodyPr wrap="none" lIns="0" tIns="0" rIns="0" bIns="0" rtlCol="0" anchor="t">
            <a:spAutoFit/>
          </a:bodyPr>
          <a:lstStyle/>
          <a:p>
            <a:pPr algn="l" indent="0" marL="0">
              <a:lnSpc>
                <a:spcPct val="104000"/>
              </a:lnSpc>
              <a:buNone/>
            </a:pPr>
            <a:r>
              <a:rPr lang="en-US" sz="950" dirty="0">
                <a:solidFill>
                  <a:srgbClr val="04787F"/>
                </a:solidFill>
                <a:latin typeface="Kanit" pitchFamily="34" charset="0"/>
                <a:ea typeface="Kanit" pitchFamily="34" charset="-122"/>
                <a:cs typeface="Kanit" pitchFamily="34" charset="-120"/>
              </a:rPr>
              <a:t>■</a:t>
            </a:r>
            <a:endParaRPr lang="en-US" sz="950" dirty="0"/>
          </a:p>
        </p:txBody>
      </p:sp>
      <p:sp>
        <p:nvSpPr>
          <p:cNvPr id="14" name="Text 9"/>
          <p:cNvSpPr/>
          <p:nvPr/>
        </p:nvSpPr>
        <p:spPr>
          <a:xfrm>
            <a:off x="571500" y="2805652"/>
            <a:ext cx="77688" cy="167125"/>
          </a:xfrm>
          <a:prstGeom prst="rect">
            <a:avLst/>
          </a:prstGeom>
          <a:noFill/>
          <a:ln/>
        </p:spPr>
        <p:txBody>
          <a:bodyPr wrap="none" lIns="0" tIns="0" rIns="0" bIns="0" rtlCol="0" anchor="t">
            <a:spAutoFit/>
          </a:bodyPr>
          <a:lstStyle/>
          <a:p>
            <a:pPr algn="l" indent="0" marL="0">
              <a:lnSpc>
                <a:spcPct val="104000"/>
              </a:lnSpc>
              <a:buNone/>
            </a:pPr>
            <a:r>
              <a:rPr lang="en-US" sz="950" dirty="0">
                <a:solidFill>
                  <a:srgbClr val="04787F"/>
                </a:solidFill>
                <a:latin typeface="Kanit" pitchFamily="34" charset="0"/>
                <a:ea typeface="Kanit" pitchFamily="34" charset="-122"/>
                <a:cs typeface="Kanit" pitchFamily="34" charset="-120"/>
              </a:rPr>
              <a:t>■</a:t>
            </a:r>
            <a:endParaRPr lang="en-US" sz="950" dirty="0"/>
          </a:p>
        </p:txBody>
      </p:sp>
      <p:sp>
        <p:nvSpPr>
          <p:cNvPr id="15" name="Text 10"/>
          <p:cNvSpPr/>
          <p:nvPr/>
        </p:nvSpPr>
        <p:spPr>
          <a:xfrm>
            <a:off x="571500" y="3138534"/>
            <a:ext cx="77688" cy="167125"/>
          </a:xfrm>
          <a:prstGeom prst="rect">
            <a:avLst/>
          </a:prstGeom>
          <a:noFill/>
          <a:ln/>
        </p:spPr>
        <p:txBody>
          <a:bodyPr wrap="none" lIns="0" tIns="0" rIns="0" bIns="0" rtlCol="0" anchor="t">
            <a:spAutoFit/>
          </a:bodyPr>
          <a:lstStyle/>
          <a:p>
            <a:pPr algn="l" indent="0" marL="0">
              <a:lnSpc>
                <a:spcPct val="104000"/>
              </a:lnSpc>
              <a:buNone/>
            </a:pPr>
            <a:r>
              <a:rPr lang="en-US" sz="950" dirty="0">
                <a:solidFill>
                  <a:srgbClr val="04787F"/>
                </a:solidFill>
                <a:latin typeface="Kanit" pitchFamily="34" charset="0"/>
                <a:ea typeface="Kanit" pitchFamily="34" charset="-122"/>
                <a:cs typeface="Kanit" pitchFamily="34" charset="-120"/>
              </a:rPr>
              <a:t>■</a:t>
            </a:r>
            <a:endParaRPr lang="en-US" sz="950" dirty="0"/>
          </a:p>
        </p:txBody>
      </p:sp>
      <p:sp>
        <p:nvSpPr>
          <p:cNvPr id="16" name="Text 11"/>
          <p:cNvSpPr/>
          <p:nvPr/>
        </p:nvSpPr>
        <p:spPr>
          <a:xfrm>
            <a:off x="571500" y="3675711"/>
            <a:ext cx="77688" cy="167125"/>
          </a:xfrm>
          <a:prstGeom prst="rect">
            <a:avLst/>
          </a:prstGeom>
          <a:noFill/>
          <a:ln/>
        </p:spPr>
        <p:txBody>
          <a:bodyPr wrap="none" lIns="0" tIns="0" rIns="0" bIns="0" rtlCol="0" anchor="t">
            <a:spAutoFit/>
          </a:bodyPr>
          <a:lstStyle/>
          <a:p>
            <a:pPr algn="l" indent="0" marL="0">
              <a:lnSpc>
                <a:spcPct val="104000"/>
              </a:lnSpc>
              <a:buNone/>
            </a:pPr>
            <a:r>
              <a:rPr lang="en-US" sz="950" dirty="0">
                <a:solidFill>
                  <a:srgbClr val="04787F"/>
                </a:solidFill>
                <a:latin typeface="Kanit" pitchFamily="34" charset="0"/>
                <a:ea typeface="Kanit" pitchFamily="34" charset="-122"/>
                <a:cs typeface="Kanit" pitchFamily="34" charset="-120"/>
              </a:rPr>
              <a:t>■</a:t>
            </a:r>
            <a:endParaRPr lang="en-US" sz="950" dirty="0"/>
          </a:p>
        </p:txBody>
      </p:sp>
      <p:sp>
        <p:nvSpPr>
          <p:cNvPr id="17" name="Text 12"/>
          <p:cNvSpPr/>
          <p:nvPr/>
        </p:nvSpPr>
        <p:spPr>
          <a:xfrm>
            <a:off x="571500" y="4008593"/>
            <a:ext cx="77688" cy="167125"/>
          </a:xfrm>
          <a:prstGeom prst="rect">
            <a:avLst/>
          </a:prstGeom>
          <a:noFill/>
          <a:ln/>
        </p:spPr>
        <p:txBody>
          <a:bodyPr wrap="none" lIns="0" tIns="0" rIns="0" bIns="0" rtlCol="0" anchor="t">
            <a:spAutoFit/>
          </a:bodyPr>
          <a:lstStyle/>
          <a:p>
            <a:pPr algn="l" indent="0" marL="0">
              <a:lnSpc>
                <a:spcPct val="104000"/>
              </a:lnSpc>
              <a:buNone/>
            </a:pPr>
            <a:r>
              <a:rPr lang="en-US" sz="950" dirty="0">
                <a:solidFill>
                  <a:srgbClr val="04787F"/>
                </a:solidFill>
                <a:latin typeface="Kanit" pitchFamily="34" charset="0"/>
                <a:ea typeface="Kanit" pitchFamily="34" charset="-122"/>
                <a:cs typeface="Kanit" pitchFamily="34" charset="-120"/>
              </a:rPr>
              <a:t>■</a:t>
            </a:r>
            <a:endParaRPr lang="en-US" sz="950" dirty="0"/>
          </a:p>
        </p:txBody>
      </p:sp>
      <p:sp>
        <p:nvSpPr>
          <p:cNvPr id="18" name="Text 13"/>
          <p:cNvSpPr/>
          <p:nvPr/>
        </p:nvSpPr>
        <p:spPr>
          <a:xfrm>
            <a:off x="4812041" y="1720193"/>
            <a:ext cx="2230636" cy="391120"/>
          </a:xfrm>
          <a:prstGeom prst="rect">
            <a:avLst/>
          </a:prstGeom>
          <a:noFill/>
          <a:ln/>
        </p:spPr>
        <p:txBody>
          <a:bodyPr wrap="square" lIns="0" tIns="0" rIns="0" bIns="85090" rtlCol="0" anchor="t">
            <a:spAutoFit/>
          </a:bodyPr>
          <a:lstStyle/>
          <a:p>
            <a:pPr algn="l" indent="0" marL="0">
              <a:buNone/>
            </a:pPr>
            <a:r>
              <a:rPr lang="en-US" sz="1400" b="1" dirty="0">
                <a:solidFill>
                  <a:srgbClr val="04787F"/>
                </a:solidFill>
                <a:latin typeface="Kanit Bold" pitchFamily="34" charset="0"/>
                <a:ea typeface="Kanit Bold" pitchFamily="34" charset="-122"/>
                <a:cs typeface="Kanit Bold" pitchFamily="34" charset="-120"/>
              </a:rPr>
              <a:t>Strategic Consequences</a:t>
            </a:r>
            <a:endParaRPr lang="en-US" sz="1400" dirty="0"/>
          </a:p>
        </p:txBody>
      </p:sp>
      <p:sp>
        <p:nvSpPr>
          <p:cNvPr id="19" name="Text 14"/>
          <p:cNvSpPr/>
          <p:nvPr/>
        </p:nvSpPr>
        <p:spPr>
          <a:xfrm>
            <a:off x="4812041" y="2254188"/>
            <a:ext cx="3760459" cy="408589"/>
          </a:xfrm>
          <a:prstGeom prst="rect">
            <a:avLst/>
          </a:prstGeom>
          <a:noFill/>
          <a:ln/>
        </p:spPr>
        <p:txBody>
          <a:bodyPr wrap="square" lIns="255143" tIns="0" rIns="0" bIns="0" rtlCol="0" anchor="t">
            <a:spAutoFit/>
          </a:bodyPr>
          <a:lstStyle/>
          <a:p>
            <a:pPr algn="l" indent="0" marL="0">
              <a:lnSpc>
                <a:spcPct val="104000"/>
              </a:lnSpc>
              <a:buNone/>
            </a:pPr>
            <a:r>
              <a:rPr lang="en-US" sz="1150" dirty="0">
                <a:solidFill>
                  <a:srgbClr val="333333"/>
                </a:solidFill>
                <a:latin typeface="Kanit" pitchFamily="34" charset="0"/>
                <a:ea typeface="Kanit" pitchFamily="34" charset="-122"/>
                <a:cs typeface="Kanit" pitchFamily="34" charset="-120"/>
              </a:rPr>
              <a:t>Lack of real-time strategic insight during campaigns</a:t>
            </a:r>
            <a:endParaRPr lang="en-US" sz="1150" dirty="0"/>
          </a:p>
        </p:txBody>
      </p:sp>
      <p:sp>
        <p:nvSpPr>
          <p:cNvPr id="20" name="Text 15"/>
          <p:cNvSpPr/>
          <p:nvPr/>
        </p:nvSpPr>
        <p:spPr>
          <a:xfrm>
            <a:off x="4812041" y="2791365"/>
            <a:ext cx="3760459" cy="204295"/>
          </a:xfrm>
          <a:prstGeom prst="rect">
            <a:avLst/>
          </a:prstGeom>
          <a:noFill/>
          <a:ln/>
        </p:spPr>
        <p:txBody>
          <a:bodyPr wrap="none" lIns="255143" tIns="0" rIns="0" bIns="0" rtlCol="0" anchor="t">
            <a:spAutoFit/>
          </a:bodyPr>
          <a:lstStyle/>
          <a:p>
            <a:pPr algn="l" indent="0" marL="0">
              <a:lnSpc>
                <a:spcPct val="104000"/>
              </a:lnSpc>
              <a:buNone/>
            </a:pPr>
            <a:r>
              <a:rPr lang="en-US" sz="1150" dirty="0">
                <a:solidFill>
                  <a:srgbClr val="333333"/>
                </a:solidFill>
                <a:latin typeface="Kanit" pitchFamily="34" charset="0"/>
                <a:ea typeface="Kanit" pitchFamily="34" charset="-122"/>
                <a:cs typeface="Kanit" pitchFamily="34" charset="-120"/>
              </a:rPr>
              <a:t>Uncertainty about AI readiness of existing data</a:t>
            </a:r>
            <a:endParaRPr lang="en-US" sz="1150" dirty="0"/>
          </a:p>
        </p:txBody>
      </p:sp>
      <p:sp>
        <p:nvSpPr>
          <p:cNvPr id="21" name="Text 16"/>
          <p:cNvSpPr/>
          <p:nvPr/>
        </p:nvSpPr>
        <p:spPr>
          <a:xfrm>
            <a:off x="4812041" y="3124247"/>
            <a:ext cx="3760459" cy="204295"/>
          </a:xfrm>
          <a:prstGeom prst="rect">
            <a:avLst/>
          </a:prstGeom>
          <a:noFill/>
          <a:ln/>
        </p:spPr>
        <p:txBody>
          <a:bodyPr wrap="none" lIns="255143" tIns="0" rIns="0" bIns="0" rtlCol="0" anchor="t">
            <a:spAutoFit/>
          </a:bodyPr>
          <a:lstStyle/>
          <a:p>
            <a:pPr algn="l" indent="0" marL="0">
              <a:lnSpc>
                <a:spcPct val="104000"/>
              </a:lnSpc>
              <a:buNone/>
            </a:pPr>
            <a:r>
              <a:rPr lang="en-US" sz="1150" dirty="0">
                <a:solidFill>
                  <a:srgbClr val="333333"/>
                </a:solidFill>
                <a:latin typeface="Kanit" pitchFamily="34" charset="0"/>
                <a:ea typeface="Kanit" pitchFamily="34" charset="-122"/>
                <a:cs typeface="Kanit" pitchFamily="34" charset="-120"/>
              </a:rPr>
              <a:t>Manual supplementation outside monitoring tools</a:t>
            </a:r>
            <a:endParaRPr lang="en-US" sz="1150" dirty="0"/>
          </a:p>
        </p:txBody>
      </p:sp>
      <p:sp>
        <p:nvSpPr>
          <p:cNvPr id="22" name="Text 17"/>
          <p:cNvSpPr/>
          <p:nvPr/>
        </p:nvSpPr>
        <p:spPr>
          <a:xfrm>
            <a:off x="4812041" y="3457129"/>
            <a:ext cx="3760459" cy="204295"/>
          </a:xfrm>
          <a:prstGeom prst="rect">
            <a:avLst/>
          </a:prstGeom>
          <a:noFill/>
          <a:ln/>
        </p:spPr>
        <p:txBody>
          <a:bodyPr wrap="none" lIns="255143" tIns="0" rIns="0" bIns="0" rtlCol="0" anchor="t">
            <a:spAutoFit/>
          </a:bodyPr>
          <a:lstStyle/>
          <a:p>
            <a:pPr algn="l" indent="0" marL="0">
              <a:lnSpc>
                <a:spcPct val="104000"/>
              </a:lnSpc>
              <a:buNone/>
            </a:pPr>
            <a:r>
              <a:rPr lang="en-US" sz="1150" dirty="0">
                <a:solidFill>
                  <a:srgbClr val="333333"/>
                </a:solidFill>
                <a:latin typeface="Kanit" pitchFamily="34" charset="0"/>
                <a:ea typeface="Kanit" pitchFamily="34" charset="-122"/>
                <a:cs typeface="Kanit" pitchFamily="34" charset="-120"/>
              </a:rPr>
              <a:t>No shared language for coverage quality</a:t>
            </a:r>
            <a:endParaRPr lang="en-US" sz="1150" dirty="0"/>
          </a:p>
        </p:txBody>
      </p:sp>
      <p:sp>
        <p:nvSpPr>
          <p:cNvPr id="23" name="Text 18"/>
          <p:cNvSpPr/>
          <p:nvPr/>
        </p:nvSpPr>
        <p:spPr>
          <a:xfrm>
            <a:off x="4812041" y="3790011"/>
            <a:ext cx="3760459" cy="204295"/>
          </a:xfrm>
          <a:prstGeom prst="rect">
            <a:avLst/>
          </a:prstGeom>
          <a:noFill/>
          <a:ln/>
        </p:spPr>
        <p:txBody>
          <a:bodyPr wrap="none" lIns="255143" tIns="0" rIns="0" bIns="0" rtlCol="0" anchor="t">
            <a:spAutoFit/>
          </a:bodyPr>
          <a:lstStyle/>
          <a:p>
            <a:pPr algn="l" indent="0" marL="0">
              <a:lnSpc>
                <a:spcPct val="104000"/>
              </a:lnSpc>
              <a:buNone/>
            </a:pPr>
            <a:r>
              <a:rPr lang="en-US" sz="1150" dirty="0">
                <a:solidFill>
                  <a:srgbClr val="333333"/>
                </a:solidFill>
                <a:latin typeface="Kanit" pitchFamily="34" charset="0"/>
                <a:ea typeface="Kanit" pitchFamily="34" charset="-122"/>
                <a:cs typeface="Kanit" pitchFamily="34" charset="-120"/>
              </a:rPr>
              <a:t>Learning that arrives too late to change outcomes</a:t>
            </a:r>
            <a:endParaRPr lang="en-US" sz="1150" dirty="0"/>
          </a:p>
        </p:txBody>
      </p:sp>
      <p:sp>
        <p:nvSpPr>
          <p:cNvPr id="24" name="Text 19"/>
          <p:cNvSpPr/>
          <p:nvPr/>
        </p:nvSpPr>
        <p:spPr>
          <a:xfrm>
            <a:off x="4812041" y="2268475"/>
            <a:ext cx="77688" cy="167125"/>
          </a:xfrm>
          <a:prstGeom prst="rect">
            <a:avLst/>
          </a:prstGeom>
          <a:noFill/>
          <a:ln/>
        </p:spPr>
        <p:txBody>
          <a:bodyPr wrap="none" lIns="0" tIns="0" rIns="0" bIns="0" rtlCol="0" anchor="t">
            <a:spAutoFit/>
          </a:bodyPr>
          <a:lstStyle/>
          <a:p>
            <a:pPr algn="l" indent="0" marL="0">
              <a:lnSpc>
                <a:spcPct val="104000"/>
              </a:lnSpc>
              <a:buNone/>
            </a:pPr>
            <a:r>
              <a:rPr lang="en-US" sz="950" dirty="0">
                <a:solidFill>
                  <a:srgbClr val="04787F"/>
                </a:solidFill>
                <a:latin typeface="Kanit" pitchFamily="34" charset="0"/>
                <a:ea typeface="Kanit" pitchFamily="34" charset="-122"/>
                <a:cs typeface="Kanit" pitchFamily="34" charset="-120"/>
              </a:rPr>
              <a:t>■</a:t>
            </a:r>
            <a:endParaRPr lang="en-US" sz="950" dirty="0"/>
          </a:p>
        </p:txBody>
      </p:sp>
      <p:sp>
        <p:nvSpPr>
          <p:cNvPr id="25" name="Text 20"/>
          <p:cNvSpPr/>
          <p:nvPr/>
        </p:nvSpPr>
        <p:spPr>
          <a:xfrm>
            <a:off x="4812041" y="2805652"/>
            <a:ext cx="77688" cy="167125"/>
          </a:xfrm>
          <a:prstGeom prst="rect">
            <a:avLst/>
          </a:prstGeom>
          <a:noFill/>
          <a:ln/>
        </p:spPr>
        <p:txBody>
          <a:bodyPr wrap="none" lIns="0" tIns="0" rIns="0" bIns="0" rtlCol="0" anchor="t">
            <a:spAutoFit/>
          </a:bodyPr>
          <a:lstStyle/>
          <a:p>
            <a:pPr algn="l" indent="0" marL="0">
              <a:lnSpc>
                <a:spcPct val="104000"/>
              </a:lnSpc>
              <a:buNone/>
            </a:pPr>
            <a:r>
              <a:rPr lang="en-US" sz="950" dirty="0">
                <a:solidFill>
                  <a:srgbClr val="04787F"/>
                </a:solidFill>
                <a:latin typeface="Kanit" pitchFamily="34" charset="0"/>
                <a:ea typeface="Kanit" pitchFamily="34" charset="-122"/>
                <a:cs typeface="Kanit" pitchFamily="34" charset="-120"/>
              </a:rPr>
              <a:t>■</a:t>
            </a:r>
            <a:endParaRPr lang="en-US" sz="950" dirty="0"/>
          </a:p>
        </p:txBody>
      </p:sp>
      <p:sp>
        <p:nvSpPr>
          <p:cNvPr id="26" name="Text 21"/>
          <p:cNvSpPr/>
          <p:nvPr/>
        </p:nvSpPr>
        <p:spPr>
          <a:xfrm>
            <a:off x="4812041" y="3138534"/>
            <a:ext cx="77688" cy="167125"/>
          </a:xfrm>
          <a:prstGeom prst="rect">
            <a:avLst/>
          </a:prstGeom>
          <a:noFill/>
          <a:ln/>
        </p:spPr>
        <p:txBody>
          <a:bodyPr wrap="none" lIns="0" tIns="0" rIns="0" bIns="0" rtlCol="0" anchor="t">
            <a:spAutoFit/>
          </a:bodyPr>
          <a:lstStyle/>
          <a:p>
            <a:pPr algn="l" indent="0" marL="0">
              <a:lnSpc>
                <a:spcPct val="104000"/>
              </a:lnSpc>
              <a:buNone/>
            </a:pPr>
            <a:r>
              <a:rPr lang="en-US" sz="950" dirty="0">
                <a:solidFill>
                  <a:srgbClr val="04787F"/>
                </a:solidFill>
                <a:latin typeface="Kanit" pitchFamily="34" charset="0"/>
                <a:ea typeface="Kanit" pitchFamily="34" charset="-122"/>
                <a:cs typeface="Kanit" pitchFamily="34" charset="-120"/>
              </a:rPr>
              <a:t>■</a:t>
            </a:r>
            <a:endParaRPr lang="en-US" sz="950" dirty="0"/>
          </a:p>
        </p:txBody>
      </p:sp>
      <p:sp>
        <p:nvSpPr>
          <p:cNvPr id="27" name="Text 22"/>
          <p:cNvSpPr/>
          <p:nvPr/>
        </p:nvSpPr>
        <p:spPr>
          <a:xfrm>
            <a:off x="4812041" y="3471416"/>
            <a:ext cx="77688" cy="167125"/>
          </a:xfrm>
          <a:prstGeom prst="rect">
            <a:avLst/>
          </a:prstGeom>
          <a:noFill/>
          <a:ln/>
        </p:spPr>
        <p:txBody>
          <a:bodyPr wrap="none" lIns="0" tIns="0" rIns="0" bIns="0" rtlCol="0" anchor="t">
            <a:spAutoFit/>
          </a:bodyPr>
          <a:lstStyle/>
          <a:p>
            <a:pPr algn="l" indent="0" marL="0">
              <a:lnSpc>
                <a:spcPct val="104000"/>
              </a:lnSpc>
              <a:buNone/>
            </a:pPr>
            <a:r>
              <a:rPr lang="en-US" sz="950" dirty="0">
                <a:solidFill>
                  <a:srgbClr val="04787F"/>
                </a:solidFill>
                <a:latin typeface="Kanit" pitchFamily="34" charset="0"/>
                <a:ea typeface="Kanit" pitchFamily="34" charset="-122"/>
                <a:cs typeface="Kanit" pitchFamily="34" charset="-120"/>
              </a:rPr>
              <a:t>■</a:t>
            </a:r>
            <a:endParaRPr lang="en-US" sz="950" dirty="0"/>
          </a:p>
        </p:txBody>
      </p:sp>
      <p:sp>
        <p:nvSpPr>
          <p:cNvPr id="28" name="Text 23"/>
          <p:cNvSpPr/>
          <p:nvPr/>
        </p:nvSpPr>
        <p:spPr>
          <a:xfrm>
            <a:off x="4812041" y="3804298"/>
            <a:ext cx="77688" cy="167125"/>
          </a:xfrm>
          <a:prstGeom prst="rect">
            <a:avLst/>
          </a:prstGeom>
          <a:noFill/>
          <a:ln/>
        </p:spPr>
        <p:txBody>
          <a:bodyPr wrap="none" lIns="0" tIns="0" rIns="0" bIns="0" rtlCol="0" anchor="t">
            <a:spAutoFit/>
          </a:bodyPr>
          <a:lstStyle/>
          <a:p>
            <a:pPr algn="l" indent="0" marL="0">
              <a:lnSpc>
                <a:spcPct val="104000"/>
              </a:lnSpc>
              <a:buNone/>
            </a:pPr>
            <a:r>
              <a:rPr lang="en-US" sz="950" dirty="0">
                <a:solidFill>
                  <a:srgbClr val="04787F"/>
                </a:solidFill>
                <a:latin typeface="Kanit" pitchFamily="34" charset="0"/>
                <a:ea typeface="Kanit" pitchFamily="34" charset="-122"/>
                <a:cs typeface="Kanit" pitchFamily="34" charset="-120"/>
              </a:rPr>
              <a:t>■</a:t>
            </a:r>
            <a:endParaRPr lang="en-US" sz="950" dirty="0"/>
          </a:p>
        </p:txBody>
      </p:sp>
      <p:pic>
        <p:nvPicPr>
          <p:cNvPr id="29" name="Image 2" descr="preencoded.png">    </p:cNvPr>
          <p:cNvPicPr>
            <a:picLocks noChangeAspect="1"/>
          </p:cNvPicPr>
          <p:nvPr/>
        </p:nvPicPr>
        <p:blipFill>
          <a:blip r:embed="rId3"/>
          <a:stretch>
            <a:fillRect/>
          </a:stretch>
        </p:blipFill>
        <p:spPr>
          <a:xfrm>
            <a:off x="-46230" y="4525501"/>
            <a:ext cx="9190211" cy="6185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480054"/>
          </a:xfrm>
          <a:prstGeom prst="rect">
            <a:avLst/>
          </a:prstGeom>
          <a:noFill/>
          <a:ln/>
        </p:spPr>
        <p:txBody>
          <a:bodyPr wrap="none" lIns="0" tIns="0" rIns="0" bIns="0" rtlCol="0" anchor="t">
            <a:spAutoFit/>
          </a:bodyPr>
          <a:lstStyle/>
          <a:p>
            <a:pPr algn="l" indent="0" marL="0">
              <a:lnSpc>
                <a:spcPct val="96000"/>
              </a:lnSpc>
              <a:buNone/>
            </a:pPr>
            <a:r>
              <a:rPr lang="en-US" sz="2850" b="1" dirty="0">
                <a:solidFill>
                  <a:srgbClr val="000000"/>
                </a:solidFill>
                <a:latin typeface="Kanit Bold" pitchFamily="34" charset="0"/>
                <a:ea typeface="Kanit Bold" pitchFamily="34" charset="-122"/>
                <a:cs typeface="Kanit Bold" pitchFamily="34" charset="-120"/>
              </a:rPr>
              <a:t>THE NUMBERS BEHIND THE REALITY</a:t>
            </a:r>
            <a:endParaRPr lang="en-US" sz="2850" dirty="0"/>
          </a:p>
        </p:txBody>
      </p:sp>
      <p:sp>
        <p:nvSpPr>
          <p:cNvPr id="6" name="Text 1"/>
          <p:cNvSpPr/>
          <p:nvPr/>
        </p:nvSpPr>
        <p:spPr>
          <a:xfrm>
            <a:off x="571500" y="1122992"/>
            <a:ext cx="6858000" cy="240013"/>
          </a:xfrm>
          <a:prstGeom prst="rect">
            <a:avLst/>
          </a:prstGeom>
          <a:noFill/>
          <a:ln/>
        </p:spPr>
        <p:txBody>
          <a:bodyPr wrap="none" lIns="0" tIns="0" rIns="0" bIns="0" rtlCol="0" anchor="t">
            <a:spAutoFit/>
          </a:bodyPr>
          <a:lstStyle/>
          <a:p>
            <a:pPr algn="l" indent="0" marL="0">
              <a:lnSpc>
                <a:spcPct val="112000"/>
              </a:lnSpc>
              <a:buNone/>
            </a:pPr>
            <a:r>
              <a:rPr lang="en-US" sz="1250" i="1" dirty="0">
                <a:solidFill>
                  <a:srgbClr val="737373"/>
                </a:solidFill>
                <a:latin typeface="Kanit" pitchFamily="34" charset="0"/>
                <a:ea typeface="Kanit" pitchFamily="34" charset="-122"/>
                <a:cs typeface="Kanit" pitchFamily="34" charset="-120"/>
              </a:rPr>
              <a:t>Research with PR and communications professionals</a:t>
            </a:r>
            <a:endParaRPr lang="en-US" sz="1250" dirty="0"/>
          </a:p>
        </p:txBody>
      </p:sp>
      <p:sp>
        <p:nvSpPr>
          <p:cNvPr id="7" name="Text 2"/>
          <p:cNvSpPr/>
          <p:nvPr/>
        </p:nvSpPr>
        <p:spPr>
          <a:xfrm>
            <a:off x="571500" y="1791630"/>
            <a:ext cx="1285875" cy="514350"/>
          </a:xfrm>
          <a:prstGeom prst="rect">
            <a:avLst/>
          </a:prstGeom>
          <a:noFill/>
          <a:ln/>
        </p:spPr>
        <p:txBody>
          <a:bodyPr wrap="none" lIns="0" tIns="0" rIns="0" bIns="0" rtlCol="0" anchor="t">
            <a:spAutoFit/>
          </a:bodyPr>
          <a:lstStyle/>
          <a:p>
            <a:pPr algn="l" indent="0" marL="0">
              <a:lnSpc>
                <a:spcPct val="80000"/>
              </a:lnSpc>
              <a:buNone/>
            </a:pPr>
            <a:r>
              <a:rPr lang="en-US" sz="3750" b="1" dirty="0">
                <a:solidFill>
                  <a:srgbClr val="04787F"/>
                </a:solidFill>
                <a:latin typeface="Kanit Bold" pitchFamily="34" charset="0"/>
                <a:ea typeface="Kanit Bold" pitchFamily="34" charset="-122"/>
                <a:cs typeface="Kanit Bold" pitchFamily="34" charset="-120"/>
              </a:rPr>
              <a:t>68%</a:t>
            </a:r>
            <a:endParaRPr lang="en-US" sz="3750" dirty="0"/>
          </a:p>
        </p:txBody>
      </p:sp>
      <p:sp>
        <p:nvSpPr>
          <p:cNvPr id="8" name="Text 3"/>
          <p:cNvSpPr/>
          <p:nvPr/>
        </p:nvSpPr>
        <p:spPr>
          <a:xfrm>
            <a:off x="1857375" y="1791630"/>
            <a:ext cx="2500313" cy="777190"/>
          </a:xfrm>
          <a:prstGeom prst="rect">
            <a:avLst/>
          </a:prstGeom>
          <a:noFill/>
          <a:ln/>
        </p:spPr>
        <p:txBody>
          <a:bodyPr wrap="square" lIns="0" tIns="68072"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Say budget decisions without structured analysis are guesswork</a:t>
            </a:r>
            <a:endParaRPr lang="en-US" sz="1250" dirty="0"/>
          </a:p>
        </p:txBody>
      </p:sp>
      <p:sp>
        <p:nvSpPr>
          <p:cNvPr id="9" name="Text 4"/>
          <p:cNvSpPr/>
          <p:nvPr/>
        </p:nvSpPr>
        <p:spPr>
          <a:xfrm>
            <a:off x="4786313" y="1791630"/>
            <a:ext cx="1285875" cy="514350"/>
          </a:xfrm>
          <a:prstGeom prst="rect">
            <a:avLst/>
          </a:prstGeom>
          <a:noFill/>
          <a:ln/>
        </p:spPr>
        <p:txBody>
          <a:bodyPr wrap="none" lIns="0" tIns="0" rIns="0" bIns="0" rtlCol="0" anchor="t">
            <a:spAutoFit/>
          </a:bodyPr>
          <a:lstStyle/>
          <a:p>
            <a:pPr algn="l" indent="0" marL="0">
              <a:lnSpc>
                <a:spcPct val="80000"/>
              </a:lnSpc>
              <a:buNone/>
            </a:pPr>
            <a:r>
              <a:rPr lang="en-US" sz="3750" b="1" dirty="0">
                <a:solidFill>
                  <a:srgbClr val="04787F"/>
                </a:solidFill>
                <a:latin typeface="Kanit Bold" pitchFamily="34" charset="0"/>
                <a:ea typeface="Kanit Bold" pitchFamily="34" charset="-122"/>
                <a:cs typeface="Kanit Bold" pitchFamily="34" charset="-120"/>
              </a:rPr>
              <a:t>75%</a:t>
            </a:r>
            <a:endParaRPr lang="en-US" sz="3750" dirty="0"/>
          </a:p>
        </p:txBody>
      </p:sp>
      <p:sp>
        <p:nvSpPr>
          <p:cNvPr id="10" name="Text 5"/>
          <p:cNvSpPr/>
          <p:nvPr/>
        </p:nvSpPr>
        <p:spPr>
          <a:xfrm>
            <a:off x="6072188" y="1791630"/>
            <a:ext cx="2500313" cy="777190"/>
          </a:xfrm>
          <a:prstGeom prst="rect">
            <a:avLst/>
          </a:prstGeom>
          <a:noFill/>
          <a:ln/>
        </p:spPr>
        <p:txBody>
          <a:bodyPr wrap="square" lIns="0" tIns="68072"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Find it difficult to lead PR strategically without structured insight</a:t>
            </a:r>
            <a:endParaRPr lang="en-US" sz="1250" dirty="0"/>
          </a:p>
        </p:txBody>
      </p:sp>
      <p:sp>
        <p:nvSpPr>
          <p:cNvPr id="11" name="Text 6"/>
          <p:cNvSpPr/>
          <p:nvPr/>
        </p:nvSpPr>
        <p:spPr>
          <a:xfrm>
            <a:off x="571500" y="2926007"/>
            <a:ext cx="1285875" cy="514350"/>
          </a:xfrm>
          <a:prstGeom prst="rect">
            <a:avLst/>
          </a:prstGeom>
          <a:noFill/>
          <a:ln/>
        </p:spPr>
        <p:txBody>
          <a:bodyPr wrap="none" lIns="0" tIns="0" rIns="0" bIns="0" rtlCol="0" anchor="t">
            <a:spAutoFit/>
          </a:bodyPr>
          <a:lstStyle/>
          <a:p>
            <a:pPr algn="l" indent="0" marL="0">
              <a:lnSpc>
                <a:spcPct val="80000"/>
              </a:lnSpc>
              <a:buNone/>
            </a:pPr>
            <a:r>
              <a:rPr lang="en-US" sz="3750" b="1" dirty="0">
                <a:solidFill>
                  <a:srgbClr val="04787F"/>
                </a:solidFill>
                <a:latin typeface="Kanit Bold" pitchFamily="34" charset="0"/>
                <a:ea typeface="Kanit Bold" pitchFamily="34" charset="-122"/>
                <a:cs typeface="Kanit Bold" pitchFamily="34" charset="-120"/>
              </a:rPr>
              <a:t>85%</a:t>
            </a:r>
            <a:endParaRPr lang="en-US" sz="3750" dirty="0"/>
          </a:p>
        </p:txBody>
      </p:sp>
      <p:sp>
        <p:nvSpPr>
          <p:cNvPr id="12" name="Text 7"/>
          <p:cNvSpPr/>
          <p:nvPr/>
        </p:nvSpPr>
        <p:spPr>
          <a:xfrm>
            <a:off x="1857375" y="2926007"/>
            <a:ext cx="2500313" cy="537177"/>
          </a:xfrm>
          <a:prstGeom prst="rect">
            <a:avLst/>
          </a:prstGeom>
          <a:noFill/>
          <a:ln/>
        </p:spPr>
        <p:txBody>
          <a:bodyPr wrap="square" lIns="0" tIns="68072"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Have no formal method for assessing coverage quality</a:t>
            </a:r>
            <a:endParaRPr lang="en-US" sz="1250" dirty="0"/>
          </a:p>
        </p:txBody>
      </p:sp>
      <p:sp>
        <p:nvSpPr>
          <p:cNvPr id="13" name="Text 8"/>
          <p:cNvSpPr/>
          <p:nvPr/>
        </p:nvSpPr>
        <p:spPr>
          <a:xfrm>
            <a:off x="4786313" y="2926007"/>
            <a:ext cx="1285875" cy="514350"/>
          </a:xfrm>
          <a:prstGeom prst="rect">
            <a:avLst/>
          </a:prstGeom>
          <a:noFill/>
          <a:ln/>
        </p:spPr>
        <p:txBody>
          <a:bodyPr wrap="none" lIns="0" tIns="0" rIns="0" bIns="0" rtlCol="0" anchor="t">
            <a:spAutoFit/>
          </a:bodyPr>
          <a:lstStyle/>
          <a:p>
            <a:pPr algn="l" indent="0" marL="0">
              <a:lnSpc>
                <a:spcPct val="80000"/>
              </a:lnSpc>
              <a:buNone/>
            </a:pPr>
            <a:r>
              <a:rPr lang="en-US" sz="3750" b="1" dirty="0">
                <a:solidFill>
                  <a:srgbClr val="04787F"/>
                </a:solidFill>
                <a:latin typeface="Kanit Bold" pitchFamily="34" charset="0"/>
                <a:ea typeface="Kanit Bold" pitchFamily="34" charset="-122"/>
                <a:cs typeface="Kanit Bold" pitchFamily="34" charset="-120"/>
              </a:rPr>
              <a:t>50%+</a:t>
            </a:r>
            <a:endParaRPr lang="en-US" sz="3750" dirty="0"/>
          </a:p>
        </p:txBody>
      </p:sp>
      <p:sp>
        <p:nvSpPr>
          <p:cNvPr id="14" name="Text 9"/>
          <p:cNvSpPr/>
          <p:nvPr/>
        </p:nvSpPr>
        <p:spPr>
          <a:xfrm>
            <a:off x="6072188" y="2926007"/>
            <a:ext cx="2500313" cy="537177"/>
          </a:xfrm>
          <a:prstGeom prst="rect">
            <a:avLst/>
          </a:prstGeom>
          <a:noFill/>
          <a:ln/>
        </p:spPr>
        <p:txBody>
          <a:bodyPr wrap="square" lIns="0" tIns="68072"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Believe their systems would struggle if key people left</a:t>
            </a:r>
            <a:endParaRPr lang="en-US" sz="1250" dirty="0"/>
          </a:p>
        </p:txBody>
      </p:sp>
      <p:sp>
        <p:nvSpPr>
          <p:cNvPr id="15" name="Text 10"/>
          <p:cNvSpPr/>
          <p:nvPr/>
        </p:nvSpPr>
        <p:spPr>
          <a:xfrm>
            <a:off x="1171575" y="3820371"/>
            <a:ext cx="6800850" cy="707231"/>
          </a:xfrm>
          <a:prstGeom prst="rect">
            <a:avLst/>
          </a:prstGeom>
          <a:noFill/>
          <a:ln/>
        </p:spPr>
        <p:txBody>
          <a:bodyPr wrap="square" lIns="0" tIns="212598" rIns="0" bIns="0" rtlCol="0" anchor="t">
            <a:spAutoFit/>
          </a:bodyPr>
          <a:lstStyle/>
          <a:p>
            <a:pPr algn="ctr" indent="0" marL="0">
              <a:buNone/>
            </a:pPr>
            <a:r>
              <a:rPr lang="en-US" sz="1250" i="1" dirty="0">
                <a:solidFill>
                  <a:srgbClr val="000000"/>
                </a:solidFill>
                <a:latin typeface="Kanit" pitchFamily="34" charset="0"/>
                <a:ea typeface="Kanit" pitchFamily="34" charset="-122"/>
                <a:cs typeface="Kanit" pitchFamily="34" charset="-120"/>
              </a:rPr>
              <a:t>"This isn't a failure of effort. It's a symptom of an industry that has never been given a shared operational structure."</a:t>
            </a:r>
            <a:endParaRPr lang="en-US" sz="1250" dirty="0"/>
          </a:p>
        </p:txBody>
      </p:sp>
      <p:pic>
        <p:nvPicPr>
          <p:cNvPr id="16"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445759"/>
          </a:xfrm>
          <a:prstGeom prst="rect">
            <a:avLst/>
          </a:prstGeom>
          <a:noFill/>
          <a:ln/>
        </p:spPr>
        <p:txBody>
          <a:bodyPr wrap="none" lIns="0" tIns="0" rIns="0" bIns="0" rtlCol="0" anchor="t">
            <a:spAutoFit/>
          </a:bodyPr>
          <a:lstStyle/>
          <a:p>
            <a:pPr algn="l" indent="0" marL="0">
              <a:lnSpc>
                <a:spcPct val="96000"/>
              </a:lnSpc>
              <a:buNone/>
            </a:pPr>
            <a:r>
              <a:rPr lang="en-US" sz="2650" b="1" dirty="0">
                <a:solidFill>
                  <a:srgbClr val="000000"/>
                </a:solidFill>
                <a:latin typeface="Kanit Bold" pitchFamily="34" charset="0"/>
                <a:ea typeface="Kanit Bold" pitchFamily="34" charset="-122"/>
                <a:cs typeface="Kanit Bold" pitchFamily="34" charset="-120"/>
              </a:rPr>
              <a:t>REPORTING ≠ INSIGHT</a:t>
            </a:r>
            <a:endParaRPr lang="en-US" sz="2650" dirty="0"/>
          </a:p>
        </p:txBody>
      </p:sp>
      <p:sp>
        <p:nvSpPr>
          <p:cNvPr id="6" name="Text 1"/>
          <p:cNvSpPr/>
          <p:nvPr/>
        </p:nvSpPr>
        <p:spPr>
          <a:xfrm>
            <a:off x="571500" y="1445884"/>
            <a:ext cx="3600450" cy="478631"/>
          </a:xfrm>
          <a:prstGeom prst="rect">
            <a:avLst/>
          </a:prstGeom>
          <a:noFill/>
          <a:ln/>
        </p:spPr>
        <p:txBody>
          <a:bodyPr wrap="square" lIns="0" tIns="0" rIns="0" bIns="102108" rtlCol="0" anchor="t">
            <a:spAutoFit/>
          </a:bodyPr>
          <a:lstStyle/>
          <a:p>
            <a:pPr algn="l" indent="0" marL="0">
              <a:buNone/>
            </a:pPr>
            <a:r>
              <a:rPr lang="en-US" sz="1700" b="1" dirty="0">
                <a:solidFill>
                  <a:srgbClr val="04787F"/>
                </a:solidFill>
                <a:latin typeface="Kanit Bold" pitchFamily="34" charset="0"/>
                <a:ea typeface="Kanit Bold" pitchFamily="34" charset="-122"/>
                <a:cs typeface="Kanit Bold" pitchFamily="34" charset="-120"/>
              </a:rPr>
              <a:t>Retrospective Reporting</a:t>
            </a:r>
            <a:endParaRPr lang="en-US" sz="1700" dirty="0"/>
          </a:p>
        </p:txBody>
      </p:sp>
      <p:sp>
        <p:nvSpPr>
          <p:cNvPr id="7" name="Text 2"/>
          <p:cNvSpPr/>
          <p:nvPr/>
        </p:nvSpPr>
        <p:spPr>
          <a:xfrm>
            <a:off x="571500" y="2138828"/>
            <a:ext cx="3600450" cy="298252"/>
          </a:xfrm>
          <a:prstGeom prst="rect">
            <a:avLst/>
          </a:prstGeom>
          <a:noFill/>
          <a:ln/>
        </p:spPr>
        <p:txBody>
          <a:bodyPr wrap="square" lIns="255143" tIns="0" rIns="0" bIns="0" rtlCol="0" anchor="t">
            <a:spAutoFit/>
          </a:bodyPr>
          <a:lstStyle/>
          <a:p>
            <a:pPr algn="l" indent="0" marL="0">
              <a:buNone/>
            </a:pPr>
            <a:r>
              <a:rPr lang="en-US" sz="1500" dirty="0">
                <a:solidFill>
                  <a:srgbClr val="333333"/>
                </a:solidFill>
                <a:latin typeface="Kanit" pitchFamily="34" charset="0"/>
                <a:ea typeface="Kanit" pitchFamily="34" charset="-122"/>
                <a:cs typeface="Kanit" pitchFamily="34" charset="-120"/>
              </a:rPr>
              <a:t>What happened?</a:t>
            </a:r>
            <a:endParaRPr lang="en-US" sz="1500" dirty="0"/>
          </a:p>
        </p:txBody>
      </p:sp>
      <p:sp>
        <p:nvSpPr>
          <p:cNvPr id="8" name="Text 3"/>
          <p:cNvSpPr/>
          <p:nvPr/>
        </p:nvSpPr>
        <p:spPr>
          <a:xfrm>
            <a:off x="571500" y="2594242"/>
            <a:ext cx="3600450" cy="298252"/>
          </a:xfrm>
          <a:prstGeom prst="rect">
            <a:avLst/>
          </a:prstGeom>
          <a:noFill/>
          <a:ln/>
        </p:spPr>
        <p:txBody>
          <a:bodyPr wrap="square" lIns="255143" tIns="0" rIns="0" bIns="0" rtlCol="0" anchor="t">
            <a:spAutoFit/>
          </a:bodyPr>
          <a:lstStyle/>
          <a:p>
            <a:pPr algn="l" indent="0" marL="0">
              <a:buNone/>
            </a:pPr>
            <a:r>
              <a:rPr lang="en-US" sz="1500" dirty="0">
                <a:solidFill>
                  <a:srgbClr val="333333"/>
                </a:solidFill>
                <a:latin typeface="Kanit" pitchFamily="34" charset="0"/>
                <a:ea typeface="Kanit" pitchFamily="34" charset="-122"/>
                <a:cs typeface="Kanit" pitchFamily="34" charset="-120"/>
              </a:rPr>
              <a:t>How much coverage?</a:t>
            </a:r>
            <a:endParaRPr lang="en-US" sz="1500" dirty="0"/>
          </a:p>
        </p:txBody>
      </p:sp>
      <p:sp>
        <p:nvSpPr>
          <p:cNvPr id="9" name="Text 4"/>
          <p:cNvSpPr/>
          <p:nvPr/>
        </p:nvSpPr>
        <p:spPr>
          <a:xfrm>
            <a:off x="571500" y="3049656"/>
            <a:ext cx="3600450" cy="298252"/>
          </a:xfrm>
          <a:prstGeom prst="rect">
            <a:avLst/>
          </a:prstGeom>
          <a:noFill/>
          <a:ln/>
        </p:spPr>
        <p:txBody>
          <a:bodyPr wrap="square" lIns="255143" tIns="0" rIns="0" bIns="0" rtlCol="0" anchor="t">
            <a:spAutoFit/>
          </a:bodyPr>
          <a:lstStyle/>
          <a:p>
            <a:pPr algn="l" indent="0" marL="0">
              <a:buNone/>
            </a:pPr>
            <a:r>
              <a:rPr lang="en-US" sz="1500" dirty="0">
                <a:solidFill>
                  <a:srgbClr val="333333"/>
                </a:solidFill>
                <a:latin typeface="Kanit" pitchFamily="34" charset="0"/>
                <a:ea typeface="Kanit" pitchFamily="34" charset="-122"/>
                <a:cs typeface="Kanit" pitchFamily="34" charset="-120"/>
              </a:rPr>
              <a:t>Where did we land?</a:t>
            </a:r>
            <a:endParaRPr lang="en-US" sz="1500" dirty="0"/>
          </a:p>
        </p:txBody>
      </p:sp>
      <p:sp>
        <p:nvSpPr>
          <p:cNvPr id="10" name="Text 5"/>
          <p:cNvSpPr/>
          <p:nvPr/>
        </p:nvSpPr>
        <p:spPr>
          <a:xfrm>
            <a:off x="571500" y="3505070"/>
            <a:ext cx="3600450" cy="298252"/>
          </a:xfrm>
          <a:prstGeom prst="rect">
            <a:avLst/>
          </a:prstGeom>
          <a:noFill/>
          <a:ln/>
        </p:spPr>
        <p:txBody>
          <a:bodyPr wrap="square" lIns="255143" tIns="0" rIns="0" bIns="0" rtlCol="0" anchor="t">
            <a:spAutoFit/>
          </a:bodyPr>
          <a:lstStyle/>
          <a:p>
            <a:pPr algn="l" indent="0" marL="0">
              <a:buNone/>
            </a:pPr>
            <a:r>
              <a:rPr lang="en-US" sz="1500" dirty="0">
                <a:solidFill>
                  <a:srgbClr val="333333"/>
                </a:solidFill>
                <a:latin typeface="Kanit" pitchFamily="34" charset="0"/>
                <a:ea typeface="Kanit" pitchFamily="34" charset="-122"/>
                <a:cs typeface="Kanit" pitchFamily="34" charset="-120"/>
              </a:rPr>
              <a:t>End-of-campaign summary</a:t>
            </a:r>
            <a:endParaRPr lang="en-US" sz="1500" dirty="0"/>
          </a:p>
        </p:txBody>
      </p:sp>
      <p:sp>
        <p:nvSpPr>
          <p:cNvPr id="11" name="Text 6"/>
          <p:cNvSpPr/>
          <p:nvPr/>
        </p:nvSpPr>
        <p:spPr>
          <a:xfrm>
            <a:off x="571500" y="2138828"/>
            <a:ext cx="200025" cy="298252"/>
          </a:xfrm>
          <a:prstGeom prst="rect">
            <a:avLst/>
          </a:prstGeom>
          <a:noFill/>
          <a:ln/>
        </p:spPr>
        <p:txBody>
          <a:bodyPr wrap="none" lIns="0" tIns="0" rIns="0" bIns="0" rtlCol="0" anchor="t">
            <a:spAutoFit/>
          </a:bodyPr>
          <a:lstStyle/>
          <a:p>
            <a:pPr algn="l" indent="0" marL="0">
              <a:buNone/>
            </a:pPr>
            <a:r>
              <a:rPr lang="en-US" sz="1400" b="1" dirty="0">
                <a:solidFill>
                  <a:srgbClr val="04787F"/>
                </a:solidFill>
                <a:latin typeface="Kanit Bold" pitchFamily="34" charset="0"/>
                <a:ea typeface="Kanit Bold" pitchFamily="34" charset="-122"/>
                <a:cs typeface="Kanit Bold" pitchFamily="34" charset="-120"/>
              </a:rPr>
              <a:t>→</a:t>
            </a:r>
            <a:endParaRPr lang="en-US" sz="1400" dirty="0"/>
          </a:p>
        </p:txBody>
      </p:sp>
      <p:sp>
        <p:nvSpPr>
          <p:cNvPr id="12" name="Text 7"/>
          <p:cNvSpPr/>
          <p:nvPr/>
        </p:nvSpPr>
        <p:spPr>
          <a:xfrm>
            <a:off x="571500" y="2594242"/>
            <a:ext cx="200025" cy="298252"/>
          </a:xfrm>
          <a:prstGeom prst="rect">
            <a:avLst/>
          </a:prstGeom>
          <a:noFill/>
          <a:ln/>
        </p:spPr>
        <p:txBody>
          <a:bodyPr wrap="none" lIns="0" tIns="0" rIns="0" bIns="0" rtlCol="0" anchor="t">
            <a:spAutoFit/>
          </a:bodyPr>
          <a:lstStyle/>
          <a:p>
            <a:pPr algn="l" indent="0" marL="0">
              <a:buNone/>
            </a:pPr>
            <a:r>
              <a:rPr lang="en-US" sz="1400" b="1" dirty="0">
                <a:solidFill>
                  <a:srgbClr val="04787F"/>
                </a:solidFill>
                <a:latin typeface="Kanit Bold" pitchFamily="34" charset="0"/>
                <a:ea typeface="Kanit Bold" pitchFamily="34" charset="-122"/>
                <a:cs typeface="Kanit Bold" pitchFamily="34" charset="-120"/>
              </a:rPr>
              <a:t>→</a:t>
            </a:r>
            <a:endParaRPr lang="en-US" sz="1400" dirty="0"/>
          </a:p>
        </p:txBody>
      </p:sp>
      <p:sp>
        <p:nvSpPr>
          <p:cNvPr id="13" name="Text 8"/>
          <p:cNvSpPr/>
          <p:nvPr/>
        </p:nvSpPr>
        <p:spPr>
          <a:xfrm>
            <a:off x="571500" y="3049656"/>
            <a:ext cx="200025" cy="298252"/>
          </a:xfrm>
          <a:prstGeom prst="rect">
            <a:avLst/>
          </a:prstGeom>
          <a:noFill/>
          <a:ln/>
        </p:spPr>
        <p:txBody>
          <a:bodyPr wrap="none" lIns="0" tIns="0" rIns="0" bIns="0" rtlCol="0" anchor="t">
            <a:spAutoFit/>
          </a:bodyPr>
          <a:lstStyle/>
          <a:p>
            <a:pPr algn="l" indent="0" marL="0">
              <a:buNone/>
            </a:pPr>
            <a:r>
              <a:rPr lang="en-US" sz="1400" b="1" dirty="0">
                <a:solidFill>
                  <a:srgbClr val="04787F"/>
                </a:solidFill>
                <a:latin typeface="Kanit Bold" pitchFamily="34" charset="0"/>
                <a:ea typeface="Kanit Bold" pitchFamily="34" charset="-122"/>
                <a:cs typeface="Kanit Bold" pitchFamily="34" charset="-120"/>
              </a:rPr>
              <a:t>→</a:t>
            </a:r>
            <a:endParaRPr lang="en-US" sz="1400" dirty="0"/>
          </a:p>
        </p:txBody>
      </p:sp>
      <p:sp>
        <p:nvSpPr>
          <p:cNvPr id="14" name="Text 9"/>
          <p:cNvSpPr/>
          <p:nvPr/>
        </p:nvSpPr>
        <p:spPr>
          <a:xfrm>
            <a:off x="571500" y="3505070"/>
            <a:ext cx="200025" cy="298252"/>
          </a:xfrm>
          <a:prstGeom prst="rect">
            <a:avLst/>
          </a:prstGeom>
          <a:noFill/>
          <a:ln/>
        </p:spPr>
        <p:txBody>
          <a:bodyPr wrap="none" lIns="0" tIns="0" rIns="0" bIns="0" rtlCol="0" anchor="t">
            <a:spAutoFit/>
          </a:bodyPr>
          <a:lstStyle/>
          <a:p>
            <a:pPr algn="l" indent="0" marL="0">
              <a:buNone/>
            </a:pPr>
            <a:r>
              <a:rPr lang="en-US" sz="1400" b="1" dirty="0">
                <a:solidFill>
                  <a:srgbClr val="04787F"/>
                </a:solidFill>
                <a:latin typeface="Kanit Bold" pitchFamily="34" charset="0"/>
                <a:ea typeface="Kanit Bold" pitchFamily="34" charset="-122"/>
                <a:cs typeface="Kanit Bold" pitchFamily="34" charset="-120"/>
              </a:rPr>
              <a:t>→</a:t>
            </a:r>
            <a:endParaRPr lang="en-US" sz="1400" dirty="0"/>
          </a:p>
        </p:txBody>
      </p:sp>
      <p:sp>
        <p:nvSpPr>
          <p:cNvPr id="15" name="Text 10"/>
          <p:cNvSpPr/>
          <p:nvPr/>
        </p:nvSpPr>
        <p:spPr>
          <a:xfrm>
            <a:off x="4972050" y="1445884"/>
            <a:ext cx="3600450" cy="478631"/>
          </a:xfrm>
          <a:prstGeom prst="rect">
            <a:avLst/>
          </a:prstGeom>
          <a:noFill/>
          <a:ln/>
        </p:spPr>
        <p:txBody>
          <a:bodyPr wrap="square" lIns="0" tIns="0" rIns="0" bIns="102108" rtlCol="0" anchor="t">
            <a:spAutoFit/>
          </a:bodyPr>
          <a:lstStyle/>
          <a:p>
            <a:pPr algn="l" indent="0" marL="0">
              <a:buNone/>
            </a:pPr>
            <a:r>
              <a:rPr lang="en-US" sz="1700" b="1" dirty="0">
                <a:solidFill>
                  <a:srgbClr val="04787F"/>
                </a:solidFill>
                <a:latin typeface="Kanit Bold" pitchFamily="34" charset="0"/>
                <a:ea typeface="Kanit Bold" pitchFamily="34" charset="-122"/>
                <a:cs typeface="Kanit Bold" pitchFamily="34" charset="-120"/>
              </a:rPr>
              <a:t>Strategic Insight</a:t>
            </a:r>
            <a:endParaRPr lang="en-US" sz="1700" dirty="0"/>
          </a:p>
        </p:txBody>
      </p:sp>
      <p:sp>
        <p:nvSpPr>
          <p:cNvPr id="16" name="Text 11"/>
          <p:cNvSpPr/>
          <p:nvPr/>
        </p:nvSpPr>
        <p:spPr>
          <a:xfrm>
            <a:off x="4972050" y="2138828"/>
            <a:ext cx="3600450" cy="298252"/>
          </a:xfrm>
          <a:prstGeom prst="rect">
            <a:avLst/>
          </a:prstGeom>
          <a:noFill/>
          <a:ln/>
        </p:spPr>
        <p:txBody>
          <a:bodyPr wrap="square" lIns="255143" tIns="0" rIns="0" bIns="0" rtlCol="0" anchor="t">
            <a:spAutoFit/>
          </a:bodyPr>
          <a:lstStyle/>
          <a:p>
            <a:pPr algn="l" indent="0" marL="0">
              <a:buNone/>
            </a:pPr>
            <a:r>
              <a:rPr lang="en-US" sz="1500" dirty="0">
                <a:solidFill>
                  <a:srgbClr val="333333"/>
                </a:solidFill>
                <a:latin typeface="Kanit" pitchFamily="34" charset="0"/>
                <a:ea typeface="Kanit" pitchFamily="34" charset="-122"/>
                <a:cs typeface="Kanit" pitchFamily="34" charset="-120"/>
              </a:rPr>
              <a:t>What's happening?</a:t>
            </a:r>
            <a:endParaRPr lang="en-US" sz="1500" dirty="0"/>
          </a:p>
        </p:txBody>
      </p:sp>
      <p:sp>
        <p:nvSpPr>
          <p:cNvPr id="17" name="Text 12"/>
          <p:cNvSpPr/>
          <p:nvPr/>
        </p:nvSpPr>
        <p:spPr>
          <a:xfrm>
            <a:off x="4972050" y="2594242"/>
            <a:ext cx="3600450" cy="298252"/>
          </a:xfrm>
          <a:prstGeom prst="rect">
            <a:avLst/>
          </a:prstGeom>
          <a:noFill/>
          <a:ln/>
        </p:spPr>
        <p:txBody>
          <a:bodyPr wrap="square" lIns="255143" tIns="0" rIns="0" bIns="0" rtlCol="0" anchor="t">
            <a:spAutoFit/>
          </a:bodyPr>
          <a:lstStyle/>
          <a:p>
            <a:pPr algn="l" indent="0" marL="0">
              <a:buNone/>
            </a:pPr>
            <a:r>
              <a:rPr lang="en-US" sz="1500" dirty="0">
                <a:solidFill>
                  <a:srgbClr val="333333"/>
                </a:solidFill>
                <a:latin typeface="Kanit" pitchFamily="34" charset="0"/>
                <a:ea typeface="Kanit" pitchFamily="34" charset="-122"/>
                <a:cs typeface="Kanit" pitchFamily="34" charset="-120"/>
              </a:rPr>
              <a:t>Which narratives are winning?</a:t>
            </a:r>
            <a:endParaRPr lang="en-US" sz="1500" dirty="0"/>
          </a:p>
        </p:txBody>
      </p:sp>
      <p:sp>
        <p:nvSpPr>
          <p:cNvPr id="18" name="Text 13"/>
          <p:cNvSpPr/>
          <p:nvPr/>
        </p:nvSpPr>
        <p:spPr>
          <a:xfrm>
            <a:off x="4972050" y="3049656"/>
            <a:ext cx="3600450" cy="298252"/>
          </a:xfrm>
          <a:prstGeom prst="rect">
            <a:avLst/>
          </a:prstGeom>
          <a:noFill/>
          <a:ln/>
        </p:spPr>
        <p:txBody>
          <a:bodyPr wrap="square" lIns="255143" tIns="0" rIns="0" bIns="0" rtlCol="0" anchor="t">
            <a:spAutoFit/>
          </a:bodyPr>
          <a:lstStyle/>
          <a:p>
            <a:pPr algn="l" indent="0" marL="0">
              <a:buNone/>
            </a:pPr>
            <a:r>
              <a:rPr lang="en-US" sz="1500" dirty="0">
                <a:solidFill>
                  <a:srgbClr val="333333"/>
                </a:solidFill>
                <a:latin typeface="Kanit" pitchFamily="34" charset="0"/>
                <a:ea typeface="Kanit" pitchFamily="34" charset="-122"/>
                <a:cs typeface="Kanit" pitchFamily="34" charset="-120"/>
              </a:rPr>
              <a:t>Where should we focus next?</a:t>
            </a:r>
            <a:endParaRPr lang="en-US" sz="1500" dirty="0"/>
          </a:p>
        </p:txBody>
      </p:sp>
      <p:sp>
        <p:nvSpPr>
          <p:cNvPr id="19" name="Text 14"/>
          <p:cNvSpPr/>
          <p:nvPr/>
        </p:nvSpPr>
        <p:spPr>
          <a:xfrm>
            <a:off x="4972050" y="3505070"/>
            <a:ext cx="3600450" cy="298252"/>
          </a:xfrm>
          <a:prstGeom prst="rect">
            <a:avLst/>
          </a:prstGeom>
          <a:noFill/>
          <a:ln/>
        </p:spPr>
        <p:txBody>
          <a:bodyPr wrap="square" lIns="255143" tIns="0" rIns="0" bIns="0" rtlCol="0" anchor="t">
            <a:spAutoFit/>
          </a:bodyPr>
          <a:lstStyle/>
          <a:p>
            <a:pPr algn="l" indent="0" marL="0">
              <a:buNone/>
            </a:pPr>
            <a:r>
              <a:rPr lang="en-US" sz="1500" dirty="0">
                <a:solidFill>
                  <a:srgbClr val="333333"/>
                </a:solidFill>
                <a:latin typeface="Kanit" pitchFamily="34" charset="0"/>
                <a:ea typeface="Kanit" pitchFamily="34" charset="-122"/>
                <a:cs typeface="Kanit" pitchFamily="34" charset="-120"/>
              </a:rPr>
              <a:t>Real-time learning</a:t>
            </a:r>
            <a:endParaRPr lang="en-US" sz="1500" dirty="0"/>
          </a:p>
        </p:txBody>
      </p:sp>
      <p:sp>
        <p:nvSpPr>
          <p:cNvPr id="20" name="Text 15"/>
          <p:cNvSpPr/>
          <p:nvPr/>
        </p:nvSpPr>
        <p:spPr>
          <a:xfrm>
            <a:off x="4972050" y="2138828"/>
            <a:ext cx="200025" cy="298252"/>
          </a:xfrm>
          <a:prstGeom prst="rect">
            <a:avLst/>
          </a:prstGeom>
          <a:noFill/>
          <a:ln/>
        </p:spPr>
        <p:txBody>
          <a:bodyPr wrap="none" lIns="0" tIns="0" rIns="0" bIns="0" rtlCol="0" anchor="t">
            <a:spAutoFit/>
          </a:bodyPr>
          <a:lstStyle/>
          <a:p>
            <a:pPr algn="l" indent="0" marL="0">
              <a:buNone/>
            </a:pPr>
            <a:r>
              <a:rPr lang="en-US" sz="1400" b="1" dirty="0">
                <a:solidFill>
                  <a:srgbClr val="04787F"/>
                </a:solidFill>
                <a:latin typeface="Kanit Bold" pitchFamily="34" charset="0"/>
                <a:ea typeface="Kanit Bold" pitchFamily="34" charset="-122"/>
                <a:cs typeface="Kanit Bold" pitchFamily="34" charset="-120"/>
              </a:rPr>
              <a:t>→</a:t>
            </a:r>
            <a:endParaRPr lang="en-US" sz="1400" dirty="0"/>
          </a:p>
        </p:txBody>
      </p:sp>
      <p:sp>
        <p:nvSpPr>
          <p:cNvPr id="21" name="Text 16"/>
          <p:cNvSpPr/>
          <p:nvPr/>
        </p:nvSpPr>
        <p:spPr>
          <a:xfrm>
            <a:off x="4972050" y="2594242"/>
            <a:ext cx="200025" cy="298252"/>
          </a:xfrm>
          <a:prstGeom prst="rect">
            <a:avLst/>
          </a:prstGeom>
          <a:noFill/>
          <a:ln/>
        </p:spPr>
        <p:txBody>
          <a:bodyPr wrap="none" lIns="0" tIns="0" rIns="0" bIns="0" rtlCol="0" anchor="t">
            <a:spAutoFit/>
          </a:bodyPr>
          <a:lstStyle/>
          <a:p>
            <a:pPr algn="l" indent="0" marL="0">
              <a:buNone/>
            </a:pPr>
            <a:r>
              <a:rPr lang="en-US" sz="1400" b="1" dirty="0">
                <a:solidFill>
                  <a:srgbClr val="04787F"/>
                </a:solidFill>
                <a:latin typeface="Kanit Bold" pitchFamily="34" charset="0"/>
                <a:ea typeface="Kanit Bold" pitchFamily="34" charset="-122"/>
                <a:cs typeface="Kanit Bold" pitchFamily="34" charset="-120"/>
              </a:rPr>
              <a:t>→</a:t>
            </a:r>
            <a:endParaRPr lang="en-US" sz="1400" dirty="0"/>
          </a:p>
        </p:txBody>
      </p:sp>
      <p:sp>
        <p:nvSpPr>
          <p:cNvPr id="22" name="Text 17"/>
          <p:cNvSpPr/>
          <p:nvPr/>
        </p:nvSpPr>
        <p:spPr>
          <a:xfrm>
            <a:off x="4972050" y="3049656"/>
            <a:ext cx="200025" cy="298252"/>
          </a:xfrm>
          <a:prstGeom prst="rect">
            <a:avLst/>
          </a:prstGeom>
          <a:noFill/>
          <a:ln/>
        </p:spPr>
        <p:txBody>
          <a:bodyPr wrap="none" lIns="0" tIns="0" rIns="0" bIns="0" rtlCol="0" anchor="t">
            <a:spAutoFit/>
          </a:bodyPr>
          <a:lstStyle/>
          <a:p>
            <a:pPr algn="l" indent="0" marL="0">
              <a:buNone/>
            </a:pPr>
            <a:r>
              <a:rPr lang="en-US" sz="1400" b="1" dirty="0">
                <a:solidFill>
                  <a:srgbClr val="04787F"/>
                </a:solidFill>
                <a:latin typeface="Kanit Bold" pitchFamily="34" charset="0"/>
                <a:ea typeface="Kanit Bold" pitchFamily="34" charset="-122"/>
                <a:cs typeface="Kanit Bold" pitchFamily="34" charset="-120"/>
              </a:rPr>
              <a:t>→</a:t>
            </a:r>
            <a:endParaRPr lang="en-US" sz="1400" dirty="0"/>
          </a:p>
        </p:txBody>
      </p:sp>
      <p:sp>
        <p:nvSpPr>
          <p:cNvPr id="23" name="Text 18"/>
          <p:cNvSpPr/>
          <p:nvPr/>
        </p:nvSpPr>
        <p:spPr>
          <a:xfrm>
            <a:off x="4972050" y="3505070"/>
            <a:ext cx="200025" cy="298252"/>
          </a:xfrm>
          <a:prstGeom prst="rect">
            <a:avLst/>
          </a:prstGeom>
          <a:noFill/>
          <a:ln/>
        </p:spPr>
        <p:txBody>
          <a:bodyPr wrap="none" lIns="0" tIns="0" rIns="0" bIns="0" rtlCol="0" anchor="t">
            <a:spAutoFit/>
          </a:bodyPr>
          <a:lstStyle/>
          <a:p>
            <a:pPr algn="l" indent="0" marL="0">
              <a:buNone/>
            </a:pPr>
            <a:r>
              <a:rPr lang="en-US" sz="1400" b="1" dirty="0">
                <a:solidFill>
                  <a:srgbClr val="04787F"/>
                </a:solidFill>
                <a:latin typeface="Kanit Bold" pitchFamily="34" charset="0"/>
                <a:ea typeface="Kanit Bold" pitchFamily="34" charset="-122"/>
                <a:cs typeface="Kanit Bold" pitchFamily="34" charset="-120"/>
              </a:rPr>
              <a:t>→</a:t>
            </a:r>
            <a:endParaRPr lang="en-US" sz="1400" dirty="0"/>
          </a:p>
        </p:txBody>
      </p:sp>
      <p:pic>
        <p:nvPicPr>
          <p:cNvPr id="24"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960109"/>
          </a:xfrm>
          <a:prstGeom prst="rect">
            <a:avLst/>
          </a:prstGeom>
          <a:noFill/>
          <a:ln/>
        </p:spPr>
        <p:txBody>
          <a:bodyPr wrap="square" lIns="0" tIns="0" rIns="0" bIns="0" rtlCol="0" anchor="t">
            <a:spAutoFit/>
          </a:bodyPr>
          <a:lstStyle/>
          <a:p>
            <a:pPr algn="l" indent="0" marL="0">
              <a:lnSpc>
                <a:spcPct val="96000"/>
              </a:lnSpc>
              <a:buNone/>
            </a:pPr>
            <a:r>
              <a:rPr lang="en-US" sz="2850" b="1" dirty="0">
                <a:solidFill>
                  <a:srgbClr val="000000"/>
                </a:solidFill>
                <a:latin typeface="Kanit Bold" pitchFamily="34" charset="0"/>
                <a:ea typeface="Kanit Bold" pitchFamily="34" charset="-122"/>
                <a:cs typeface="Kanit Bold" pitchFamily="34" charset="-120"/>
              </a:rPr>
              <a:t>THE LOOP THAT PRODUCES NO LEARNING</a:t>
            </a:r>
            <a:endParaRPr lang="en-US" sz="2850" dirty="0"/>
          </a:p>
        </p:txBody>
      </p:sp>
      <p:sp>
        <p:nvSpPr>
          <p:cNvPr id="6" name="Shape 1"/>
          <p:cNvSpPr/>
          <p:nvPr/>
        </p:nvSpPr>
        <p:spPr>
          <a:xfrm>
            <a:off x="571500" y="1888796"/>
            <a:ext cx="8001000" cy="769739"/>
          </a:xfrm>
          <a:prstGeom prst="rect">
            <a:avLst/>
          </a:prstGeom>
          <a:solidFill>
            <a:srgbClr val="F5EDD8"/>
          </a:solidFill>
          <a:ln w="18288">
            <a:solidFill>
              <a:srgbClr val="04787F"/>
            </a:solidFill>
            <a:prstDash val="solid"/>
          </a:ln>
        </p:spPr>
      </p:sp>
      <p:sp>
        <p:nvSpPr>
          <p:cNvPr id="7" name="Text 2"/>
          <p:cNvSpPr/>
          <p:nvPr/>
        </p:nvSpPr>
        <p:spPr>
          <a:xfrm>
            <a:off x="1529655" y="2067390"/>
            <a:ext cx="1126927" cy="383977"/>
          </a:xfrm>
          <a:prstGeom prst="rect">
            <a:avLst/>
          </a:prstGeom>
          <a:noFill/>
          <a:ln/>
        </p:spPr>
        <p:txBody>
          <a:bodyPr wrap="none" lIns="0" tIns="0" rIns="0" bIns="0" rtlCol="0" anchor="t">
            <a:spAutoFit/>
          </a:bodyPr>
          <a:lstStyle/>
          <a:p>
            <a:pPr algn="l" indent="0" marL="0">
              <a:buNone/>
            </a:pPr>
            <a:r>
              <a:rPr lang="en-US" sz="1800" b="1" dirty="0">
                <a:solidFill>
                  <a:srgbClr val="04787F"/>
                </a:solidFill>
                <a:latin typeface="Kanit Bold" pitchFamily="34" charset="0"/>
                <a:ea typeface="Kanit Bold" pitchFamily="34" charset="-122"/>
                <a:cs typeface="Kanit Bold" pitchFamily="34" charset="-120"/>
              </a:rPr>
              <a:t>ACTIVITY</a:t>
            </a:r>
            <a:endParaRPr lang="en-US" sz="1800" dirty="0"/>
          </a:p>
        </p:txBody>
      </p:sp>
      <p:sp>
        <p:nvSpPr>
          <p:cNvPr id="8" name="Text 3"/>
          <p:cNvSpPr/>
          <p:nvPr/>
        </p:nvSpPr>
        <p:spPr>
          <a:xfrm>
            <a:off x="2828032" y="2067390"/>
            <a:ext cx="257175" cy="383977"/>
          </a:xfrm>
          <a:prstGeom prst="rect">
            <a:avLst/>
          </a:prstGeom>
          <a:noFill/>
          <a:ln/>
        </p:spPr>
        <p:txBody>
          <a:bodyPr wrap="none" lIns="0" tIns="0" rIns="0" bIns="0" rtlCol="0" anchor="t">
            <a:spAutoFit/>
          </a:bodyPr>
          <a:lstStyle/>
          <a:p>
            <a:pPr algn="l" indent="0" marL="0">
              <a:buNone/>
            </a:pPr>
            <a:r>
              <a:rPr lang="en-US" sz="1900" dirty="0">
                <a:solidFill>
                  <a:srgbClr val="FF5800"/>
                </a:solidFill>
                <a:latin typeface="Kanit" pitchFamily="34" charset="0"/>
                <a:ea typeface="Kanit" pitchFamily="34" charset="-122"/>
                <a:cs typeface="Kanit" pitchFamily="34" charset="-120"/>
              </a:rPr>
              <a:t>→</a:t>
            </a:r>
            <a:endParaRPr lang="en-US" sz="1900" dirty="0"/>
          </a:p>
        </p:txBody>
      </p:sp>
      <p:sp>
        <p:nvSpPr>
          <p:cNvPr id="9" name="Text 4"/>
          <p:cNvSpPr/>
          <p:nvPr/>
        </p:nvSpPr>
        <p:spPr>
          <a:xfrm>
            <a:off x="3256657" y="2067390"/>
            <a:ext cx="1291233" cy="383977"/>
          </a:xfrm>
          <a:prstGeom prst="rect">
            <a:avLst/>
          </a:prstGeom>
          <a:noFill/>
          <a:ln/>
        </p:spPr>
        <p:txBody>
          <a:bodyPr wrap="square" lIns="0" tIns="0" rIns="0" bIns="0" rtlCol="0" anchor="t">
            <a:spAutoFit/>
          </a:bodyPr>
          <a:lstStyle/>
          <a:p>
            <a:pPr algn="l" indent="0" marL="0">
              <a:buNone/>
            </a:pPr>
            <a:r>
              <a:rPr lang="en-US" sz="1800" b="1" dirty="0">
                <a:solidFill>
                  <a:srgbClr val="04787F"/>
                </a:solidFill>
                <a:latin typeface="Kanit Bold" pitchFamily="34" charset="0"/>
                <a:ea typeface="Kanit Bold" pitchFamily="34" charset="-122"/>
                <a:cs typeface="Kanit Bold" pitchFamily="34" charset="-120"/>
              </a:rPr>
              <a:t>COVERAGE</a:t>
            </a:r>
            <a:endParaRPr lang="en-US" sz="1800" dirty="0"/>
          </a:p>
        </p:txBody>
      </p:sp>
      <p:sp>
        <p:nvSpPr>
          <p:cNvPr id="10" name="Text 5"/>
          <p:cNvSpPr/>
          <p:nvPr/>
        </p:nvSpPr>
        <p:spPr>
          <a:xfrm>
            <a:off x="4719340" y="2067390"/>
            <a:ext cx="257175" cy="383977"/>
          </a:xfrm>
          <a:prstGeom prst="rect">
            <a:avLst/>
          </a:prstGeom>
          <a:noFill/>
          <a:ln/>
        </p:spPr>
        <p:txBody>
          <a:bodyPr wrap="none" lIns="0" tIns="0" rIns="0" bIns="0" rtlCol="0" anchor="t">
            <a:spAutoFit/>
          </a:bodyPr>
          <a:lstStyle/>
          <a:p>
            <a:pPr algn="l" indent="0" marL="0">
              <a:buNone/>
            </a:pPr>
            <a:r>
              <a:rPr lang="en-US" sz="1900" dirty="0">
                <a:solidFill>
                  <a:srgbClr val="FF5800"/>
                </a:solidFill>
                <a:latin typeface="Kanit" pitchFamily="34" charset="0"/>
                <a:ea typeface="Kanit" pitchFamily="34" charset="-122"/>
                <a:cs typeface="Kanit" pitchFamily="34" charset="-120"/>
              </a:rPr>
              <a:t>→</a:t>
            </a:r>
            <a:endParaRPr lang="en-US" sz="1900" dirty="0"/>
          </a:p>
        </p:txBody>
      </p:sp>
      <p:sp>
        <p:nvSpPr>
          <p:cNvPr id="11" name="Text 6"/>
          <p:cNvSpPr/>
          <p:nvPr/>
        </p:nvSpPr>
        <p:spPr>
          <a:xfrm>
            <a:off x="5147965" y="2067390"/>
            <a:ext cx="950119" cy="383977"/>
          </a:xfrm>
          <a:prstGeom prst="rect">
            <a:avLst/>
          </a:prstGeom>
          <a:noFill/>
          <a:ln/>
        </p:spPr>
        <p:txBody>
          <a:bodyPr wrap="none" lIns="0" tIns="0" rIns="0" bIns="0" rtlCol="0" anchor="t">
            <a:spAutoFit/>
          </a:bodyPr>
          <a:lstStyle/>
          <a:p>
            <a:pPr algn="l" indent="0" marL="0">
              <a:buNone/>
            </a:pPr>
            <a:r>
              <a:rPr lang="en-US" sz="1800" b="1" dirty="0">
                <a:solidFill>
                  <a:srgbClr val="04787F"/>
                </a:solidFill>
                <a:latin typeface="Kanit Bold" pitchFamily="34" charset="0"/>
                <a:ea typeface="Kanit Bold" pitchFamily="34" charset="-122"/>
                <a:cs typeface="Kanit Bold" pitchFamily="34" charset="-120"/>
              </a:rPr>
              <a:t>REPORT</a:t>
            </a:r>
            <a:endParaRPr lang="en-US" sz="1800" dirty="0"/>
          </a:p>
        </p:txBody>
      </p:sp>
      <p:sp>
        <p:nvSpPr>
          <p:cNvPr id="12" name="Text 7"/>
          <p:cNvSpPr/>
          <p:nvPr/>
        </p:nvSpPr>
        <p:spPr>
          <a:xfrm>
            <a:off x="6269534" y="2067390"/>
            <a:ext cx="257175" cy="383977"/>
          </a:xfrm>
          <a:prstGeom prst="rect">
            <a:avLst/>
          </a:prstGeom>
          <a:noFill/>
          <a:ln/>
        </p:spPr>
        <p:txBody>
          <a:bodyPr wrap="none" lIns="0" tIns="0" rIns="0" bIns="0" rtlCol="0" anchor="t">
            <a:spAutoFit/>
          </a:bodyPr>
          <a:lstStyle/>
          <a:p>
            <a:pPr algn="l" indent="0" marL="0">
              <a:buNone/>
            </a:pPr>
            <a:r>
              <a:rPr lang="en-US" sz="1900" dirty="0">
                <a:solidFill>
                  <a:srgbClr val="FF5800"/>
                </a:solidFill>
                <a:latin typeface="Kanit" pitchFamily="34" charset="0"/>
                <a:ea typeface="Kanit" pitchFamily="34" charset="-122"/>
                <a:cs typeface="Kanit" pitchFamily="34" charset="-120"/>
              </a:rPr>
              <a:t>→</a:t>
            </a:r>
            <a:endParaRPr lang="en-US" sz="1900" dirty="0"/>
          </a:p>
        </p:txBody>
      </p:sp>
      <p:sp>
        <p:nvSpPr>
          <p:cNvPr id="13" name="Text 8"/>
          <p:cNvSpPr/>
          <p:nvPr/>
        </p:nvSpPr>
        <p:spPr>
          <a:xfrm>
            <a:off x="6698159" y="2067390"/>
            <a:ext cx="916186" cy="383977"/>
          </a:xfrm>
          <a:prstGeom prst="rect">
            <a:avLst/>
          </a:prstGeom>
          <a:noFill/>
          <a:ln/>
        </p:spPr>
        <p:txBody>
          <a:bodyPr wrap="none" lIns="0" tIns="0" rIns="0" bIns="0" rtlCol="0" anchor="t">
            <a:spAutoFit/>
          </a:bodyPr>
          <a:lstStyle/>
          <a:p>
            <a:pPr algn="l" indent="0" marL="0">
              <a:buNone/>
            </a:pPr>
            <a:r>
              <a:rPr lang="en-US" sz="1800" b="1" dirty="0">
                <a:solidFill>
                  <a:srgbClr val="04787F"/>
                </a:solidFill>
                <a:latin typeface="Kanit Bold" pitchFamily="34" charset="0"/>
                <a:ea typeface="Kanit Bold" pitchFamily="34" charset="-122"/>
                <a:cs typeface="Kanit Bold" pitchFamily="34" charset="-120"/>
              </a:rPr>
              <a:t>REPEAT</a:t>
            </a:r>
            <a:endParaRPr lang="en-US" sz="1800" dirty="0"/>
          </a:p>
        </p:txBody>
      </p:sp>
      <p:sp>
        <p:nvSpPr>
          <p:cNvPr id="14" name="Text 9"/>
          <p:cNvSpPr/>
          <p:nvPr/>
        </p:nvSpPr>
        <p:spPr>
          <a:xfrm>
            <a:off x="571500" y="2987148"/>
            <a:ext cx="3840463" cy="514350"/>
          </a:xfrm>
          <a:prstGeom prst="rect">
            <a:avLst/>
          </a:prstGeom>
          <a:noFill/>
          <a:ln/>
        </p:spPr>
        <p:txBody>
          <a:bodyPr wrap="square" lIns="238125" tIns="0" rIns="0" bIns="0" rtlCol="0" anchor="t">
            <a:spAutoFit/>
          </a:bodyPr>
          <a:lstStyle/>
          <a:p>
            <a:pPr algn="l" indent="0" marL="0">
              <a:buNone/>
            </a:pPr>
            <a:r>
              <a:rPr lang="en-US" sz="1250" dirty="0">
                <a:solidFill>
                  <a:srgbClr val="333333"/>
                </a:solidFill>
                <a:latin typeface="Kanit" pitchFamily="34" charset="0"/>
                <a:ea typeface="Kanit" pitchFamily="34" charset="-122"/>
                <a:cs typeface="Kanit" pitchFamily="34" charset="-120"/>
              </a:rPr>
              <a:t>Inconsistent classification across teams and campaigns</a:t>
            </a:r>
            <a:endParaRPr lang="en-US" sz="1250" dirty="0"/>
          </a:p>
        </p:txBody>
      </p:sp>
      <p:sp>
        <p:nvSpPr>
          <p:cNvPr id="15" name="Text 10"/>
          <p:cNvSpPr/>
          <p:nvPr/>
        </p:nvSpPr>
        <p:spPr>
          <a:xfrm>
            <a:off x="4732037" y="2987148"/>
            <a:ext cx="3840463" cy="514350"/>
          </a:xfrm>
          <a:prstGeom prst="rect">
            <a:avLst/>
          </a:prstGeom>
          <a:noFill/>
          <a:ln/>
        </p:spPr>
        <p:txBody>
          <a:bodyPr wrap="square" lIns="238125" tIns="0" rIns="0" bIns="0" rtlCol="0" anchor="t">
            <a:spAutoFit/>
          </a:bodyPr>
          <a:lstStyle/>
          <a:p>
            <a:pPr algn="l" indent="0" marL="0">
              <a:buNone/>
            </a:pPr>
            <a:r>
              <a:rPr lang="en-US" sz="1250" dirty="0">
                <a:solidFill>
                  <a:srgbClr val="333333"/>
                </a:solidFill>
                <a:latin typeface="Kanit" pitchFamily="34" charset="0"/>
                <a:ea typeface="Kanit" pitchFamily="34" charset="-122"/>
                <a:cs typeface="Kanit" pitchFamily="34" charset="-120"/>
              </a:rPr>
              <a:t>Low comparability between campaigns</a:t>
            </a:r>
            <a:endParaRPr lang="en-US" sz="1250" dirty="0"/>
          </a:p>
        </p:txBody>
      </p:sp>
      <p:sp>
        <p:nvSpPr>
          <p:cNvPr id="16" name="Text 11"/>
          <p:cNvSpPr/>
          <p:nvPr/>
        </p:nvSpPr>
        <p:spPr>
          <a:xfrm>
            <a:off x="571500" y="3615798"/>
            <a:ext cx="3840463" cy="257175"/>
          </a:xfrm>
          <a:prstGeom prst="rect">
            <a:avLst/>
          </a:prstGeom>
          <a:noFill/>
          <a:ln/>
        </p:spPr>
        <p:txBody>
          <a:bodyPr wrap="square" lIns="238125" tIns="0" rIns="0" bIns="0" rtlCol="0" anchor="t">
            <a:spAutoFit/>
          </a:bodyPr>
          <a:lstStyle/>
          <a:p>
            <a:pPr algn="l" indent="0" marL="0">
              <a:buNone/>
            </a:pPr>
            <a:r>
              <a:rPr lang="en-US" sz="1250" dirty="0">
                <a:solidFill>
                  <a:srgbClr val="333333"/>
                </a:solidFill>
                <a:latin typeface="Kanit" pitchFamily="34" charset="0"/>
                <a:ea typeface="Kanit" pitchFamily="34" charset="-122"/>
                <a:cs typeface="Kanit" pitchFamily="34" charset="-120"/>
              </a:rPr>
              <a:t>Spreadsheet dependency as a system of record</a:t>
            </a:r>
            <a:endParaRPr lang="en-US" sz="1250" dirty="0"/>
          </a:p>
        </p:txBody>
      </p:sp>
      <p:sp>
        <p:nvSpPr>
          <p:cNvPr id="17" name="Text 12"/>
          <p:cNvSpPr/>
          <p:nvPr/>
        </p:nvSpPr>
        <p:spPr>
          <a:xfrm>
            <a:off x="4732037" y="3615798"/>
            <a:ext cx="3840463" cy="257175"/>
          </a:xfrm>
          <a:prstGeom prst="rect">
            <a:avLst/>
          </a:prstGeom>
          <a:noFill/>
          <a:ln/>
        </p:spPr>
        <p:txBody>
          <a:bodyPr wrap="square" lIns="238125" tIns="0" rIns="0" bIns="0" rtlCol="0" anchor="t">
            <a:spAutoFit/>
          </a:bodyPr>
          <a:lstStyle/>
          <a:p>
            <a:pPr algn="l" indent="0" marL="0">
              <a:buNone/>
            </a:pPr>
            <a:r>
              <a:rPr lang="en-US" sz="1250" dirty="0">
                <a:solidFill>
                  <a:srgbClr val="333333"/>
                </a:solidFill>
                <a:latin typeface="Kanit" pitchFamily="34" charset="0"/>
                <a:ea typeface="Kanit" pitchFamily="34" charset="-122"/>
                <a:cs typeface="Kanit" pitchFamily="34" charset="-120"/>
              </a:rPr>
              <a:t>Weak pattern recognition over time</a:t>
            </a:r>
            <a:endParaRPr lang="en-US" sz="1250" dirty="0"/>
          </a:p>
        </p:txBody>
      </p:sp>
      <p:sp>
        <p:nvSpPr>
          <p:cNvPr id="18" name="Text 13"/>
          <p:cNvSpPr/>
          <p:nvPr/>
        </p:nvSpPr>
        <p:spPr>
          <a:xfrm>
            <a:off x="571500" y="3987273"/>
            <a:ext cx="3840463" cy="257175"/>
          </a:xfrm>
          <a:prstGeom prst="rect">
            <a:avLst/>
          </a:prstGeom>
          <a:noFill/>
          <a:ln/>
        </p:spPr>
        <p:txBody>
          <a:bodyPr wrap="square" lIns="238125" tIns="0" rIns="0" bIns="0" rtlCol="0" anchor="t">
            <a:spAutoFit/>
          </a:bodyPr>
          <a:lstStyle/>
          <a:p>
            <a:pPr algn="l" indent="0" marL="0">
              <a:buNone/>
            </a:pPr>
            <a:r>
              <a:rPr lang="en-US" sz="1250" dirty="0">
                <a:solidFill>
                  <a:srgbClr val="333333"/>
                </a:solidFill>
                <a:latin typeface="Kanit" pitchFamily="34" charset="0"/>
                <a:ea typeface="Kanit" pitchFamily="34" charset="-122"/>
                <a:cs typeface="Kanit" pitchFamily="34" charset="-120"/>
              </a:rPr>
              <a:t>Varying systems by team, client and market</a:t>
            </a:r>
            <a:endParaRPr lang="en-US" sz="1250" dirty="0"/>
          </a:p>
        </p:txBody>
      </p:sp>
      <p:sp>
        <p:nvSpPr>
          <p:cNvPr id="19" name="Text 14"/>
          <p:cNvSpPr/>
          <p:nvPr/>
        </p:nvSpPr>
        <p:spPr>
          <a:xfrm>
            <a:off x="571500" y="2972860"/>
            <a:ext cx="66080" cy="298252"/>
          </a:xfrm>
          <a:prstGeom prst="rect">
            <a:avLst/>
          </a:prstGeom>
          <a:noFill/>
          <a:ln/>
        </p:spPr>
        <p:txBody>
          <a:bodyPr wrap="none" lIns="0" tIns="0" rIns="0" bIns="0" rtlCol="0" anchor="t">
            <a:spAutoFit/>
          </a:bodyPr>
          <a:lstStyle/>
          <a:p>
            <a:pPr algn="l" indent="0" marL="0">
              <a:buNone/>
            </a:pPr>
            <a:r>
              <a:rPr lang="en-US" sz="1500" dirty="0">
                <a:solidFill>
                  <a:srgbClr val="FF5800"/>
                </a:solidFill>
                <a:latin typeface="Kanit" pitchFamily="34" charset="0"/>
                <a:ea typeface="Kanit" pitchFamily="34" charset="-122"/>
                <a:cs typeface="Kanit" pitchFamily="34" charset="-120"/>
              </a:rPr>
              <a:t>•</a:t>
            </a:r>
            <a:endParaRPr lang="en-US" sz="1500" dirty="0"/>
          </a:p>
        </p:txBody>
      </p:sp>
      <p:sp>
        <p:nvSpPr>
          <p:cNvPr id="20" name="Text 15"/>
          <p:cNvSpPr/>
          <p:nvPr/>
        </p:nvSpPr>
        <p:spPr>
          <a:xfrm>
            <a:off x="4732037" y="2972860"/>
            <a:ext cx="66080" cy="298252"/>
          </a:xfrm>
          <a:prstGeom prst="rect">
            <a:avLst/>
          </a:prstGeom>
          <a:noFill/>
          <a:ln/>
        </p:spPr>
        <p:txBody>
          <a:bodyPr wrap="none" lIns="0" tIns="0" rIns="0" bIns="0" rtlCol="0" anchor="t">
            <a:spAutoFit/>
          </a:bodyPr>
          <a:lstStyle/>
          <a:p>
            <a:pPr algn="l" indent="0" marL="0">
              <a:buNone/>
            </a:pPr>
            <a:r>
              <a:rPr lang="en-US" sz="1500" dirty="0">
                <a:solidFill>
                  <a:srgbClr val="FF5800"/>
                </a:solidFill>
                <a:latin typeface="Kanit" pitchFamily="34" charset="0"/>
                <a:ea typeface="Kanit" pitchFamily="34" charset="-122"/>
                <a:cs typeface="Kanit" pitchFamily="34" charset="-120"/>
              </a:rPr>
              <a:t>•</a:t>
            </a:r>
            <a:endParaRPr lang="en-US" sz="1500" dirty="0"/>
          </a:p>
        </p:txBody>
      </p:sp>
      <p:sp>
        <p:nvSpPr>
          <p:cNvPr id="21" name="Text 16"/>
          <p:cNvSpPr/>
          <p:nvPr/>
        </p:nvSpPr>
        <p:spPr>
          <a:xfrm>
            <a:off x="571500" y="3601510"/>
            <a:ext cx="66080" cy="298252"/>
          </a:xfrm>
          <a:prstGeom prst="rect">
            <a:avLst/>
          </a:prstGeom>
          <a:noFill/>
          <a:ln/>
        </p:spPr>
        <p:txBody>
          <a:bodyPr wrap="none" lIns="0" tIns="0" rIns="0" bIns="0" rtlCol="0" anchor="t">
            <a:spAutoFit/>
          </a:bodyPr>
          <a:lstStyle/>
          <a:p>
            <a:pPr algn="l" indent="0" marL="0">
              <a:buNone/>
            </a:pPr>
            <a:r>
              <a:rPr lang="en-US" sz="1500" dirty="0">
                <a:solidFill>
                  <a:srgbClr val="FF5800"/>
                </a:solidFill>
                <a:latin typeface="Kanit" pitchFamily="34" charset="0"/>
                <a:ea typeface="Kanit" pitchFamily="34" charset="-122"/>
                <a:cs typeface="Kanit" pitchFamily="34" charset="-120"/>
              </a:rPr>
              <a:t>•</a:t>
            </a:r>
            <a:endParaRPr lang="en-US" sz="1500" dirty="0"/>
          </a:p>
        </p:txBody>
      </p:sp>
      <p:sp>
        <p:nvSpPr>
          <p:cNvPr id="22" name="Text 17"/>
          <p:cNvSpPr/>
          <p:nvPr/>
        </p:nvSpPr>
        <p:spPr>
          <a:xfrm>
            <a:off x="4732037" y="3601510"/>
            <a:ext cx="66080" cy="298252"/>
          </a:xfrm>
          <a:prstGeom prst="rect">
            <a:avLst/>
          </a:prstGeom>
          <a:noFill/>
          <a:ln/>
        </p:spPr>
        <p:txBody>
          <a:bodyPr wrap="none" lIns="0" tIns="0" rIns="0" bIns="0" rtlCol="0" anchor="t">
            <a:spAutoFit/>
          </a:bodyPr>
          <a:lstStyle/>
          <a:p>
            <a:pPr algn="l" indent="0" marL="0">
              <a:buNone/>
            </a:pPr>
            <a:r>
              <a:rPr lang="en-US" sz="1500" dirty="0">
                <a:solidFill>
                  <a:srgbClr val="FF5800"/>
                </a:solidFill>
                <a:latin typeface="Kanit" pitchFamily="34" charset="0"/>
                <a:ea typeface="Kanit" pitchFamily="34" charset="-122"/>
                <a:cs typeface="Kanit" pitchFamily="34" charset="-120"/>
              </a:rPr>
              <a:t>•</a:t>
            </a:r>
            <a:endParaRPr lang="en-US" sz="1500" dirty="0"/>
          </a:p>
        </p:txBody>
      </p:sp>
      <p:sp>
        <p:nvSpPr>
          <p:cNvPr id="23" name="Text 18"/>
          <p:cNvSpPr/>
          <p:nvPr/>
        </p:nvSpPr>
        <p:spPr>
          <a:xfrm>
            <a:off x="571500" y="3972985"/>
            <a:ext cx="66080" cy="298252"/>
          </a:xfrm>
          <a:prstGeom prst="rect">
            <a:avLst/>
          </a:prstGeom>
          <a:noFill/>
          <a:ln/>
        </p:spPr>
        <p:txBody>
          <a:bodyPr wrap="none" lIns="0" tIns="0" rIns="0" bIns="0" rtlCol="0" anchor="t">
            <a:spAutoFit/>
          </a:bodyPr>
          <a:lstStyle/>
          <a:p>
            <a:pPr algn="l" indent="0" marL="0">
              <a:buNone/>
            </a:pPr>
            <a:r>
              <a:rPr lang="en-US" sz="1500" dirty="0">
                <a:solidFill>
                  <a:srgbClr val="FF5800"/>
                </a:solidFill>
                <a:latin typeface="Kanit" pitchFamily="34" charset="0"/>
                <a:ea typeface="Kanit" pitchFamily="34" charset="-122"/>
                <a:cs typeface="Kanit" pitchFamily="34" charset="-120"/>
              </a:rPr>
              <a:t>•</a:t>
            </a:r>
            <a:endParaRPr lang="en-US" sz="1500" dirty="0"/>
          </a:p>
        </p:txBody>
      </p:sp>
      <p:pic>
        <p:nvPicPr>
          <p:cNvPr id="24"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445759"/>
          </a:xfrm>
          <a:prstGeom prst="rect">
            <a:avLst/>
          </a:prstGeom>
          <a:noFill/>
          <a:ln/>
        </p:spPr>
        <p:txBody>
          <a:bodyPr wrap="none" lIns="0" tIns="0" rIns="0" bIns="0" rtlCol="0" anchor="t">
            <a:spAutoFit/>
          </a:bodyPr>
          <a:lstStyle/>
          <a:p>
            <a:pPr algn="l" indent="0" marL="0">
              <a:lnSpc>
                <a:spcPct val="96000"/>
              </a:lnSpc>
              <a:buNone/>
            </a:pPr>
            <a:r>
              <a:rPr lang="en-US" sz="2650" b="1" dirty="0">
                <a:solidFill>
                  <a:srgbClr val="000000"/>
                </a:solidFill>
                <a:latin typeface="Kanit Bold" pitchFamily="34" charset="0"/>
                <a:ea typeface="Kanit Bold" pitchFamily="34" charset="-122"/>
                <a:cs typeface="Kanit Bold" pitchFamily="34" charset="-120"/>
              </a:rPr>
              <a:t>THIS IS THE OPERATIONAL REALITY</a:t>
            </a:r>
            <a:endParaRPr lang="en-US" sz="2650" dirty="0"/>
          </a:p>
        </p:txBody>
      </p:sp>
      <p:sp>
        <p:nvSpPr>
          <p:cNvPr id="6" name="Text 1"/>
          <p:cNvSpPr/>
          <p:nvPr/>
        </p:nvSpPr>
        <p:spPr>
          <a:xfrm>
            <a:off x="571500" y="1074409"/>
            <a:ext cx="6858000" cy="235744"/>
          </a:xfrm>
          <a:prstGeom prst="rect">
            <a:avLst/>
          </a:prstGeom>
          <a:noFill/>
          <a:ln/>
        </p:spPr>
        <p:txBody>
          <a:bodyPr wrap="square" lIns="0" tIns="0" rIns="0" bIns="0" rtlCol="0" anchor="t">
            <a:spAutoFit/>
          </a:bodyPr>
          <a:lstStyle/>
          <a:p>
            <a:pPr algn="l" indent="0" marL="0">
              <a:buNone/>
            </a:pPr>
            <a:r>
              <a:rPr lang="en-US" sz="1150" i="1" dirty="0">
                <a:solidFill>
                  <a:srgbClr val="737373"/>
                </a:solidFill>
                <a:latin typeface="Kanit" pitchFamily="34" charset="0"/>
                <a:ea typeface="Kanit" pitchFamily="34" charset="-122"/>
                <a:cs typeface="Kanit" pitchFamily="34" charset="-120"/>
              </a:rPr>
              <a:t>A single taxonomy field — as it actually appears across one team's data</a:t>
            </a:r>
            <a:endParaRPr lang="en-US" sz="1150" dirty="0"/>
          </a:p>
        </p:txBody>
      </p:sp>
      <p:sp>
        <p:nvSpPr>
          <p:cNvPr id="7" name="Shape 2"/>
          <p:cNvSpPr/>
          <p:nvPr/>
        </p:nvSpPr>
        <p:spPr>
          <a:xfrm>
            <a:off x="571500" y="1524465"/>
            <a:ext cx="4400550" cy="2378869"/>
          </a:xfrm>
          <a:prstGeom prst="rect">
            <a:avLst/>
          </a:prstGeom>
          <a:solidFill>
            <a:srgbClr val="FFFFFF"/>
          </a:solidFill>
          <a:ln w="18288">
            <a:solidFill>
              <a:srgbClr val="04787F"/>
            </a:solidFill>
            <a:prstDash val="solid"/>
          </a:ln>
        </p:spPr>
      </p:sp>
      <p:sp>
        <p:nvSpPr>
          <p:cNvPr id="8" name="Shape 3"/>
          <p:cNvSpPr/>
          <p:nvPr/>
        </p:nvSpPr>
        <p:spPr>
          <a:xfrm>
            <a:off x="575072" y="1528037"/>
            <a:ext cx="1998548" cy="392906"/>
          </a:xfrm>
          <a:prstGeom prst="rect">
            <a:avLst/>
          </a:prstGeom>
          <a:solidFill>
            <a:srgbClr val="04787F"/>
          </a:solidFill>
          <a:ln w="9144">
            <a:solidFill>
              <a:srgbClr val="04787F"/>
            </a:solidFill>
            <a:prstDash val="solid"/>
          </a:ln>
        </p:spPr>
      </p:sp>
      <p:sp>
        <p:nvSpPr>
          <p:cNvPr id="9" name="Text 4"/>
          <p:cNvSpPr/>
          <p:nvPr/>
        </p:nvSpPr>
        <p:spPr>
          <a:xfrm>
            <a:off x="575072" y="1528037"/>
            <a:ext cx="199854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Kanit Medium" pitchFamily="34" charset="0"/>
                <a:ea typeface="Kanit Medium" pitchFamily="34" charset="-122"/>
                <a:cs typeface="Kanit Medium" pitchFamily="34" charset="-120"/>
              </a:rPr>
              <a:t>Coverage Item</a:t>
            </a:r>
            <a:endParaRPr lang="en-US" sz="1050" dirty="0"/>
          </a:p>
        </p:txBody>
      </p:sp>
      <p:sp>
        <p:nvSpPr>
          <p:cNvPr id="10" name="Shape 5"/>
          <p:cNvSpPr/>
          <p:nvPr/>
        </p:nvSpPr>
        <p:spPr>
          <a:xfrm>
            <a:off x="2573620" y="1528037"/>
            <a:ext cx="2394858" cy="392906"/>
          </a:xfrm>
          <a:prstGeom prst="rect">
            <a:avLst/>
          </a:prstGeom>
          <a:solidFill>
            <a:srgbClr val="04787F"/>
          </a:solidFill>
          <a:ln w="9144">
            <a:solidFill>
              <a:srgbClr val="04787F"/>
            </a:solidFill>
            <a:prstDash val="solid"/>
          </a:ln>
        </p:spPr>
      </p:sp>
      <p:sp>
        <p:nvSpPr>
          <p:cNvPr id="11" name="Text 6"/>
          <p:cNvSpPr/>
          <p:nvPr/>
        </p:nvSpPr>
        <p:spPr>
          <a:xfrm>
            <a:off x="2573620" y="1528037"/>
            <a:ext cx="239485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FFFFFF"/>
                </a:solidFill>
                <a:latin typeface="Kanit Medium" pitchFamily="34" charset="0"/>
                <a:ea typeface="Kanit Medium" pitchFamily="34" charset="-122"/>
                <a:cs typeface="Kanit Medium" pitchFamily="34" charset="-120"/>
              </a:rPr>
              <a:t>Category as Tagged</a:t>
            </a:r>
            <a:endParaRPr lang="en-US" sz="1050" dirty="0"/>
          </a:p>
        </p:txBody>
      </p:sp>
      <p:sp>
        <p:nvSpPr>
          <p:cNvPr id="12" name="Text 7"/>
          <p:cNvSpPr/>
          <p:nvPr/>
        </p:nvSpPr>
        <p:spPr>
          <a:xfrm>
            <a:off x="575072" y="1913799"/>
            <a:ext cx="199854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333333"/>
                </a:solidFill>
                <a:latin typeface="Kanit" pitchFamily="34" charset="0"/>
                <a:ea typeface="Kanit" pitchFamily="34" charset="-122"/>
                <a:cs typeface="Kanit" pitchFamily="34" charset="-120"/>
              </a:rPr>
              <a:t>CEO interview, FT</a:t>
            </a:r>
            <a:endParaRPr lang="en-US" sz="1050" dirty="0"/>
          </a:p>
        </p:txBody>
      </p:sp>
      <p:sp>
        <p:nvSpPr>
          <p:cNvPr id="13" name="Text 8"/>
          <p:cNvSpPr/>
          <p:nvPr/>
        </p:nvSpPr>
        <p:spPr>
          <a:xfrm>
            <a:off x="2573620" y="1913799"/>
            <a:ext cx="239485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333333"/>
                </a:solidFill>
                <a:latin typeface="monospace" pitchFamily="34" charset="0"/>
                <a:ea typeface="monospace" pitchFamily="34" charset="-122"/>
                <a:cs typeface="monospace" pitchFamily="34" charset="-120"/>
              </a:rPr>
              <a:t>"Thought Leadership"</a:t>
            </a:r>
            <a:endParaRPr lang="en-US" sz="1050" dirty="0"/>
          </a:p>
        </p:txBody>
      </p:sp>
      <p:sp>
        <p:nvSpPr>
          <p:cNvPr id="14" name="Shape 9"/>
          <p:cNvSpPr/>
          <p:nvPr/>
        </p:nvSpPr>
        <p:spPr>
          <a:xfrm>
            <a:off x="575072" y="2306706"/>
            <a:ext cx="4393406" cy="392906"/>
          </a:xfrm>
          <a:prstGeom prst="rect">
            <a:avLst/>
          </a:prstGeom>
          <a:solidFill>
            <a:srgbClr val="F9F9F9"/>
          </a:solidFill>
          <a:ln/>
        </p:spPr>
      </p:sp>
      <p:sp>
        <p:nvSpPr>
          <p:cNvPr id="15" name="Text 10"/>
          <p:cNvSpPr/>
          <p:nvPr/>
        </p:nvSpPr>
        <p:spPr>
          <a:xfrm>
            <a:off x="575072" y="2306706"/>
            <a:ext cx="199854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333333"/>
                </a:solidFill>
                <a:latin typeface="Kanit" pitchFamily="34" charset="0"/>
                <a:ea typeface="Kanit" pitchFamily="34" charset="-122"/>
                <a:cs typeface="Kanit" pitchFamily="34" charset="-120"/>
              </a:rPr>
              <a:t>CEO podcast feature</a:t>
            </a:r>
            <a:endParaRPr lang="en-US" sz="1050" dirty="0"/>
          </a:p>
        </p:txBody>
      </p:sp>
      <p:sp>
        <p:nvSpPr>
          <p:cNvPr id="16" name="Text 11"/>
          <p:cNvSpPr/>
          <p:nvPr/>
        </p:nvSpPr>
        <p:spPr>
          <a:xfrm>
            <a:off x="2573620" y="2306706"/>
            <a:ext cx="239485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333333"/>
                </a:solidFill>
                <a:latin typeface="monospace" pitchFamily="34" charset="0"/>
                <a:ea typeface="monospace" pitchFamily="34" charset="-122"/>
                <a:cs typeface="monospace" pitchFamily="34" charset="-120"/>
              </a:rPr>
              <a:t>"thought leadership"</a:t>
            </a:r>
            <a:endParaRPr lang="en-US" sz="1050" dirty="0"/>
          </a:p>
        </p:txBody>
      </p:sp>
      <p:sp>
        <p:nvSpPr>
          <p:cNvPr id="17" name="Text 12"/>
          <p:cNvSpPr/>
          <p:nvPr/>
        </p:nvSpPr>
        <p:spPr>
          <a:xfrm>
            <a:off x="575072" y="2699612"/>
            <a:ext cx="199854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333333"/>
                </a:solidFill>
                <a:latin typeface="Kanit" pitchFamily="34" charset="0"/>
                <a:ea typeface="Kanit" pitchFamily="34" charset="-122"/>
                <a:cs typeface="Kanit" pitchFamily="34" charset="-120"/>
              </a:rPr>
              <a:t>MD opinion piece</a:t>
            </a:r>
            <a:endParaRPr lang="en-US" sz="1050" dirty="0"/>
          </a:p>
        </p:txBody>
      </p:sp>
      <p:sp>
        <p:nvSpPr>
          <p:cNvPr id="18" name="Text 13"/>
          <p:cNvSpPr/>
          <p:nvPr/>
        </p:nvSpPr>
        <p:spPr>
          <a:xfrm>
            <a:off x="2573620" y="2699612"/>
            <a:ext cx="239485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333333"/>
                </a:solidFill>
                <a:latin typeface="monospace" pitchFamily="34" charset="0"/>
                <a:ea typeface="monospace" pitchFamily="34" charset="-122"/>
                <a:cs typeface="monospace" pitchFamily="34" charset="-120"/>
              </a:rPr>
              <a:t>"T. Leadership"</a:t>
            </a:r>
            <a:endParaRPr lang="en-US" sz="1050" dirty="0"/>
          </a:p>
        </p:txBody>
      </p:sp>
      <p:sp>
        <p:nvSpPr>
          <p:cNvPr id="19" name="Shape 14"/>
          <p:cNvSpPr/>
          <p:nvPr/>
        </p:nvSpPr>
        <p:spPr>
          <a:xfrm>
            <a:off x="575072" y="3092518"/>
            <a:ext cx="4393406" cy="392906"/>
          </a:xfrm>
          <a:prstGeom prst="rect">
            <a:avLst/>
          </a:prstGeom>
          <a:solidFill>
            <a:srgbClr val="F9F9F9"/>
          </a:solidFill>
          <a:ln/>
        </p:spPr>
      </p:sp>
      <p:sp>
        <p:nvSpPr>
          <p:cNvPr id="20" name="Text 15"/>
          <p:cNvSpPr/>
          <p:nvPr/>
        </p:nvSpPr>
        <p:spPr>
          <a:xfrm>
            <a:off x="575072" y="3092518"/>
            <a:ext cx="199854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333333"/>
                </a:solidFill>
                <a:latin typeface="Kanit" pitchFamily="34" charset="0"/>
                <a:ea typeface="Kanit" pitchFamily="34" charset="-122"/>
                <a:cs typeface="Kanit" pitchFamily="34" charset="-120"/>
              </a:rPr>
              <a:t>Board member profile</a:t>
            </a:r>
            <a:endParaRPr lang="en-US" sz="1050" dirty="0"/>
          </a:p>
        </p:txBody>
      </p:sp>
      <p:sp>
        <p:nvSpPr>
          <p:cNvPr id="21" name="Text 16"/>
          <p:cNvSpPr/>
          <p:nvPr/>
        </p:nvSpPr>
        <p:spPr>
          <a:xfrm>
            <a:off x="2573620" y="3092518"/>
            <a:ext cx="239485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333333"/>
                </a:solidFill>
                <a:latin typeface="monospace" pitchFamily="34" charset="0"/>
                <a:ea typeface="monospace" pitchFamily="34" charset="-122"/>
                <a:cs typeface="monospace" pitchFamily="34" charset="-120"/>
              </a:rPr>
              <a:t>"Exec Profiling"</a:t>
            </a:r>
            <a:endParaRPr lang="en-US" sz="1050" dirty="0"/>
          </a:p>
        </p:txBody>
      </p:sp>
      <p:sp>
        <p:nvSpPr>
          <p:cNvPr id="22" name="Text 17"/>
          <p:cNvSpPr/>
          <p:nvPr/>
        </p:nvSpPr>
        <p:spPr>
          <a:xfrm>
            <a:off x="575072" y="3485424"/>
            <a:ext cx="199854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333333"/>
                </a:solidFill>
                <a:latin typeface="Kanit" pitchFamily="34" charset="0"/>
                <a:ea typeface="Kanit" pitchFamily="34" charset="-122"/>
                <a:cs typeface="Kanit" pitchFamily="34" charset="-120"/>
              </a:rPr>
              <a:t>Chair interview, BBC</a:t>
            </a:r>
            <a:endParaRPr lang="en-US" sz="1050" dirty="0"/>
          </a:p>
        </p:txBody>
      </p:sp>
      <p:sp>
        <p:nvSpPr>
          <p:cNvPr id="23" name="Text 18"/>
          <p:cNvSpPr/>
          <p:nvPr/>
        </p:nvSpPr>
        <p:spPr>
          <a:xfrm>
            <a:off x="2573620" y="3485424"/>
            <a:ext cx="2394858" cy="392906"/>
          </a:xfrm>
          <a:prstGeom prst="rect">
            <a:avLst/>
          </a:prstGeom>
          <a:noFill/>
          <a:ln/>
        </p:spPr>
        <p:txBody>
          <a:bodyPr wrap="square" lIns="170053" tIns="102108" rIns="170053" bIns="102108" rtlCol="0" anchor="ctr">
            <a:spAutoFit/>
          </a:bodyPr>
          <a:lstStyle/>
          <a:p>
            <a:pPr algn="l" indent="0" marL="0">
              <a:buNone/>
            </a:pPr>
            <a:r>
              <a:rPr lang="en-US" sz="1050" dirty="0">
                <a:solidFill>
                  <a:srgbClr val="333333"/>
                </a:solidFill>
                <a:latin typeface="monospace" pitchFamily="34" charset="0"/>
                <a:ea typeface="monospace" pitchFamily="34" charset="-122"/>
                <a:cs typeface="monospace" pitchFamily="34" charset="-120"/>
              </a:rPr>
              <a:t>"Executive Profile"</a:t>
            </a:r>
            <a:endParaRPr lang="en-US" sz="1050" dirty="0"/>
          </a:p>
        </p:txBody>
      </p:sp>
      <p:sp>
        <p:nvSpPr>
          <p:cNvPr id="24" name="Text 19"/>
          <p:cNvSpPr/>
          <p:nvPr/>
        </p:nvSpPr>
        <p:spPr>
          <a:xfrm>
            <a:off x="571500" y="3996203"/>
            <a:ext cx="4400550" cy="276820"/>
          </a:xfrm>
          <a:prstGeom prst="rect">
            <a:avLst/>
          </a:prstGeom>
          <a:noFill/>
          <a:ln/>
        </p:spPr>
        <p:txBody>
          <a:bodyPr wrap="square" lIns="0" tIns="0" rIns="0" bIns="0" rtlCol="0" anchor="t">
            <a:spAutoFit/>
          </a:bodyPr>
          <a:lstStyle/>
          <a:p>
            <a:pPr algn="ctr" indent="0" marL="0">
              <a:buNone/>
            </a:pPr>
            <a:r>
              <a:rPr lang="en-US" sz="1300" b="1" dirty="0">
                <a:solidFill>
                  <a:srgbClr val="04787F"/>
                </a:solidFill>
                <a:latin typeface="Kanit Bold" pitchFamily="34" charset="0"/>
                <a:ea typeface="Kanit Bold" pitchFamily="34" charset="-122"/>
                <a:cs typeface="Kanit Bold" pitchFamily="34" charset="-120"/>
              </a:rPr>
              <a:t>All meaning the same thing.</a:t>
            </a:r>
            <a:endParaRPr lang="en-US" sz="1300" dirty="0"/>
          </a:p>
        </p:txBody>
      </p:sp>
      <p:sp>
        <p:nvSpPr>
          <p:cNvPr id="25" name="Shape 20"/>
          <p:cNvSpPr/>
          <p:nvPr/>
        </p:nvSpPr>
        <p:spPr>
          <a:xfrm>
            <a:off x="5372100" y="1667340"/>
            <a:ext cx="3200400" cy="1950244"/>
          </a:xfrm>
          <a:prstGeom prst="rect">
            <a:avLst/>
          </a:prstGeom>
          <a:solidFill>
            <a:srgbClr val="FF5800">
              <a:alpha val="10000"/>
            </a:srgbClr>
          </a:solidFill>
          <a:ln/>
        </p:spPr>
      </p:sp>
      <p:sp>
        <p:nvSpPr>
          <p:cNvPr id="26" name="Shape 21"/>
          <p:cNvSpPr/>
          <p:nvPr/>
        </p:nvSpPr>
        <p:spPr>
          <a:xfrm>
            <a:off x="5372100" y="1667340"/>
            <a:ext cx="42863" cy="1950244"/>
          </a:xfrm>
          <a:prstGeom prst="rect">
            <a:avLst/>
          </a:prstGeom>
          <a:solidFill>
            <a:srgbClr val="FF5800"/>
          </a:solidFill>
          <a:ln/>
        </p:spPr>
      </p:sp>
      <p:sp>
        <p:nvSpPr>
          <p:cNvPr id="27" name="Text 22"/>
          <p:cNvSpPr/>
          <p:nvPr/>
        </p:nvSpPr>
        <p:spPr>
          <a:xfrm>
            <a:off x="5514975" y="1810215"/>
            <a:ext cx="2914650" cy="235744"/>
          </a:xfrm>
          <a:prstGeom prst="rect">
            <a:avLst/>
          </a:prstGeom>
          <a:noFill/>
          <a:ln/>
        </p:spPr>
        <p:txBody>
          <a:bodyPr wrap="square" lIns="0" tIns="0" rIns="0" bIns="0" rtlCol="0" anchor="t">
            <a:spAutoFit/>
          </a:bodyPr>
          <a:lstStyle/>
          <a:p>
            <a:pPr algn="l" indent="0" marL="0">
              <a:buNone/>
            </a:pPr>
            <a:r>
              <a:rPr lang="en-US" sz="1100" b="1" dirty="0">
                <a:solidFill>
                  <a:srgbClr val="000000"/>
                </a:solidFill>
                <a:latin typeface="Kanit Bold" pitchFamily="34" charset="0"/>
                <a:ea typeface="Kanit Bold" pitchFamily="34" charset="-122"/>
                <a:cs typeface="Kanit Bold" pitchFamily="34" charset="-120"/>
              </a:rPr>
              <a:t>Also present in real data:</a:t>
            </a:r>
            <a:endParaRPr lang="en-US" sz="1100" dirty="0"/>
          </a:p>
        </p:txBody>
      </p:sp>
      <p:sp>
        <p:nvSpPr>
          <p:cNvPr id="28" name="Text 23"/>
          <p:cNvSpPr/>
          <p:nvPr/>
        </p:nvSpPr>
        <p:spPr>
          <a:xfrm>
            <a:off x="5514975" y="2117396"/>
            <a:ext cx="2914650" cy="214313"/>
          </a:xfrm>
          <a:prstGeom prst="rect">
            <a:avLst/>
          </a:prstGeom>
          <a:noFill/>
          <a:ln/>
        </p:spPr>
        <p:txBody>
          <a:bodyPr wrap="square" lIns="170053" tIns="0" rIns="0" bIns="0" rtlCol="0" anchor="t">
            <a:spAutoFit/>
          </a:bodyPr>
          <a:lstStyle/>
          <a:p>
            <a:pPr algn="l" indent="0" marL="0">
              <a:buNone/>
            </a:pPr>
            <a:r>
              <a:rPr lang="en-US" sz="1050" dirty="0">
                <a:solidFill>
                  <a:srgbClr val="333333"/>
                </a:solidFill>
                <a:latin typeface="Kanit" pitchFamily="34" charset="0"/>
                <a:ea typeface="Kanit" pitchFamily="34" charset="-122"/>
                <a:cs typeface="Kanit" pitchFamily="34" charset="-120"/>
              </a:rPr>
              <a:t>Duplicated values</a:t>
            </a:r>
            <a:endParaRPr lang="en-US" sz="1050" dirty="0"/>
          </a:p>
        </p:txBody>
      </p:sp>
      <p:sp>
        <p:nvSpPr>
          <p:cNvPr id="29" name="Text 24"/>
          <p:cNvSpPr/>
          <p:nvPr/>
        </p:nvSpPr>
        <p:spPr>
          <a:xfrm>
            <a:off x="5514975" y="2388859"/>
            <a:ext cx="2914650" cy="214313"/>
          </a:xfrm>
          <a:prstGeom prst="rect">
            <a:avLst/>
          </a:prstGeom>
          <a:noFill/>
          <a:ln/>
        </p:spPr>
        <p:txBody>
          <a:bodyPr wrap="square" lIns="170053" tIns="0" rIns="0" bIns="0" rtlCol="0" anchor="t">
            <a:spAutoFit/>
          </a:bodyPr>
          <a:lstStyle/>
          <a:p>
            <a:pPr algn="l" indent="0" marL="0">
              <a:buNone/>
            </a:pPr>
            <a:r>
              <a:rPr lang="en-US" sz="1050" dirty="0">
                <a:solidFill>
                  <a:srgbClr val="333333"/>
                </a:solidFill>
                <a:latin typeface="Kanit" pitchFamily="34" charset="0"/>
                <a:ea typeface="Kanit" pitchFamily="34" charset="-122"/>
                <a:cs typeface="Kanit" pitchFamily="34" charset="-120"/>
              </a:rPr>
              <a:t>Broken formulas</a:t>
            </a:r>
            <a:endParaRPr lang="en-US" sz="1050" dirty="0"/>
          </a:p>
        </p:txBody>
      </p:sp>
      <p:sp>
        <p:nvSpPr>
          <p:cNvPr id="30" name="Text 25"/>
          <p:cNvSpPr/>
          <p:nvPr/>
        </p:nvSpPr>
        <p:spPr>
          <a:xfrm>
            <a:off x="5514975" y="2660321"/>
            <a:ext cx="2914650" cy="214313"/>
          </a:xfrm>
          <a:prstGeom prst="rect">
            <a:avLst/>
          </a:prstGeom>
          <a:noFill/>
          <a:ln/>
        </p:spPr>
        <p:txBody>
          <a:bodyPr wrap="square" lIns="170053" tIns="0" rIns="0" bIns="0" rtlCol="0" anchor="t">
            <a:spAutoFit/>
          </a:bodyPr>
          <a:lstStyle/>
          <a:p>
            <a:pPr algn="l" indent="0" marL="0">
              <a:buNone/>
            </a:pPr>
            <a:r>
              <a:rPr lang="en-US" sz="1050" dirty="0">
                <a:solidFill>
                  <a:srgbClr val="333333"/>
                </a:solidFill>
                <a:latin typeface="Kanit" pitchFamily="34" charset="0"/>
                <a:ea typeface="Kanit" pitchFamily="34" charset="-122"/>
                <a:cs typeface="Kanit" pitchFamily="34" charset="-120"/>
              </a:rPr>
              <a:t>Missing fields</a:t>
            </a:r>
            <a:endParaRPr lang="en-US" sz="1050" dirty="0"/>
          </a:p>
        </p:txBody>
      </p:sp>
      <p:sp>
        <p:nvSpPr>
          <p:cNvPr id="31" name="Text 26"/>
          <p:cNvSpPr/>
          <p:nvPr/>
        </p:nvSpPr>
        <p:spPr>
          <a:xfrm>
            <a:off x="5514975" y="2931784"/>
            <a:ext cx="2914650" cy="214313"/>
          </a:xfrm>
          <a:prstGeom prst="rect">
            <a:avLst/>
          </a:prstGeom>
          <a:noFill/>
          <a:ln/>
        </p:spPr>
        <p:txBody>
          <a:bodyPr wrap="square" lIns="170053" tIns="0" rIns="0" bIns="0" rtlCol="0" anchor="t">
            <a:spAutoFit/>
          </a:bodyPr>
          <a:lstStyle/>
          <a:p>
            <a:pPr algn="l" indent="0" marL="0">
              <a:buNone/>
            </a:pPr>
            <a:r>
              <a:rPr lang="en-US" sz="1050" dirty="0">
                <a:solidFill>
                  <a:srgbClr val="333333"/>
                </a:solidFill>
                <a:latin typeface="Kanit" pitchFamily="34" charset="0"/>
                <a:ea typeface="Kanit" pitchFamily="34" charset="-122"/>
                <a:cs typeface="Kanit" pitchFamily="34" charset="-120"/>
              </a:rPr>
              <a:t>Inconsistent sentiment labels</a:t>
            </a:r>
            <a:endParaRPr lang="en-US" sz="1050" dirty="0"/>
          </a:p>
        </p:txBody>
      </p:sp>
      <p:sp>
        <p:nvSpPr>
          <p:cNvPr id="32" name="Text 27"/>
          <p:cNvSpPr/>
          <p:nvPr/>
        </p:nvSpPr>
        <p:spPr>
          <a:xfrm>
            <a:off x="5514975" y="3203246"/>
            <a:ext cx="2914650" cy="214313"/>
          </a:xfrm>
          <a:prstGeom prst="rect">
            <a:avLst/>
          </a:prstGeom>
          <a:noFill/>
          <a:ln/>
        </p:spPr>
        <p:txBody>
          <a:bodyPr wrap="square" lIns="170053" tIns="0" rIns="0" bIns="0" rtlCol="0" anchor="t">
            <a:spAutoFit/>
          </a:bodyPr>
          <a:lstStyle/>
          <a:p>
            <a:pPr algn="l" indent="0" marL="0">
              <a:buNone/>
            </a:pPr>
            <a:r>
              <a:rPr lang="en-US" sz="1050" dirty="0">
                <a:solidFill>
                  <a:srgbClr val="333333"/>
                </a:solidFill>
                <a:latin typeface="Kanit" pitchFamily="34" charset="0"/>
                <a:ea typeface="Kanit" pitchFamily="34" charset="-122"/>
                <a:cs typeface="Kanit" pitchFamily="34" charset="-120"/>
              </a:rPr>
              <a:t>Empty taxonomy columns</a:t>
            </a:r>
            <a:endParaRPr lang="en-US" sz="1050" dirty="0"/>
          </a:p>
        </p:txBody>
      </p:sp>
      <p:sp>
        <p:nvSpPr>
          <p:cNvPr id="33" name="Text 28"/>
          <p:cNvSpPr/>
          <p:nvPr/>
        </p:nvSpPr>
        <p:spPr>
          <a:xfrm>
            <a:off x="5514975" y="2117396"/>
            <a:ext cx="60722" cy="214313"/>
          </a:xfrm>
          <a:prstGeom prst="rect">
            <a:avLst/>
          </a:prstGeom>
          <a:noFill/>
          <a:ln/>
        </p:spPr>
        <p:txBody>
          <a:bodyPr wrap="none" lIns="0" tIns="0" rIns="0" bIns="0" rtlCol="0" anchor="t">
            <a:spAutoFit/>
          </a:bodyPr>
          <a:lstStyle/>
          <a:p>
            <a:pPr algn="l" indent="0" marL="0">
              <a:buNone/>
            </a:pPr>
            <a:r>
              <a:rPr lang="en-US" sz="1000" b="1" dirty="0">
                <a:solidFill>
                  <a:srgbClr val="FF5800"/>
                </a:solidFill>
                <a:latin typeface="Kanit Bold" pitchFamily="34" charset="0"/>
                <a:ea typeface="Kanit Bold" pitchFamily="34" charset="-122"/>
                <a:cs typeface="Kanit Bold" pitchFamily="34" charset="-120"/>
              </a:rPr>
              <a:t>×</a:t>
            </a:r>
            <a:endParaRPr lang="en-US" sz="1000" dirty="0"/>
          </a:p>
        </p:txBody>
      </p:sp>
      <p:sp>
        <p:nvSpPr>
          <p:cNvPr id="34" name="Text 29"/>
          <p:cNvSpPr/>
          <p:nvPr/>
        </p:nvSpPr>
        <p:spPr>
          <a:xfrm>
            <a:off x="5514975" y="2388859"/>
            <a:ext cx="60722" cy="214313"/>
          </a:xfrm>
          <a:prstGeom prst="rect">
            <a:avLst/>
          </a:prstGeom>
          <a:noFill/>
          <a:ln/>
        </p:spPr>
        <p:txBody>
          <a:bodyPr wrap="none" lIns="0" tIns="0" rIns="0" bIns="0" rtlCol="0" anchor="t">
            <a:spAutoFit/>
          </a:bodyPr>
          <a:lstStyle/>
          <a:p>
            <a:pPr algn="l" indent="0" marL="0">
              <a:buNone/>
            </a:pPr>
            <a:r>
              <a:rPr lang="en-US" sz="1000" b="1" dirty="0">
                <a:solidFill>
                  <a:srgbClr val="FF5800"/>
                </a:solidFill>
                <a:latin typeface="Kanit Bold" pitchFamily="34" charset="0"/>
                <a:ea typeface="Kanit Bold" pitchFamily="34" charset="-122"/>
                <a:cs typeface="Kanit Bold" pitchFamily="34" charset="-120"/>
              </a:rPr>
              <a:t>×</a:t>
            </a:r>
            <a:endParaRPr lang="en-US" sz="1000" dirty="0"/>
          </a:p>
        </p:txBody>
      </p:sp>
      <p:sp>
        <p:nvSpPr>
          <p:cNvPr id="35" name="Text 30"/>
          <p:cNvSpPr/>
          <p:nvPr/>
        </p:nvSpPr>
        <p:spPr>
          <a:xfrm>
            <a:off x="5514975" y="2660321"/>
            <a:ext cx="60722" cy="214313"/>
          </a:xfrm>
          <a:prstGeom prst="rect">
            <a:avLst/>
          </a:prstGeom>
          <a:noFill/>
          <a:ln/>
        </p:spPr>
        <p:txBody>
          <a:bodyPr wrap="none" lIns="0" tIns="0" rIns="0" bIns="0" rtlCol="0" anchor="t">
            <a:spAutoFit/>
          </a:bodyPr>
          <a:lstStyle/>
          <a:p>
            <a:pPr algn="l" indent="0" marL="0">
              <a:buNone/>
            </a:pPr>
            <a:r>
              <a:rPr lang="en-US" sz="1000" b="1" dirty="0">
                <a:solidFill>
                  <a:srgbClr val="FF5800"/>
                </a:solidFill>
                <a:latin typeface="Kanit Bold" pitchFamily="34" charset="0"/>
                <a:ea typeface="Kanit Bold" pitchFamily="34" charset="-122"/>
                <a:cs typeface="Kanit Bold" pitchFamily="34" charset="-120"/>
              </a:rPr>
              <a:t>×</a:t>
            </a:r>
            <a:endParaRPr lang="en-US" sz="1000" dirty="0"/>
          </a:p>
        </p:txBody>
      </p:sp>
      <p:sp>
        <p:nvSpPr>
          <p:cNvPr id="36" name="Text 31"/>
          <p:cNvSpPr/>
          <p:nvPr/>
        </p:nvSpPr>
        <p:spPr>
          <a:xfrm>
            <a:off x="5514975" y="2931784"/>
            <a:ext cx="60722" cy="214313"/>
          </a:xfrm>
          <a:prstGeom prst="rect">
            <a:avLst/>
          </a:prstGeom>
          <a:noFill/>
          <a:ln/>
        </p:spPr>
        <p:txBody>
          <a:bodyPr wrap="none" lIns="0" tIns="0" rIns="0" bIns="0" rtlCol="0" anchor="t">
            <a:spAutoFit/>
          </a:bodyPr>
          <a:lstStyle/>
          <a:p>
            <a:pPr algn="l" indent="0" marL="0">
              <a:buNone/>
            </a:pPr>
            <a:r>
              <a:rPr lang="en-US" sz="1000" b="1" dirty="0">
                <a:solidFill>
                  <a:srgbClr val="FF5800"/>
                </a:solidFill>
                <a:latin typeface="Kanit Bold" pitchFamily="34" charset="0"/>
                <a:ea typeface="Kanit Bold" pitchFamily="34" charset="-122"/>
                <a:cs typeface="Kanit Bold" pitchFamily="34" charset="-120"/>
              </a:rPr>
              <a:t>×</a:t>
            </a:r>
            <a:endParaRPr lang="en-US" sz="1000" dirty="0"/>
          </a:p>
        </p:txBody>
      </p:sp>
      <p:sp>
        <p:nvSpPr>
          <p:cNvPr id="37" name="Text 32"/>
          <p:cNvSpPr/>
          <p:nvPr/>
        </p:nvSpPr>
        <p:spPr>
          <a:xfrm>
            <a:off x="5514975" y="3203246"/>
            <a:ext cx="60722" cy="214313"/>
          </a:xfrm>
          <a:prstGeom prst="rect">
            <a:avLst/>
          </a:prstGeom>
          <a:noFill/>
          <a:ln/>
        </p:spPr>
        <p:txBody>
          <a:bodyPr wrap="none" lIns="0" tIns="0" rIns="0" bIns="0" rtlCol="0" anchor="t">
            <a:spAutoFit/>
          </a:bodyPr>
          <a:lstStyle/>
          <a:p>
            <a:pPr algn="l" indent="0" marL="0">
              <a:buNone/>
            </a:pPr>
            <a:r>
              <a:rPr lang="en-US" sz="1000" b="1" dirty="0">
                <a:solidFill>
                  <a:srgbClr val="FF5800"/>
                </a:solidFill>
                <a:latin typeface="Kanit Bold" pitchFamily="34" charset="0"/>
                <a:ea typeface="Kanit Bold" pitchFamily="34" charset="-122"/>
                <a:cs typeface="Kanit Bold" pitchFamily="34" charset="-120"/>
              </a:rPr>
              <a:t>×</a:t>
            </a:r>
            <a:endParaRPr lang="en-US" sz="1000" dirty="0"/>
          </a:p>
        </p:txBody>
      </p:sp>
      <p:pic>
        <p:nvPicPr>
          <p:cNvPr id="38"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445759"/>
          </a:xfrm>
          <a:prstGeom prst="rect">
            <a:avLst/>
          </a:prstGeom>
          <a:noFill/>
          <a:ln/>
        </p:spPr>
        <p:txBody>
          <a:bodyPr wrap="none" lIns="0" tIns="0" rIns="0" bIns="0" rtlCol="0" anchor="t">
            <a:spAutoFit/>
          </a:bodyPr>
          <a:lstStyle/>
          <a:p>
            <a:pPr algn="l" indent="0" marL="0">
              <a:lnSpc>
                <a:spcPct val="96000"/>
              </a:lnSpc>
              <a:buNone/>
            </a:pPr>
            <a:r>
              <a:rPr lang="en-US" sz="2650" b="1" dirty="0">
                <a:solidFill>
                  <a:srgbClr val="000000"/>
                </a:solidFill>
                <a:latin typeface="Kanit Bold" pitchFamily="34" charset="0"/>
                <a:ea typeface="Kanit Bold" pitchFamily="34" charset="-122"/>
                <a:cs typeface="Kanit Bold" pitchFamily="34" charset="-120"/>
              </a:rPr>
              <a:t>MONITORING ≠ STRUCTURE</a:t>
            </a:r>
            <a:endParaRPr lang="en-US" sz="2650" dirty="0"/>
          </a:p>
        </p:txBody>
      </p:sp>
      <p:sp>
        <p:nvSpPr>
          <p:cNvPr id="6" name="Text 1"/>
          <p:cNvSpPr/>
          <p:nvPr/>
        </p:nvSpPr>
        <p:spPr>
          <a:xfrm>
            <a:off x="571500" y="1374446"/>
            <a:ext cx="3600450" cy="235744"/>
          </a:xfrm>
          <a:prstGeom prst="rect">
            <a:avLst/>
          </a:prstGeom>
          <a:noFill/>
          <a:ln/>
        </p:spPr>
        <p:txBody>
          <a:bodyPr wrap="square" lIns="0" tIns="0" rIns="0" bIns="0" rtlCol="0" anchor="t">
            <a:spAutoFit/>
          </a:bodyPr>
          <a:lstStyle/>
          <a:p>
            <a:pPr algn="l" indent="0" marL="0">
              <a:buNone/>
            </a:pPr>
            <a:r>
              <a:rPr lang="en-US" sz="1100" b="1" spc="1" kern="0" dirty="0">
                <a:solidFill>
                  <a:srgbClr val="737373"/>
                </a:solidFill>
                <a:latin typeface="Kanit Bold" pitchFamily="34" charset="0"/>
                <a:ea typeface="Kanit Bold" pitchFamily="34" charset="-122"/>
                <a:cs typeface="Kanit Bold" pitchFamily="34" charset="-120"/>
              </a:rPr>
              <a:t>MONITORING PLATFORMS IN USE:</a:t>
            </a:r>
            <a:endParaRPr lang="en-US" sz="1100" dirty="0"/>
          </a:p>
        </p:txBody>
      </p:sp>
      <p:sp>
        <p:nvSpPr>
          <p:cNvPr id="7" name="Text 2"/>
          <p:cNvSpPr/>
          <p:nvPr/>
        </p:nvSpPr>
        <p:spPr>
          <a:xfrm>
            <a:off x="571500" y="1753065"/>
            <a:ext cx="3600450" cy="319683"/>
          </a:xfrm>
          <a:prstGeom prst="rect">
            <a:avLst/>
          </a:prstGeom>
          <a:noFill/>
          <a:ln/>
        </p:spPr>
        <p:txBody>
          <a:bodyPr wrap="square" lIns="255143" tIns="0" rIns="0" bIns="0" rtlCol="0" anchor="t">
            <a:spAutoFit/>
          </a:bodyPr>
          <a:lstStyle/>
          <a:p>
            <a:pPr algn="l" indent="0" marL="0">
              <a:buNone/>
            </a:pPr>
            <a:r>
              <a:rPr lang="en-US" sz="1600" dirty="0">
                <a:solidFill>
                  <a:srgbClr val="04787F"/>
                </a:solidFill>
                <a:latin typeface="Kanit Medium" pitchFamily="34" charset="0"/>
                <a:ea typeface="Kanit Medium" pitchFamily="34" charset="-122"/>
                <a:cs typeface="Kanit Medium" pitchFamily="34" charset="-120"/>
              </a:rPr>
              <a:t>Signal AI</a:t>
            </a:r>
            <a:endParaRPr lang="en-US" sz="1600" dirty="0"/>
          </a:p>
        </p:txBody>
      </p:sp>
      <p:sp>
        <p:nvSpPr>
          <p:cNvPr id="8" name="Text 3"/>
          <p:cNvSpPr/>
          <p:nvPr/>
        </p:nvSpPr>
        <p:spPr>
          <a:xfrm>
            <a:off x="571500" y="2201335"/>
            <a:ext cx="3600450" cy="319683"/>
          </a:xfrm>
          <a:prstGeom prst="rect">
            <a:avLst/>
          </a:prstGeom>
          <a:noFill/>
          <a:ln/>
        </p:spPr>
        <p:txBody>
          <a:bodyPr wrap="square" lIns="255143" tIns="0" rIns="0" bIns="0" rtlCol="0" anchor="t">
            <a:spAutoFit/>
          </a:bodyPr>
          <a:lstStyle/>
          <a:p>
            <a:pPr algn="l" indent="0" marL="0">
              <a:buNone/>
            </a:pPr>
            <a:r>
              <a:rPr lang="en-US" sz="1600" dirty="0">
                <a:solidFill>
                  <a:srgbClr val="04787F"/>
                </a:solidFill>
                <a:latin typeface="Kanit Medium" pitchFamily="34" charset="0"/>
                <a:ea typeface="Kanit Medium" pitchFamily="34" charset="-122"/>
                <a:cs typeface="Kanit Medium" pitchFamily="34" charset="-120"/>
              </a:rPr>
              <a:t>Agility</a:t>
            </a:r>
            <a:endParaRPr lang="en-US" sz="1600" dirty="0"/>
          </a:p>
        </p:txBody>
      </p:sp>
      <p:sp>
        <p:nvSpPr>
          <p:cNvPr id="9" name="Text 4"/>
          <p:cNvSpPr/>
          <p:nvPr/>
        </p:nvSpPr>
        <p:spPr>
          <a:xfrm>
            <a:off x="571500" y="2649606"/>
            <a:ext cx="3600450" cy="319683"/>
          </a:xfrm>
          <a:prstGeom prst="rect">
            <a:avLst/>
          </a:prstGeom>
          <a:noFill/>
          <a:ln/>
        </p:spPr>
        <p:txBody>
          <a:bodyPr wrap="square" lIns="255143" tIns="0" rIns="0" bIns="0" rtlCol="0" anchor="t">
            <a:spAutoFit/>
          </a:bodyPr>
          <a:lstStyle/>
          <a:p>
            <a:pPr algn="l" indent="0" marL="0">
              <a:buNone/>
            </a:pPr>
            <a:r>
              <a:rPr lang="en-US" sz="1600" dirty="0">
                <a:solidFill>
                  <a:srgbClr val="04787F"/>
                </a:solidFill>
                <a:latin typeface="Kanit Medium" pitchFamily="34" charset="0"/>
                <a:ea typeface="Kanit Medium" pitchFamily="34" charset="-122"/>
                <a:cs typeface="Kanit Medium" pitchFamily="34" charset="-120"/>
              </a:rPr>
              <a:t>Meltwater</a:t>
            </a:r>
            <a:endParaRPr lang="en-US" sz="1600" dirty="0"/>
          </a:p>
        </p:txBody>
      </p:sp>
      <p:sp>
        <p:nvSpPr>
          <p:cNvPr id="10" name="Text 5"/>
          <p:cNvSpPr/>
          <p:nvPr/>
        </p:nvSpPr>
        <p:spPr>
          <a:xfrm>
            <a:off x="571500" y="3097876"/>
            <a:ext cx="3600450" cy="319683"/>
          </a:xfrm>
          <a:prstGeom prst="rect">
            <a:avLst/>
          </a:prstGeom>
          <a:noFill/>
          <a:ln/>
        </p:spPr>
        <p:txBody>
          <a:bodyPr wrap="square" lIns="255143" tIns="0" rIns="0" bIns="0" rtlCol="0" anchor="t">
            <a:spAutoFit/>
          </a:bodyPr>
          <a:lstStyle/>
          <a:p>
            <a:pPr algn="l" indent="0" marL="0">
              <a:buNone/>
            </a:pPr>
            <a:r>
              <a:rPr lang="en-US" sz="1600" dirty="0">
                <a:solidFill>
                  <a:srgbClr val="04787F"/>
                </a:solidFill>
                <a:latin typeface="Kanit Medium" pitchFamily="34" charset="0"/>
                <a:ea typeface="Kanit Medium" pitchFamily="34" charset="-122"/>
                <a:cs typeface="Kanit Medium" pitchFamily="34" charset="-120"/>
              </a:rPr>
              <a:t>Cision</a:t>
            </a:r>
            <a:endParaRPr lang="en-US" sz="1600" dirty="0"/>
          </a:p>
        </p:txBody>
      </p:sp>
      <p:sp>
        <p:nvSpPr>
          <p:cNvPr id="11" name="Text 6"/>
          <p:cNvSpPr/>
          <p:nvPr/>
        </p:nvSpPr>
        <p:spPr>
          <a:xfrm>
            <a:off x="571500" y="3546146"/>
            <a:ext cx="3600450" cy="319683"/>
          </a:xfrm>
          <a:prstGeom prst="rect">
            <a:avLst/>
          </a:prstGeom>
          <a:noFill/>
          <a:ln/>
        </p:spPr>
        <p:txBody>
          <a:bodyPr wrap="square" lIns="255143" tIns="0" rIns="0" bIns="0" rtlCol="0" anchor="t">
            <a:spAutoFit/>
          </a:bodyPr>
          <a:lstStyle/>
          <a:p>
            <a:pPr algn="l" indent="0" marL="0">
              <a:buNone/>
            </a:pPr>
            <a:r>
              <a:rPr lang="en-US" sz="1600" dirty="0">
                <a:solidFill>
                  <a:srgbClr val="04787F"/>
                </a:solidFill>
                <a:latin typeface="Kanit Medium" pitchFamily="34" charset="0"/>
                <a:ea typeface="Kanit Medium" pitchFamily="34" charset="-122"/>
                <a:cs typeface="Kanit Medium" pitchFamily="34" charset="-120"/>
              </a:rPr>
              <a:t>Talkwalker</a:t>
            </a:r>
            <a:endParaRPr lang="en-US" sz="1600" dirty="0"/>
          </a:p>
        </p:txBody>
      </p:sp>
      <p:sp>
        <p:nvSpPr>
          <p:cNvPr id="12" name="Text 7"/>
          <p:cNvSpPr/>
          <p:nvPr/>
        </p:nvSpPr>
        <p:spPr>
          <a:xfrm>
            <a:off x="571500" y="1753065"/>
            <a:ext cx="214313" cy="319683"/>
          </a:xfrm>
          <a:prstGeom prst="rect">
            <a:avLst/>
          </a:prstGeom>
          <a:noFill/>
          <a:ln/>
        </p:spPr>
        <p:txBody>
          <a:bodyPr wrap="none" lIns="0" tIns="0" rIns="0" bIns="0" rtlCol="0" anchor="t">
            <a:spAutoFit/>
          </a:bodyPr>
          <a:lstStyle/>
          <a:p>
            <a:pPr algn="l" indent="0" marL="0">
              <a:buNone/>
            </a:pPr>
            <a:r>
              <a:rPr lang="en-US" sz="1600" dirty="0">
                <a:solidFill>
                  <a:srgbClr val="FF5800"/>
                </a:solidFill>
                <a:latin typeface="Kanit Medium" pitchFamily="34" charset="0"/>
                <a:ea typeface="Kanit Medium" pitchFamily="34" charset="-122"/>
                <a:cs typeface="Kanit Medium" pitchFamily="34" charset="-120"/>
              </a:rPr>
              <a:t>→</a:t>
            </a:r>
            <a:endParaRPr lang="en-US" sz="1600" dirty="0"/>
          </a:p>
        </p:txBody>
      </p:sp>
      <p:sp>
        <p:nvSpPr>
          <p:cNvPr id="13" name="Text 8"/>
          <p:cNvSpPr/>
          <p:nvPr/>
        </p:nvSpPr>
        <p:spPr>
          <a:xfrm>
            <a:off x="571500" y="2201335"/>
            <a:ext cx="214313" cy="319683"/>
          </a:xfrm>
          <a:prstGeom prst="rect">
            <a:avLst/>
          </a:prstGeom>
          <a:noFill/>
          <a:ln/>
        </p:spPr>
        <p:txBody>
          <a:bodyPr wrap="none" lIns="0" tIns="0" rIns="0" bIns="0" rtlCol="0" anchor="t">
            <a:spAutoFit/>
          </a:bodyPr>
          <a:lstStyle/>
          <a:p>
            <a:pPr algn="l" indent="0" marL="0">
              <a:buNone/>
            </a:pPr>
            <a:r>
              <a:rPr lang="en-US" sz="1600" dirty="0">
                <a:solidFill>
                  <a:srgbClr val="FF5800"/>
                </a:solidFill>
                <a:latin typeface="Kanit Medium" pitchFamily="34" charset="0"/>
                <a:ea typeface="Kanit Medium" pitchFamily="34" charset="-122"/>
                <a:cs typeface="Kanit Medium" pitchFamily="34" charset="-120"/>
              </a:rPr>
              <a:t>→</a:t>
            </a:r>
            <a:endParaRPr lang="en-US" sz="1600" dirty="0"/>
          </a:p>
        </p:txBody>
      </p:sp>
      <p:sp>
        <p:nvSpPr>
          <p:cNvPr id="14" name="Text 9"/>
          <p:cNvSpPr/>
          <p:nvPr/>
        </p:nvSpPr>
        <p:spPr>
          <a:xfrm>
            <a:off x="571500" y="2649606"/>
            <a:ext cx="214313" cy="319683"/>
          </a:xfrm>
          <a:prstGeom prst="rect">
            <a:avLst/>
          </a:prstGeom>
          <a:noFill/>
          <a:ln/>
        </p:spPr>
        <p:txBody>
          <a:bodyPr wrap="none" lIns="0" tIns="0" rIns="0" bIns="0" rtlCol="0" anchor="t">
            <a:spAutoFit/>
          </a:bodyPr>
          <a:lstStyle/>
          <a:p>
            <a:pPr algn="l" indent="0" marL="0">
              <a:buNone/>
            </a:pPr>
            <a:r>
              <a:rPr lang="en-US" sz="1600" dirty="0">
                <a:solidFill>
                  <a:srgbClr val="FF5800"/>
                </a:solidFill>
                <a:latin typeface="Kanit Medium" pitchFamily="34" charset="0"/>
                <a:ea typeface="Kanit Medium" pitchFamily="34" charset="-122"/>
                <a:cs typeface="Kanit Medium" pitchFamily="34" charset="-120"/>
              </a:rPr>
              <a:t>→</a:t>
            </a:r>
            <a:endParaRPr lang="en-US" sz="1600" dirty="0"/>
          </a:p>
        </p:txBody>
      </p:sp>
      <p:sp>
        <p:nvSpPr>
          <p:cNvPr id="15" name="Text 10"/>
          <p:cNvSpPr/>
          <p:nvPr/>
        </p:nvSpPr>
        <p:spPr>
          <a:xfrm>
            <a:off x="571500" y="3097876"/>
            <a:ext cx="214313" cy="319683"/>
          </a:xfrm>
          <a:prstGeom prst="rect">
            <a:avLst/>
          </a:prstGeom>
          <a:noFill/>
          <a:ln/>
        </p:spPr>
        <p:txBody>
          <a:bodyPr wrap="none" lIns="0" tIns="0" rIns="0" bIns="0" rtlCol="0" anchor="t">
            <a:spAutoFit/>
          </a:bodyPr>
          <a:lstStyle/>
          <a:p>
            <a:pPr algn="l" indent="0" marL="0">
              <a:buNone/>
            </a:pPr>
            <a:r>
              <a:rPr lang="en-US" sz="1600" dirty="0">
                <a:solidFill>
                  <a:srgbClr val="FF5800"/>
                </a:solidFill>
                <a:latin typeface="Kanit Medium" pitchFamily="34" charset="0"/>
                <a:ea typeface="Kanit Medium" pitchFamily="34" charset="-122"/>
                <a:cs typeface="Kanit Medium" pitchFamily="34" charset="-120"/>
              </a:rPr>
              <a:t>→</a:t>
            </a:r>
            <a:endParaRPr lang="en-US" sz="1600" dirty="0"/>
          </a:p>
        </p:txBody>
      </p:sp>
      <p:sp>
        <p:nvSpPr>
          <p:cNvPr id="16" name="Text 11"/>
          <p:cNvSpPr/>
          <p:nvPr/>
        </p:nvSpPr>
        <p:spPr>
          <a:xfrm>
            <a:off x="571500" y="3546146"/>
            <a:ext cx="214313" cy="319683"/>
          </a:xfrm>
          <a:prstGeom prst="rect">
            <a:avLst/>
          </a:prstGeom>
          <a:noFill/>
          <a:ln/>
        </p:spPr>
        <p:txBody>
          <a:bodyPr wrap="none" lIns="0" tIns="0" rIns="0" bIns="0" rtlCol="0" anchor="t">
            <a:spAutoFit/>
          </a:bodyPr>
          <a:lstStyle/>
          <a:p>
            <a:pPr algn="l" indent="0" marL="0">
              <a:buNone/>
            </a:pPr>
            <a:r>
              <a:rPr lang="en-US" sz="1600" dirty="0">
                <a:solidFill>
                  <a:srgbClr val="FF5800"/>
                </a:solidFill>
                <a:latin typeface="Kanit Medium" pitchFamily="34" charset="0"/>
                <a:ea typeface="Kanit Medium" pitchFamily="34" charset="-122"/>
                <a:cs typeface="Kanit Medium" pitchFamily="34" charset="-120"/>
              </a:rPr>
              <a:t>→</a:t>
            </a:r>
            <a:endParaRPr lang="en-US" sz="1600" dirty="0"/>
          </a:p>
        </p:txBody>
      </p:sp>
      <p:sp>
        <p:nvSpPr>
          <p:cNvPr id="17" name="Text 12"/>
          <p:cNvSpPr/>
          <p:nvPr/>
        </p:nvSpPr>
        <p:spPr>
          <a:xfrm>
            <a:off x="4572000" y="1374446"/>
            <a:ext cx="4000500" cy="235744"/>
          </a:xfrm>
          <a:prstGeom prst="rect">
            <a:avLst/>
          </a:prstGeom>
          <a:noFill/>
          <a:ln/>
        </p:spPr>
        <p:txBody>
          <a:bodyPr wrap="square" lIns="0" tIns="0" rIns="0" bIns="0" rtlCol="0" anchor="t">
            <a:spAutoFit/>
          </a:bodyPr>
          <a:lstStyle/>
          <a:p>
            <a:pPr algn="l" indent="0" marL="0">
              <a:buNone/>
            </a:pPr>
            <a:r>
              <a:rPr lang="en-US" sz="1100" b="1" spc="1" kern="0" dirty="0">
                <a:solidFill>
                  <a:srgbClr val="737373"/>
                </a:solidFill>
                <a:latin typeface="Kanit Bold" pitchFamily="34" charset="0"/>
                <a:ea typeface="Kanit Bold" pitchFamily="34" charset="-122"/>
                <a:cs typeface="Kanit Bold" pitchFamily="34" charset="-120"/>
              </a:rPr>
              <a:t>THE OPERATIONAL REALITY:</a:t>
            </a:r>
            <a:endParaRPr lang="en-US" sz="1100" dirty="0"/>
          </a:p>
        </p:txBody>
      </p:sp>
      <p:sp>
        <p:nvSpPr>
          <p:cNvPr id="18" name="Text 13"/>
          <p:cNvSpPr/>
          <p:nvPr/>
        </p:nvSpPr>
        <p:spPr>
          <a:xfrm>
            <a:off x="4572000" y="1753065"/>
            <a:ext cx="4000500" cy="257175"/>
          </a:xfrm>
          <a:prstGeom prst="rect">
            <a:avLst/>
          </a:prstGeom>
          <a:noFill/>
          <a:ln/>
        </p:spPr>
        <p:txBody>
          <a:bodyPr wrap="square" lIns="238125" tIns="0" rIns="0" bIns="0" rtlCol="0" anchor="t">
            <a:spAutoFit/>
          </a:bodyPr>
          <a:lstStyle/>
          <a:p>
            <a:pPr algn="l" indent="0" marL="0">
              <a:buNone/>
            </a:pPr>
            <a:r>
              <a:rPr lang="en-US" sz="1250" dirty="0">
                <a:solidFill>
                  <a:srgbClr val="333333"/>
                </a:solidFill>
                <a:latin typeface="Kanit" pitchFamily="34" charset="0"/>
                <a:ea typeface="Kanit" pitchFamily="34" charset="-122"/>
                <a:cs typeface="Kanit" pitchFamily="34" charset="-120"/>
              </a:rPr>
              <a:t>Some teams use enterprise platforms</a:t>
            </a:r>
            <a:endParaRPr lang="en-US" sz="1250" dirty="0"/>
          </a:p>
        </p:txBody>
      </p:sp>
      <p:sp>
        <p:nvSpPr>
          <p:cNvPr id="19" name="Text 14"/>
          <p:cNvSpPr/>
          <p:nvPr/>
        </p:nvSpPr>
        <p:spPr>
          <a:xfrm>
            <a:off x="4572000" y="2110253"/>
            <a:ext cx="4000500" cy="257175"/>
          </a:xfrm>
          <a:prstGeom prst="rect">
            <a:avLst/>
          </a:prstGeom>
          <a:noFill/>
          <a:ln/>
        </p:spPr>
        <p:txBody>
          <a:bodyPr wrap="square" lIns="238125" tIns="0" rIns="0" bIns="0" rtlCol="0" anchor="t">
            <a:spAutoFit/>
          </a:bodyPr>
          <a:lstStyle/>
          <a:p>
            <a:pPr algn="l" indent="0" marL="0">
              <a:buNone/>
            </a:pPr>
            <a:r>
              <a:rPr lang="en-US" sz="1250" dirty="0">
                <a:solidFill>
                  <a:srgbClr val="333333"/>
                </a:solidFill>
                <a:latin typeface="Kanit" pitchFamily="34" charset="0"/>
                <a:ea typeface="Kanit" pitchFamily="34" charset="-122"/>
                <a:cs typeface="Kanit" pitchFamily="34" charset="-120"/>
              </a:rPr>
              <a:t>Some use multiple tools</a:t>
            </a:r>
            <a:endParaRPr lang="en-US" sz="1250" dirty="0"/>
          </a:p>
        </p:txBody>
      </p:sp>
      <p:sp>
        <p:nvSpPr>
          <p:cNvPr id="20" name="Text 15"/>
          <p:cNvSpPr/>
          <p:nvPr/>
        </p:nvSpPr>
        <p:spPr>
          <a:xfrm>
            <a:off x="4572000" y="2467440"/>
            <a:ext cx="4000500" cy="257175"/>
          </a:xfrm>
          <a:prstGeom prst="rect">
            <a:avLst/>
          </a:prstGeom>
          <a:noFill/>
          <a:ln/>
        </p:spPr>
        <p:txBody>
          <a:bodyPr wrap="square" lIns="238125" tIns="0" rIns="0" bIns="0" rtlCol="0" anchor="t">
            <a:spAutoFit/>
          </a:bodyPr>
          <a:lstStyle/>
          <a:p>
            <a:pPr algn="l" indent="0" marL="0">
              <a:buNone/>
            </a:pPr>
            <a:r>
              <a:rPr lang="en-US" sz="1250" dirty="0">
                <a:solidFill>
                  <a:srgbClr val="333333"/>
                </a:solidFill>
                <a:latin typeface="Kanit" pitchFamily="34" charset="0"/>
                <a:ea typeface="Kanit" pitchFamily="34" charset="-122"/>
                <a:cs typeface="Kanit" pitchFamily="34" charset="-120"/>
              </a:rPr>
              <a:t>Some supplement manually</a:t>
            </a:r>
            <a:endParaRPr lang="en-US" sz="1250" dirty="0"/>
          </a:p>
        </p:txBody>
      </p:sp>
      <p:sp>
        <p:nvSpPr>
          <p:cNvPr id="21" name="Text 16"/>
          <p:cNvSpPr/>
          <p:nvPr/>
        </p:nvSpPr>
        <p:spPr>
          <a:xfrm>
            <a:off x="4572000" y="2824628"/>
            <a:ext cx="4000500" cy="257175"/>
          </a:xfrm>
          <a:prstGeom prst="rect">
            <a:avLst/>
          </a:prstGeom>
          <a:noFill/>
          <a:ln/>
        </p:spPr>
        <p:txBody>
          <a:bodyPr wrap="square" lIns="238125" tIns="0" rIns="0" bIns="0" rtlCol="0" anchor="t">
            <a:spAutoFit/>
          </a:bodyPr>
          <a:lstStyle/>
          <a:p>
            <a:pPr algn="l" indent="0" marL="0">
              <a:buNone/>
            </a:pPr>
            <a:r>
              <a:rPr lang="en-US" sz="1250" dirty="0">
                <a:solidFill>
                  <a:srgbClr val="333333"/>
                </a:solidFill>
                <a:latin typeface="Kanit" pitchFamily="34" charset="0"/>
                <a:ea typeface="Kanit" pitchFamily="34" charset="-122"/>
                <a:cs typeface="Kanit" pitchFamily="34" charset="-120"/>
              </a:rPr>
              <a:t>Some use spreadsheets only</a:t>
            </a:r>
            <a:endParaRPr lang="en-US" sz="1250" dirty="0"/>
          </a:p>
        </p:txBody>
      </p:sp>
      <p:sp>
        <p:nvSpPr>
          <p:cNvPr id="22" name="Text 17"/>
          <p:cNvSpPr/>
          <p:nvPr/>
        </p:nvSpPr>
        <p:spPr>
          <a:xfrm>
            <a:off x="4572000" y="3181815"/>
            <a:ext cx="4000500" cy="257175"/>
          </a:xfrm>
          <a:prstGeom prst="rect">
            <a:avLst/>
          </a:prstGeom>
          <a:noFill/>
          <a:ln/>
        </p:spPr>
        <p:txBody>
          <a:bodyPr wrap="square" lIns="238125" tIns="0" rIns="0" bIns="0" rtlCol="0" anchor="t">
            <a:spAutoFit/>
          </a:bodyPr>
          <a:lstStyle/>
          <a:p>
            <a:pPr algn="l" indent="0" marL="0">
              <a:buNone/>
            </a:pPr>
            <a:r>
              <a:rPr lang="en-US" sz="1250" dirty="0">
                <a:solidFill>
                  <a:srgbClr val="333333"/>
                </a:solidFill>
                <a:latin typeface="Kanit" pitchFamily="34" charset="0"/>
                <a:ea typeface="Kanit" pitchFamily="34" charset="-122"/>
                <a:cs typeface="Kanit" pitchFamily="34" charset="-120"/>
              </a:rPr>
              <a:t>Some use no monitoring platform at all</a:t>
            </a:r>
            <a:endParaRPr lang="en-US" sz="1250" dirty="0"/>
          </a:p>
        </p:txBody>
      </p:sp>
      <p:sp>
        <p:nvSpPr>
          <p:cNvPr id="23" name="Text 18"/>
          <p:cNvSpPr/>
          <p:nvPr/>
        </p:nvSpPr>
        <p:spPr>
          <a:xfrm>
            <a:off x="4572000" y="3724740"/>
            <a:ext cx="4000500" cy="840088"/>
          </a:xfrm>
          <a:prstGeom prst="rect">
            <a:avLst/>
          </a:prstGeom>
          <a:noFill/>
          <a:ln/>
        </p:spPr>
        <p:txBody>
          <a:bodyPr wrap="square" lIns="170053" tIns="0" rIns="0" bIns="0" rtlCol="0" anchor="t">
            <a:spAutoFit/>
          </a:bodyPr>
          <a:lstStyle/>
          <a:p>
            <a:pPr algn="l" indent="0" marL="0">
              <a:lnSpc>
                <a:spcPct val="112000"/>
              </a:lnSpc>
              <a:buNone/>
            </a:pPr>
            <a:r>
              <a:rPr lang="en-US" sz="1400" b="1" dirty="0">
                <a:solidFill>
                  <a:srgbClr val="FF5800"/>
                </a:solidFill>
                <a:latin typeface="Kanit Bold" pitchFamily="34" charset="0"/>
                <a:ea typeface="Kanit Bold" pitchFamily="34" charset="-122"/>
                <a:cs typeface="Kanit Bold" pitchFamily="34" charset="-120"/>
              </a:rPr>
              <a:t>Monitoring tools solve </a:t>
            </a:r>
            <a:r>
              <a:rPr lang="en-US" sz="1400" b="1" dirty="0">
                <a:solidFill>
                  <a:srgbClr val="FF5800"/>
                </a:solidFill>
                <a:latin typeface="Kanit Bold" pitchFamily="34" charset="0"/>
                <a:ea typeface="Kanit Bold" pitchFamily="34" charset="-122"/>
                <a:cs typeface="Kanit Bold" pitchFamily="34" charset="-120"/>
              </a:rPr>
              <a:t>visibility</a:t>
            </a:r>
            <a:r>
              <a:rPr lang="en-US" sz="1400" b="1" dirty="0">
                <a:solidFill>
                  <a:srgbClr val="FF5800"/>
                </a:solidFill>
                <a:latin typeface="Kanit Bold" pitchFamily="34" charset="0"/>
                <a:ea typeface="Kanit Bold" pitchFamily="34" charset="-122"/>
                <a:cs typeface="Kanit Bold" pitchFamily="34" charset="-120"/>
              </a:rPr>
              <a:t>.</a:t>
            </a:r>
            <a:r>
              <a:rPr lang="en-US" sz="1400" b="1" dirty="0">
                <a:solidFill>
                  <a:srgbClr val="000000"/>
                </a:solidFill>
                <a:latin typeface="Kanit Bold" pitchFamily="34" charset="0"/>
                <a:ea typeface="Kanit Bold" pitchFamily="34" charset="-122"/>
                <a:cs typeface="Kanit Bold" pitchFamily="34" charset="-120"/>
              </a:rPr>
              <a:t>
</a:t>
            </a:r>
            <a:r>
              <a:rPr lang="en-US" sz="1400" b="1" dirty="0">
                <a:solidFill>
                  <a:srgbClr val="FF5800"/>
                </a:solidFill>
                <a:latin typeface="Kanit Bold" pitchFamily="34" charset="0"/>
                <a:ea typeface="Kanit Bold" pitchFamily="34" charset="-122"/>
                <a:cs typeface="Kanit Bold" pitchFamily="34" charset="-120"/>
              </a:rPr>
              <a:t>They do not automatically solve </a:t>
            </a:r>
            <a:r>
              <a:rPr lang="en-US" sz="1400" b="1" dirty="0">
                <a:solidFill>
                  <a:srgbClr val="FF5800"/>
                </a:solidFill>
                <a:latin typeface="Kanit Bold" pitchFamily="34" charset="0"/>
                <a:ea typeface="Kanit Bold" pitchFamily="34" charset="-122"/>
                <a:cs typeface="Kanit Bold" pitchFamily="34" charset="-120"/>
              </a:rPr>
              <a:t>structure</a:t>
            </a:r>
            <a:r>
              <a:rPr lang="en-US" sz="1400" b="1" dirty="0">
                <a:solidFill>
                  <a:srgbClr val="FF5800"/>
                </a:solidFill>
                <a:latin typeface="Kanit Bold" pitchFamily="34" charset="0"/>
                <a:ea typeface="Kanit Bold" pitchFamily="34" charset="-122"/>
                <a:cs typeface="Kanit Bold" pitchFamily="34" charset="-120"/>
              </a:rPr>
              <a:t>.</a:t>
            </a:r>
            <a:endParaRPr lang="en-US" sz="1400" dirty="0"/>
          </a:p>
        </p:txBody>
      </p:sp>
      <p:sp>
        <p:nvSpPr>
          <p:cNvPr id="24" name="Text 19"/>
          <p:cNvSpPr/>
          <p:nvPr/>
        </p:nvSpPr>
        <p:spPr>
          <a:xfrm>
            <a:off x="4572000" y="1738778"/>
            <a:ext cx="66080" cy="298252"/>
          </a:xfrm>
          <a:prstGeom prst="rect">
            <a:avLst/>
          </a:prstGeom>
          <a:noFill/>
          <a:ln/>
        </p:spPr>
        <p:txBody>
          <a:bodyPr wrap="none" lIns="0" tIns="0" rIns="0" bIns="0" rtlCol="0" anchor="t">
            <a:spAutoFit/>
          </a:bodyPr>
          <a:lstStyle/>
          <a:p>
            <a:pPr algn="l" indent="0" marL="0">
              <a:buNone/>
            </a:pPr>
            <a:r>
              <a:rPr lang="en-US" sz="1500" dirty="0">
                <a:solidFill>
                  <a:srgbClr val="FF5800"/>
                </a:solidFill>
                <a:latin typeface="Kanit" pitchFamily="34" charset="0"/>
                <a:ea typeface="Kanit" pitchFamily="34" charset="-122"/>
                <a:cs typeface="Kanit" pitchFamily="34" charset="-120"/>
              </a:rPr>
              <a:t>•</a:t>
            </a:r>
            <a:endParaRPr lang="en-US" sz="1500" dirty="0"/>
          </a:p>
        </p:txBody>
      </p:sp>
      <p:sp>
        <p:nvSpPr>
          <p:cNvPr id="25" name="Text 20"/>
          <p:cNvSpPr/>
          <p:nvPr/>
        </p:nvSpPr>
        <p:spPr>
          <a:xfrm>
            <a:off x="4572000" y="2095965"/>
            <a:ext cx="66080" cy="298252"/>
          </a:xfrm>
          <a:prstGeom prst="rect">
            <a:avLst/>
          </a:prstGeom>
          <a:noFill/>
          <a:ln/>
        </p:spPr>
        <p:txBody>
          <a:bodyPr wrap="none" lIns="0" tIns="0" rIns="0" bIns="0" rtlCol="0" anchor="t">
            <a:spAutoFit/>
          </a:bodyPr>
          <a:lstStyle/>
          <a:p>
            <a:pPr algn="l" indent="0" marL="0">
              <a:buNone/>
            </a:pPr>
            <a:r>
              <a:rPr lang="en-US" sz="1500" dirty="0">
                <a:solidFill>
                  <a:srgbClr val="FF5800"/>
                </a:solidFill>
                <a:latin typeface="Kanit" pitchFamily="34" charset="0"/>
                <a:ea typeface="Kanit" pitchFamily="34" charset="-122"/>
                <a:cs typeface="Kanit" pitchFamily="34" charset="-120"/>
              </a:rPr>
              <a:t>•</a:t>
            </a:r>
            <a:endParaRPr lang="en-US" sz="1500" dirty="0"/>
          </a:p>
        </p:txBody>
      </p:sp>
      <p:sp>
        <p:nvSpPr>
          <p:cNvPr id="26" name="Text 21"/>
          <p:cNvSpPr/>
          <p:nvPr/>
        </p:nvSpPr>
        <p:spPr>
          <a:xfrm>
            <a:off x="4572000" y="2453153"/>
            <a:ext cx="66080" cy="298252"/>
          </a:xfrm>
          <a:prstGeom prst="rect">
            <a:avLst/>
          </a:prstGeom>
          <a:noFill/>
          <a:ln/>
        </p:spPr>
        <p:txBody>
          <a:bodyPr wrap="none" lIns="0" tIns="0" rIns="0" bIns="0" rtlCol="0" anchor="t">
            <a:spAutoFit/>
          </a:bodyPr>
          <a:lstStyle/>
          <a:p>
            <a:pPr algn="l" indent="0" marL="0">
              <a:buNone/>
            </a:pPr>
            <a:r>
              <a:rPr lang="en-US" sz="1500" dirty="0">
                <a:solidFill>
                  <a:srgbClr val="FF5800"/>
                </a:solidFill>
                <a:latin typeface="Kanit" pitchFamily="34" charset="0"/>
                <a:ea typeface="Kanit" pitchFamily="34" charset="-122"/>
                <a:cs typeface="Kanit" pitchFamily="34" charset="-120"/>
              </a:rPr>
              <a:t>•</a:t>
            </a:r>
            <a:endParaRPr lang="en-US" sz="1500" dirty="0"/>
          </a:p>
        </p:txBody>
      </p:sp>
      <p:sp>
        <p:nvSpPr>
          <p:cNvPr id="27" name="Text 22"/>
          <p:cNvSpPr/>
          <p:nvPr/>
        </p:nvSpPr>
        <p:spPr>
          <a:xfrm>
            <a:off x="4572000" y="2810340"/>
            <a:ext cx="66080" cy="298252"/>
          </a:xfrm>
          <a:prstGeom prst="rect">
            <a:avLst/>
          </a:prstGeom>
          <a:noFill/>
          <a:ln/>
        </p:spPr>
        <p:txBody>
          <a:bodyPr wrap="none" lIns="0" tIns="0" rIns="0" bIns="0" rtlCol="0" anchor="t">
            <a:spAutoFit/>
          </a:bodyPr>
          <a:lstStyle/>
          <a:p>
            <a:pPr algn="l" indent="0" marL="0">
              <a:buNone/>
            </a:pPr>
            <a:r>
              <a:rPr lang="en-US" sz="1500" dirty="0">
                <a:solidFill>
                  <a:srgbClr val="FF5800"/>
                </a:solidFill>
                <a:latin typeface="Kanit" pitchFamily="34" charset="0"/>
                <a:ea typeface="Kanit" pitchFamily="34" charset="-122"/>
                <a:cs typeface="Kanit" pitchFamily="34" charset="-120"/>
              </a:rPr>
              <a:t>•</a:t>
            </a:r>
            <a:endParaRPr lang="en-US" sz="1500" dirty="0"/>
          </a:p>
        </p:txBody>
      </p:sp>
      <p:sp>
        <p:nvSpPr>
          <p:cNvPr id="28" name="Text 23"/>
          <p:cNvSpPr/>
          <p:nvPr/>
        </p:nvSpPr>
        <p:spPr>
          <a:xfrm>
            <a:off x="4572000" y="3167528"/>
            <a:ext cx="66080" cy="298252"/>
          </a:xfrm>
          <a:prstGeom prst="rect">
            <a:avLst/>
          </a:prstGeom>
          <a:noFill/>
          <a:ln/>
        </p:spPr>
        <p:txBody>
          <a:bodyPr wrap="none" lIns="0" tIns="0" rIns="0" bIns="0" rtlCol="0" anchor="t">
            <a:spAutoFit/>
          </a:bodyPr>
          <a:lstStyle/>
          <a:p>
            <a:pPr algn="l" indent="0" marL="0">
              <a:buNone/>
            </a:pPr>
            <a:r>
              <a:rPr lang="en-US" sz="1500" dirty="0">
                <a:solidFill>
                  <a:srgbClr val="FF5800"/>
                </a:solidFill>
                <a:latin typeface="Kanit" pitchFamily="34" charset="0"/>
                <a:ea typeface="Kanit" pitchFamily="34" charset="-122"/>
                <a:cs typeface="Kanit" pitchFamily="34" charset="-120"/>
              </a:rPr>
              <a:t>•</a:t>
            </a:r>
            <a:endParaRPr lang="en-US" sz="1500" dirty="0"/>
          </a:p>
        </p:txBody>
      </p:sp>
      <p:pic>
        <p:nvPicPr>
          <p:cNvPr id="29"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914400" y="798628"/>
            <a:ext cx="7315200" cy="1193006"/>
          </a:xfrm>
          <a:prstGeom prst="rect">
            <a:avLst/>
          </a:prstGeom>
          <a:noFill/>
          <a:ln/>
        </p:spPr>
        <p:txBody>
          <a:bodyPr wrap="square" lIns="0" tIns="0" rIns="0" bIns="0" rtlCol="0" anchor="t">
            <a:spAutoFit/>
          </a:bodyPr>
          <a:lstStyle/>
          <a:p>
            <a:pPr algn="ctr" indent="0" marL="0">
              <a:buNone/>
            </a:pPr>
            <a:r>
              <a:rPr lang="en-US" sz="3050" dirty="0">
                <a:solidFill>
                  <a:srgbClr val="333333"/>
                </a:solidFill>
                <a:latin typeface="Kanit Medium" pitchFamily="34" charset="0"/>
                <a:ea typeface="Kanit Medium" pitchFamily="34" charset="-122"/>
                <a:cs typeface="Kanit Medium" pitchFamily="34" charset="-120"/>
              </a:rPr>
              <a:t>PR doesn't have a measurement problem.</a:t>
            </a:r>
            <a:endParaRPr lang="en-US" sz="3050" dirty="0"/>
          </a:p>
        </p:txBody>
      </p:sp>
      <p:sp>
        <p:nvSpPr>
          <p:cNvPr id="6" name="Text 1"/>
          <p:cNvSpPr/>
          <p:nvPr/>
        </p:nvSpPr>
        <p:spPr>
          <a:xfrm>
            <a:off x="914400" y="2134509"/>
            <a:ext cx="7315200" cy="1257300"/>
          </a:xfrm>
          <a:prstGeom prst="rect">
            <a:avLst/>
          </a:prstGeom>
          <a:noFill/>
          <a:ln/>
        </p:spPr>
        <p:txBody>
          <a:bodyPr wrap="square" lIns="0" tIns="0" rIns="0" bIns="0" rtlCol="0" anchor="t">
            <a:spAutoFit/>
          </a:bodyPr>
          <a:lstStyle/>
          <a:p>
            <a:pPr algn="ctr" indent="0" marL="0">
              <a:lnSpc>
                <a:spcPct val="88000"/>
              </a:lnSpc>
              <a:buNone/>
            </a:pPr>
            <a:r>
              <a:rPr lang="en-US" sz="4150" b="1" dirty="0">
                <a:solidFill>
                  <a:srgbClr val="04787F"/>
                </a:solidFill>
                <a:latin typeface="Kanit Bold" pitchFamily="34" charset="0"/>
                <a:ea typeface="Kanit Bold" pitchFamily="34" charset="-122"/>
                <a:cs typeface="Kanit Bold" pitchFamily="34" charset="-120"/>
              </a:rPr>
              <a:t>IT HAS A </a:t>
            </a:r>
            <a:r>
              <a:rPr lang="en-US" sz="4150" b="1" dirty="0">
                <a:solidFill>
                  <a:srgbClr val="FF5800"/>
                </a:solidFill>
                <a:latin typeface="Kanit Bold" pitchFamily="34" charset="0"/>
                <a:ea typeface="Kanit Bold" pitchFamily="34" charset="-122"/>
                <a:cs typeface="Kanit Bold" pitchFamily="34" charset="-120"/>
              </a:rPr>
              <a:t>DATA STRUCTURE</a:t>
            </a:r>
            <a:r>
              <a:rPr lang="en-US" sz="4150" b="1" dirty="0">
                <a:solidFill>
                  <a:srgbClr val="04787F"/>
                </a:solidFill>
                <a:latin typeface="Kanit Bold" pitchFamily="34" charset="0"/>
                <a:ea typeface="Kanit Bold" pitchFamily="34" charset="-122"/>
                <a:cs typeface="Kanit Bold" pitchFamily="34" charset="-120"/>
              </a:rPr>
              <a:t> PROBLEM.</a:t>
            </a:r>
            <a:endParaRPr lang="en-US" sz="4150" dirty="0"/>
          </a:p>
        </p:txBody>
      </p:sp>
      <p:pic>
        <p:nvPicPr>
          <p:cNvPr id="7"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445759"/>
          </a:xfrm>
          <a:prstGeom prst="rect">
            <a:avLst/>
          </a:prstGeom>
          <a:noFill/>
          <a:ln/>
        </p:spPr>
        <p:txBody>
          <a:bodyPr wrap="none" lIns="0" tIns="0" rIns="0" bIns="0" rtlCol="0" anchor="t">
            <a:spAutoFit/>
          </a:bodyPr>
          <a:lstStyle/>
          <a:p>
            <a:pPr algn="l" indent="0" marL="0">
              <a:lnSpc>
                <a:spcPct val="96000"/>
              </a:lnSpc>
              <a:buNone/>
            </a:pPr>
            <a:r>
              <a:rPr lang="en-US" sz="2650" b="1" dirty="0">
                <a:solidFill>
                  <a:srgbClr val="FFFFFF"/>
                </a:solidFill>
                <a:latin typeface="Kanit Bold" pitchFamily="34" charset="0"/>
                <a:ea typeface="Kanit Bold" pitchFamily="34" charset="-122"/>
                <a:cs typeface="Kanit Bold" pitchFamily="34" charset="-120"/>
              </a:rPr>
              <a:t>AI IS EXPOSING THE WEAKNESS</a:t>
            </a:r>
            <a:endParaRPr lang="en-US" sz="2650" dirty="0"/>
          </a:p>
        </p:txBody>
      </p:sp>
      <p:sp>
        <p:nvSpPr>
          <p:cNvPr id="6" name="Text 1"/>
          <p:cNvSpPr/>
          <p:nvPr/>
        </p:nvSpPr>
        <p:spPr>
          <a:xfrm>
            <a:off x="571500" y="1374446"/>
            <a:ext cx="3600450" cy="235744"/>
          </a:xfrm>
          <a:prstGeom prst="rect">
            <a:avLst/>
          </a:prstGeom>
          <a:noFill/>
          <a:ln/>
        </p:spPr>
        <p:txBody>
          <a:bodyPr wrap="square" lIns="0" tIns="0" rIns="0" bIns="0" rtlCol="0" anchor="t">
            <a:spAutoFit/>
          </a:bodyPr>
          <a:lstStyle/>
          <a:p>
            <a:pPr algn="l" indent="0" marL="0">
              <a:buNone/>
            </a:pPr>
            <a:r>
              <a:rPr lang="en-US" sz="1100" b="1" spc="1" kern="0" dirty="0">
                <a:solidFill>
                  <a:srgbClr val="F5EDD8"/>
                </a:solidFill>
                <a:latin typeface="Kanit Bold" pitchFamily="34" charset="0"/>
                <a:ea typeface="Kanit Bold" pitchFamily="34" charset="-122"/>
                <a:cs typeface="Kanit Bold" pitchFamily="34" charset="-120"/>
              </a:rPr>
              <a:t>AI NEEDS:</a:t>
            </a:r>
            <a:endParaRPr lang="en-US" sz="1100" dirty="0"/>
          </a:p>
        </p:txBody>
      </p:sp>
      <p:sp>
        <p:nvSpPr>
          <p:cNvPr id="7" name="Text 2"/>
          <p:cNvSpPr/>
          <p:nvPr/>
        </p:nvSpPr>
        <p:spPr>
          <a:xfrm>
            <a:off x="571500" y="1753065"/>
            <a:ext cx="3600450" cy="364331"/>
          </a:xfrm>
          <a:prstGeom prst="rect">
            <a:avLst/>
          </a:prstGeom>
          <a:noFill/>
          <a:ln/>
        </p:spPr>
        <p:txBody>
          <a:bodyPr wrap="square" lIns="255143" tIns="0" rIns="0" bIns="0" rtlCol="0" anchor="t">
            <a:spAutoFit/>
          </a:bodyPr>
          <a:lstStyle/>
          <a:p>
            <a:pPr algn="l" indent="0" marL="0">
              <a:buNone/>
            </a:pPr>
            <a:r>
              <a:rPr lang="en-US" sz="1800" dirty="0">
                <a:solidFill>
                  <a:srgbClr val="FFFFFF"/>
                </a:solidFill>
                <a:latin typeface="Kanit Medium" pitchFamily="34" charset="0"/>
                <a:ea typeface="Kanit Medium" pitchFamily="34" charset="-122"/>
                <a:cs typeface="Kanit Medium" pitchFamily="34" charset="-120"/>
              </a:rPr>
              <a:t>Consistency</a:t>
            </a:r>
            <a:endParaRPr lang="en-US" sz="1800" dirty="0"/>
          </a:p>
        </p:txBody>
      </p:sp>
      <p:sp>
        <p:nvSpPr>
          <p:cNvPr id="8" name="Text 3"/>
          <p:cNvSpPr/>
          <p:nvPr/>
        </p:nvSpPr>
        <p:spPr>
          <a:xfrm>
            <a:off x="571500" y="2274559"/>
            <a:ext cx="3600450" cy="364331"/>
          </a:xfrm>
          <a:prstGeom prst="rect">
            <a:avLst/>
          </a:prstGeom>
          <a:noFill/>
          <a:ln/>
        </p:spPr>
        <p:txBody>
          <a:bodyPr wrap="square" lIns="255143" tIns="0" rIns="0" bIns="0" rtlCol="0" anchor="t">
            <a:spAutoFit/>
          </a:bodyPr>
          <a:lstStyle/>
          <a:p>
            <a:pPr algn="l" indent="0" marL="0">
              <a:buNone/>
            </a:pPr>
            <a:r>
              <a:rPr lang="en-US" sz="1800" dirty="0">
                <a:solidFill>
                  <a:srgbClr val="FFFFFF"/>
                </a:solidFill>
                <a:latin typeface="Kanit Medium" pitchFamily="34" charset="0"/>
                <a:ea typeface="Kanit Medium" pitchFamily="34" charset="-122"/>
                <a:cs typeface="Kanit Medium" pitchFamily="34" charset="-120"/>
              </a:rPr>
              <a:t>Structure</a:t>
            </a:r>
            <a:endParaRPr lang="en-US" sz="1800" dirty="0"/>
          </a:p>
        </p:txBody>
      </p:sp>
      <p:sp>
        <p:nvSpPr>
          <p:cNvPr id="9" name="Text 4"/>
          <p:cNvSpPr/>
          <p:nvPr/>
        </p:nvSpPr>
        <p:spPr>
          <a:xfrm>
            <a:off x="571500" y="2796053"/>
            <a:ext cx="3600450" cy="364331"/>
          </a:xfrm>
          <a:prstGeom prst="rect">
            <a:avLst/>
          </a:prstGeom>
          <a:noFill/>
          <a:ln/>
        </p:spPr>
        <p:txBody>
          <a:bodyPr wrap="square" lIns="255143" tIns="0" rIns="0" bIns="0" rtlCol="0" anchor="t">
            <a:spAutoFit/>
          </a:bodyPr>
          <a:lstStyle/>
          <a:p>
            <a:pPr algn="l" indent="0" marL="0">
              <a:buNone/>
            </a:pPr>
            <a:r>
              <a:rPr lang="en-US" sz="1800" dirty="0">
                <a:solidFill>
                  <a:srgbClr val="FFFFFF"/>
                </a:solidFill>
                <a:latin typeface="Kanit Medium" pitchFamily="34" charset="0"/>
                <a:ea typeface="Kanit Medium" pitchFamily="34" charset="-122"/>
                <a:cs typeface="Kanit Medium" pitchFamily="34" charset="-120"/>
              </a:rPr>
              <a:t>Repeatability</a:t>
            </a:r>
            <a:endParaRPr lang="en-US" sz="1800" dirty="0"/>
          </a:p>
        </p:txBody>
      </p:sp>
      <p:sp>
        <p:nvSpPr>
          <p:cNvPr id="10" name="Text 5"/>
          <p:cNvSpPr/>
          <p:nvPr/>
        </p:nvSpPr>
        <p:spPr>
          <a:xfrm>
            <a:off x="571500" y="3317546"/>
            <a:ext cx="3600450" cy="364331"/>
          </a:xfrm>
          <a:prstGeom prst="rect">
            <a:avLst/>
          </a:prstGeom>
          <a:noFill/>
          <a:ln/>
        </p:spPr>
        <p:txBody>
          <a:bodyPr wrap="square" lIns="255143" tIns="0" rIns="0" bIns="0" rtlCol="0" anchor="t">
            <a:spAutoFit/>
          </a:bodyPr>
          <a:lstStyle/>
          <a:p>
            <a:pPr algn="l" indent="0" marL="0">
              <a:buNone/>
            </a:pPr>
            <a:r>
              <a:rPr lang="en-US" sz="1800" dirty="0">
                <a:solidFill>
                  <a:srgbClr val="FFFFFF"/>
                </a:solidFill>
                <a:latin typeface="Kanit Medium" pitchFamily="34" charset="0"/>
                <a:ea typeface="Kanit Medium" pitchFamily="34" charset="-122"/>
                <a:cs typeface="Kanit Medium" pitchFamily="34" charset="-120"/>
              </a:rPr>
              <a:t>Comparable inputs</a:t>
            </a:r>
            <a:endParaRPr lang="en-US" sz="1800" dirty="0"/>
          </a:p>
        </p:txBody>
      </p:sp>
      <p:sp>
        <p:nvSpPr>
          <p:cNvPr id="11" name="Text 6"/>
          <p:cNvSpPr/>
          <p:nvPr/>
        </p:nvSpPr>
        <p:spPr>
          <a:xfrm>
            <a:off x="571500" y="1753065"/>
            <a:ext cx="242888" cy="364331"/>
          </a:xfrm>
          <a:prstGeom prst="rect">
            <a:avLst/>
          </a:prstGeom>
          <a:noFill/>
          <a:ln/>
        </p:spPr>
        <p:txBody>
          <a:bodyPr wrap="none" lIns="0" tIns="0" rIns="0" bIns="0" rtlCol="0" anchor="t">
            <a:spAutoFit/>
          </a:bodyPr>
          <a:lstStyle/>
          <a:p>
            <a:pPr algn="l" indent="0" marL="0">
              <a:buNone/>
            </a:pPr>
            <a:r>
              <a:rPr lang="en-US" sz="1800" dirty="0">
                <a:solidFill>
                  <a:srgbClr val="FF5800"/>
                </a:solidFill>
                <a:latin typeface="Kanit Medium" pitchFamily="34" charset="0"/>
                <a:ea typeface="Kanit Medium" pitchFamily="34" charset="-122"/>
                <a:cs typeface="Kanit Medium" pitchFamily="34" charset="-120"/>
              </a:rPr>
              <a:t>→</a:t>
            </a:r>
            <a:endParaRPr lang="en-US" sz="1800" dirty="0"/>
          </a:p>
        </p:txBody>
      </p:sp>
      <p:sp>
        <p:nvSpPr>
          <p:cNvPr id="12" name="Text 7"/>
          <p:cNvSpPr/>
          <p:nvPr/>
        </p:nvSpPr>
        <p:spPr>
          <a:xfrm>
            <a:off x="571500" y="2274559"/>
            <a:ext cx="242888" cy="364331"/>
          </a:xfrm>
          <a:prstGeom prst="rect">
            <a:avLst/>
          </a:prstGeom>
          <a:noFill/>
          <a:ln/>
        </p:spPr>
        <p:txBody>
          <a:bodyPr wrap="none" lIns="0" tIns="0" rIns="0" bIns="0" rtlCol="0" anchor="t">
            <a:spAutoFit/>
          </a:bodyPr>
          <a:lstStyle/>
          <a:p>
            <a:pPr algn="l" indent="0" marL="0">
              <a:buNone/>
            </a:pPr>
            <a:r>
              <a:rPr lang="en-US" sz="1800" dirty="0">
                <a:solidFill>
                  <a:srgbClr val="FF5800"/>
                </a:solidFill>
                <a:latin typeface="Kanit Medium" pitchFamily="34" charset="0"/>
                <a:ea typeface="Kanit Medium" pitchFamily="34" charset="-122"/>
                <a:cs typeface="Kanit Medium" pitchFamily="34" charset="-120"/>
              </a:rPr>
              <a:t>→</a:t>
            </a:r>
            <a:endParaRPr lang="en-US" sz="1800" dirty="0"/>
          </a:p>
        </p:txBody>
      </p:sp>
      <p:sp>
        <p:nvSpPr>
          <p:cNvPr id="13" name="Text 8"/>
          <p:cNvSpPr/>
          <p:nvPr/>
        </p:nvSpPr>
        <p:spPr>
          <a:xfrm>
            <a:off x="571500" y="2796053"/>
            <a:ext cx="242888" cy="364331"/>
          </a:xfrm>
          <a:prstGeom prst="rect">
            <a:avLst/>
          </a:prstGeom>
          <a:noFill/>
          <a:ln/>
        </p:spPr>
        <p:txBody>
          <a:bodyPr wrap="none" lIns="0" tIns="0" rIns="0" bIns="0" rtlCol="0" anchor="t">
            <a:spAutoFit/>
          </a:bodyPr>
          <a:lstStyle/>
          <a:p>
            <a:pPr algn="l" indent="0" marL="0">
              <a:buNone/>
            </a:pPr>
            <a:r>
              <a:rPr lang="en-US" sz="1800" dirty="0">
                <a:solidFill>
                  <a:srgbClr val="FF5800"/>
                </a:solidFill>
                <a:latin typeface="Kanit Medium" pitchFamily="34" charset="0"/>
                <a:ea typeface="Kanit Medium" pitchFamily="34" charset="-122"/>
                <a:cs typeface="Kanit Medium" pitchFamily="34" charset="-120"/>
              </a:rPr>
              <a:t>→</a:t>
            </a:r>
            <a:endParaRPr lang="en-US" sz="1800" dirty="0"/>
          </a:p>
        </p:txBody>
      </p:sp>
      <p:sp>
        <p:nvSpPr>
          <p:cNvPr id="14" name="Text 9"/>
          <p:cNvSpPr/>
          <p:nvPr/>
        </p:nvSpPr>
        <p:spPr>
          <a:xfrm>
            <a:off x="571500" y="3317546"/>
            <a:ext cx="242888" cy="364331"/>
          </a:xfrm>
          <a:prstGeom prst="rect">
            <a:avLst/>
          </a:prstGeom>
          <a:noFill/>
          <a:ln/>
        </p:spPr>
        <p:txBody>
          <a:bodyPr wrap="none" lIns="0" tIns="0" rIns="0" bIns="0" rtlCol="0" anchor="t">
            <a:spAutoFit/>
          </a:bodyPr>
          <a:lstStyle/>
          <a:p>
            <a:pPr algn="l" indent="0" marL="0">
              <a:buNone/>
            </a:pPr>
            <a:r>
              <a:rPr lang="en-US" sz="1800" dirty="0">
                <a:solidFill>
                  <a:srgbClr val="FF5800"/>
                </a:solidFill>
                <a:latin typeface="Kanit Medium" pitchFamily="34" charset="0"/>
                <a:ea typeface="Kanit Medium" pitchFamily="34" charset="-122"/>
                <a:cs typeface="Kanit Medium" pitchFamily="34" charset="-120"/>
              </a:rPr>
              <a:t>→</a:t>
            </a:r>
            <a:endParaRPr lang="en-US" sz="1800" dirty="0"/>
          </a:p>
        </p:txBody>
      </p:sp>
      <p:sp>
        <p:nvSpPr>
          <p:cNvPr id="15" name="Shape 10"/>
          <p:cNvSpPr/>
          <p:nvPr/>
        </p:nvSpPr>
        <p:spPr>
          <a:xfrm>
            <a:off x="4732037" y="1374446"/>
            <a:ext cx="3840463" cy="1625873"/>
          </a:xfrm>
          <a:prstGeom prst="rect">
            <a:avLst/>
          </a:prstGeom>
          <a:solidFill>
            <a:srgbClr val="FFFFFF">
              <a:alpha val="12000"/>
            </a:srgbClr>
          </a:solidFill>
          <a:ln/>
        </p:spPr>
      </p:sp>
      <p:sp>
        <p:nvSpPr>
          <p:cNvPr id="16" name="Text 11"/>
          <p:cNvSpPr/>
          <p:nvPr/>
        </p:nvSpPr>
        <p:spPr>
          <a:xfrm>
            <a:off x="4946349" y="1588759"/>
            <a:ext cx="3411838" cy="685800"/>
          </a:xfrm>
          <a:prstGeom prst="rect">
            <a:avLst/>
          </a:prstGeom>
          <a:noFill/>
          <a:ln/>
        </p:spPr>
        <p:txBody>
          <a:bodyPr wrap="none" lIns="0" tIns="0" rIns="0" bIns="0" rtlCol="0" anchor="t">
            <a:spAutoFit/>
          </a:bodyPr>
          <a:lstStyle/>
          <a:p>
            <a:pPr algn="ctr" indent="0" marL="0">
              <a:lnSpc>
                <a:spcPct val="80000"/>
              </a:lnSpc>
              <a:buNone/>
            </a:pPr>
            <a:r>
              <a:rPr lang="en-US" sz="4950" b="1" dirty="0">
                <a:solidFill>
                  <a:srgbClr val="FF5800"/>
                </a:solidFill>
                <a:latin typeface="Kanit Bold" pitchFamily="34" charset="0"/>
                <a:ea typeface="Kanit Bold" pitchFamily="34" charset="-122"/>
                <a:cs typeface="Kanit Bold" pitchFamily="34" charset="-120"/>
              </a:rPr>
              <a:t>50%</a:t>
            </a:r>
            <a:endParaRPr lang="en-US" sz="4950" dirty="0"/>
          </a:p>
        </p:txBody>
      </p:sp>
      <p:sp>
        <p:nvSpPr>
          <p:cNvPr id="17" name="Text 12"/>
          <p:cNvSpPr/>
          <p:nvPr/>
        </p:nvSpPr>
        <p:spPr>
          <a:xfrm>
            <a:off x="4946349" y="2345996"/>
            <a:ext cx="3411838" cy="440010"/>
          </a:xfrm>
          <a:prstGeom prst="rect">
            <a:avLst/>
          </a:prstGeom>
          <a:noFill/>
          <a:ln/>
        </p:spPr>
        <p:txBody>
          <a:bodyPr wrap="square" lIns="0" tIns="0" rIns="0" bIns="0" rtlCol="0" anchor="t">
            <a:spAutoFit/>
          </a:bodyPr>
          <a:lstStyle/>
          <a:p>
            <a:pPr algn="ctr" indent="0" marL="0">
              <a:lnSpc>
                <a:spcPct val="112000"/>
              </a:lnSpc>
              <a:buNone/>
            </a:pPr>
            <a:r>
              <a:rPr lang="en-US" sz="1150" dirty="0">
                <a:solidFill>
                  <a:srgbClr val="FFFFFF"/>
                </a:solidFill>
                <a:latin typeface="Kanit" pitchFamily="34" charset="0"/>
                <a:ea typeface="Kanit" pitchFamily="34" charset="-122"/>
                <a:cs typeface="Kanit" pitchFamily="34" charset="-120"/>
              </a:rPr>
              <a:t>of PR professionals are not confident their data is reliable enough for AI analysis</a:t>
            </a:r>
            <a:endParaRPr lang="en-US" sz="1150" dirty="0"/>
          </a:p>
        </p:txBody>
      </p:sp>
      <p:sp>
        <p:nvSpPr>
          <p:cNvPr id="18" name="Text 13"/>
          <p:cNvSpPr/>
          <p:nvPr/>
        </p:nvSpPr>
        <p:spPr>
          <a:xfrm>
            <a:off x="4732037" y="3286069"/>
            <a:ext cx="3840463" cy="520043"/>
          </a:xfrm>
          <a:prstGeom prst="rect">
            <a:avLst/>
          </a:prstGeom>
          <a:noFill/>
          <a:ln/>
        </p:spPr>
        <p:txBody>
          <a:bodyPr wrap="square" lIns="170053" tIns="0" rIns="0" bIns="0" rtlCol="0" anchor="t">
            <a:spAutoFit/>
          </a:bodyPr>
          <a:lstStyle/>
          <a:p>
            <a:pPr algn="l" indent="0" marL="0">
              <a:lnSpc>
                <a:spcPct val="112000"/>
              </a:lnSpc>
              <a:buNone/>
            </a:pPr>
            <a:r>
              <a:rPr lang="en-US" sz="1300" b="1" i="1" dirty="0">
                <a:solidFill>
                  <a:srgbClr val="F5EDD8"/>
                </a:solidFill>
                <a:latin typeface="Kanit Medium" pitchFamily="34" charset="0"/>
                <a:ea typeface="Kanit Medium" pitchFamily="34" charset="-122"/>
                <a:cs typeface="Kanit Medium" pitchFamily="34" charset="-120"/>
              </a:rPr>
              <a:t>"The industry risks missing the real AI opportunity before it even begins."</a:t>
            </a:r>
            <a:endParaRPr lang="en-US" sz="1300" dirty="0"/>
          </a:p>
        </p:txBody>
      </p:sp>
      <p:pic>
        <p:nvPicPr>
          <p:cNvPr id="19" name="Image 2" descr="preencoded.png">    </p:cNvPr>
          <p:cNvPicPr>
            <a:picLocks noChangeAspect="1"/>
          </p:cNvPicPr>
          <p:nvPr/>
        </p:nvPicPr>
        <p:blipFill>
          <a:blip r:embed="rId3"/>
          <a:stretch>
            <a:fillRect/>
          </a:stretch>
        </p:blipFill>
        <p:spPr>
          <a:xfrm>
            <a:off x="0" y="4529138"/>
            <a:ext cx="444698" cy="1696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000000"/>
                </a:solidFill>
                <a:latin typeface="Kanit Bold" pitchFamily="34" charset="0"/>
                <a:ea typeface="Kanit Bold" pitchFamily="34" charset="-122"/>
                <a:cs typeface="Kanit Bold" pitchFamily="34" charset="-120"/>
              </a:rPr>
              <a:t>THE INDUSTRY STANDARDISED IN THE WRONG ORDER</a:t>
            </a:r>
            <a:endParaRPr lang="en-US" sz="2450" dirty="0"/>
          </a:p>
        </p:txBody>
      </p:sp>
      <p:sp>
        <p:nvSpPr>
          <p:cNvPr id="6" name="Text 1"/>
          <p:cNvSpPr/>
          <p:nvPr/>
        </p:nvSpPr>
        <p:spPr>
          <a:xfrm>
            <a:off x="571500" y="1823052"/>
            <a:ext cx="3600450" cy="433983"/>
          </a:xfrm>
          <a:prstGeom prst="rect">
            <a:avLst/>
          </a:prstGeom>
          <a:noFill/>
          <a:ln/>
        </p:spPr>
        <p:txBody>
          <a:bodyPr wrap="square" lIns="0" tIns="0" rIns="0" bIns="102108" rtlCol="0" anchor="t">
            <a:spAutoFit/>
          </a:bodyPr>
          <a:lstStyle/>
          <a:p>
            <a:pPr algn="l" indent="0" marL="0">
              <a:buNone/>
            </a:pPr>
            <a:r>
              <a:rPr lang="en-US" sz="1500" b="1" dirty="0">
                <a:solidFill>
                  <a:srgbClr val="000000"/>
                </a:solidFill>
                <a:latin typeface="Kanit Bold" pitchFamily="34" charset="0"/>
                <a:ea typeface="Kanit Bold" pitchFamily="34" charset="-122"/>
                <a:cs typeface="Kanit Bold" pitchFamily="34" charset="-120"/>
              </a:rPr>
              <a:t>We standardised first:</a:t>
            </a:r>
            <a:endParaRPr lang="en-US" sz="1500" dirty="0"/>
          </a:p>
        </p:txBody>
      </p:sp>
      <p:sp>
        <p:nvSpPr>
          <p:cNvPr id="7" name="Text 2"/>
          <p:cNvSpPr/>
          <p:nvPr/>
        </p:nvSpPr>
        <p:spPr>
          <a:xfrm>
            <a:off x="571500" y="2428484"/>
            <a:ext cx="3600450"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KPIs</a:t>
            </a:r>
            <a:endParaRPr lang="en-US" sz="1400" dirty="0"/>
          </a:p>
        </p:txBody>
      </p:sp>
      <p:sp>
        <p:nvSpPr>
          <p:cNvPr id="8" name="Text 3"/>
          <p:cNvSpPr/>
          <p:nvPr/>
        </p:nvSpPr>
        <p:spPr>
          <a:xfrm>
            <a:off x="571500" y="2833892"/>
            <a:ext cx="3600450"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Dashboards</a:t>
            </a:r>
            <a:endParaRPr lang="en-US" sz="1400" dirty="0"/>
          </a:p>
        </p:txBody>
      </p:sp>
      <p:sp>
        <p:nvSpPr>
          <p:cNvPr id="9" name="Text 4"/>
          <p:cNvSpPr/>
          <p:nvPr/>
        </p:nvSpPr>
        <p:spPr>
          <a:xfrm>
            <a:off x="571500" y="3239300"/>
            <a:ext cx="3600450"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Outcomes</a:t>
            </a:r>
            <a:endParaRPr lang="en-US" sz="1400" dirty="0"/>
          </a:p>
        </p:txBody>
      </p:sp>
      <p:sp>
        <p:nvSpPr>
          <p:cNvPr id="10" name="Text 5"/>
          <p:cNvSpPr/>
          <p:nvPr/>
        </p:nvSpPr>
        <p:spPr>
          <a:xfrm>
            <a:off x="571500" y="3644708"/>
            <a:ext cx="3600450"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Reporting frameworks</a:t>
            </a:r>
            <a:endParaRPr lang="en-US" sz="1400" dirty="0"/>
          </a:p>
        </p:txBody>
      </p:sp>
      <p:sp>
        <p:nvSpPr>
          <p:cNvPr id="11" name="Text 6"/>
          <p:cNvSpPr/>
          <p:nvPr/>
        </p:nvSpPr>
        <p:spPr>
          <a:xfrm>
            <a:off x="571500" y="2399909"/>
            <a:ext cx="85725" cy="298252"/>
          </a:xfrm>
          <a:prstGeom prst="rect">
            <a:avLst/>
          </a:prstGeom>
          <a:noFill/>
          <a:ln/>
        </p:spPr>
        <p:txBody>
          <a:bodyPr wrap="none" lIns="0" tIns="0" rIns="0" bIns="0" rtlCol="0" anchor="t">
            <a:spAutoFit/>
          </a:bodyPr>
          <a:lstStyle/>
          <a:p>
            <a:pPr algn="l" indent="0" marL="0">
              <a:buNone/>
            </a:pPr>
            <a:r>
              <a:rPr lang="en-US" sz="1400" b="1" dirty="0">
                <a:solidFill>
                  <a:srgbClr val="FF5800"/>
                </a:solidFill>
                <a:latin typeface="Kanit Bold" pitchFamily="34" charset="0"/>
                <a:ea typeface="Kanit Bold" pitchFamily="34" charset="-122"/>
                <a:cs typeface="Kanit Bold" pitchFamily="34" charset="-120"/>
              </a:rPr>
              <a:t>×</a:t>
            </a:r>
            <a:endParaRPr lang="en-US" sz="1400" dirty="0"/>
          </a:p>
        </p:txBody>
      </p:sp>
      <p:sp>
        <p:nvSpPr>
          <p:cNvPr id="12" name="Text 7"/>
          <p:cNvSpPr/>
          <p:nvPr/>
        </p:nvSpPr>
        <p:spPr>
          <a:xfrm>
            <a:off x="571500" y="2805317"/>
            <a:ext cx="85725" cy="298252"/>
          </a:xfrm>
          <a:prstGeom prst="rect">
            <a:avLst/>
          </a:prstGeom>
          <a:noFill/>
          <a:ln/>
        </p:spPr>
        <p:txBody>
          <a:bodyPr wrap="none" lIns="0" tIns="0" rIns="0" bIns="0" rtlCol="0" anchor="t">
            <a:spAutoFit/>
          </a:bodyPr>
          <a:lstStyle/>
          <a:p>
            <a:pPr algn="l" indent="0" marL="0">
              <a:buNone/>
            </a:pPr>
            <a:r>
              <a:rPr lang="en-US" sz="1400" b="1" dirty="0">
                <a:solidFill>
                  <a:srgbClr val="FF5800"/>
                </a:solidFill>
                <a:latin typeface="Kanit Bold" pitchFamily="34" charset="0"/>
                <a:ea typeface="Kanit Bold" pitchFamily="34" charset="-122"/>
                <a:cs typeface="Kanit Bold" pitchFamily="34" charset="-120"/>
              </a:rPr>
              <a:t>×</a:t>
            </a:r>
            <a:endParaRPr lang="en-US" sz="1400" dirty="0"/>
          </a:p>
        </p:txBody>
      </p:sp>
      <p:sp>
        <p:nvSpPr>
          <p:cNvPr id="13" name="Text 8"/>
          <p:cNvSpPr/>
          <p:nvPr/>
        </p:nvSpPr>
        <p:spPr>
          <a:xfrm>
            <a:off x="571500" y="3210725"/>
            <a:ext cx="85725" cy="298252"/>
          </a:xfrm>
          <a:prstGeom prst="rect">
            <a:avLst/>
          </a:prstGeom>
          <a:noFill/>
          <a:ln/>
        </p:spPr>
        <p:txBody>
          <a:bodyPr wrap="none" lIns="0" tIns="0" rIns="0" bIns="0" rtlCol="0" anchor="t">
            <a:spAutoFit/>
          </a:bodyPr>
          <a:lstStyle/>
          <a:p>
            <a:pPr algn="l" indent="0" marL="0">
              <a:buNone/>
            </a:pPr>
            <a:r>
              <a:rPr lang="en-US" sz="1400" b="1" dirty="0">
                <a:solidFill>
                  <a:srgbClr val="FF5800"/>
                </a:solidFill>
                <a:latin typeface="Kanit Bold" pitchFamily="34" charset="0"/>
                <a:ea typeface="Kanit Bold" pitchFamily="34" charset="-122"/>
                <a:cs typeface="Kanit Bold" pitchFamily="34" charset="-120"/>
              </a:rPr>
              <a:t>×</a:t>
            </a:r>
            <a:endParaRPr lang="en-US" sz="1400" dirty="0"/>
          </a:p>
        </p:txBody>
      </p:sp>
      <p:sp>
        <p:nvSpPr>
          <p:cNvPr id="14" name="Text 9"/>
          <p:cNvSpPr/>
          <p:nvPr/>
        </p:nvSpPr>
        <p:spPr>
          <a:xfrm>
            <a:off x="571500" y="3616133"/>
            <a:ext cx="85725" cy="298252"/>
          </a:xfrm>
          <a:prstGeom prst="rect">
            <a:avLst/>
          </a:prstGeom>
          <a:noFill/>
          <a:ln/>
        </p:spPr>
        <p:txBody>
          <a:bodyPr wrap="none" lIns="0" tIns="0" rIns="0" bIns="0" rtlCol="0" anchor="t">
            <a:spAutoFit/>
          </a:bodyPr>
          <a:lstStyle/>
          <a:p>
            <a:pPr algn="l" indent="0" marL="0">
              <a:buNone/>
            </a:pPr>
            <a:r>
              <a:rPr lang="en-US" sz="1400" b="1" dirty="0">
                <a:solidFill>
                  <a:srgbClr val="FF5800"/>
                </a:solidFill>
                <a:latin typeface="Kanit Bold" pitchFamily="34" charset="0"/>
                <a:ea typeface="Kanit Bold" pitchFamily="34" charset="-122"/>
                <a:cs typeface="Kanit Bold" pitchFamily="34" charset="-120"/>
              </a:rPr>
              <a:t>×</a:t>
            </a:r>
            <a:endParaRPr lang="en-US" sz="1400" dirty="0"/>
          </a:p>
        </p:txBody>
      </p:sp>
      <p:sp>
        <p:nvSpPr>
          <p:cNvPr id="15" name="Text 10"/>
          <p:cNvSpPr/>
          <p:nvPr/>
        </p:nvSpPr>
        <p:spPr>
          <a:xfrm>
            <a:off x="4972050" y="1823052"/>
            <a:ext cx="3600450" cy="433983"/>
          </a:xfrm>
          <a:prstGeom prst="rect">
            <a:avLst/>
          </a:prstGeom>
          <a:noFill/>
          <a:ln/>
        </p:spPr>
        <p:txBody>
          <a:bodyPr wrap="square" lIns="0" tIns="0" rIns="0" bIns="102108" rtlCol="0" anchor="t">
            <a:spAutoFit/>
          </a:bodyPr>
          <a:lstStyle/>
          <a:p>
            <a:pPr algn="l" indent="0" marL="0">
              <a:buNone/>
            </a:pPr>
            <a:r>
              <a:rPr lang="en-US" sz="1500" b="1" dirty="0">
                <a:solidFill>
                  <a:srgbClr val="000000"/>
                </a:solidFill>
                <a:latin typeface="Kanit Bold" pitchFamily="34" charset="0"/>
                <a:ea typeface="Kanit Bold" pitchFamily="34" charset="-122"/>
                <a:cs typeface="Kanit Bold" pitchFamily="34" charset="-120"/>
              </a:rPr>
              <a:t>Before standardising:</a:t>
            </a:r>
            <a:endParaRPr lang="en-US" sz="1500" dirty="0"/>
          </a:p>
        </p:txBody>
      </p:sp>
      <p:sp>
        <p:nvSpPr>
          <p:cNvPr id="16" name="Text 11"/>
          <p:cNvSpPr/>
          <p:nvPr/>
        </p:nvSpPr>
        <p:spPr>
          <a:xfrm>
            <a:off x="4972050" y="2428484"/>
            <a:ext cx="3600450"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Classification</a:t>
            </a:r>
            <a:endParaRPr lang="en-US" sz="1400" dirty="0"/>
          </a:p>
        </p:txBody>
      </p:sp>
      <p:sp>
        <p:nvSpPr>
          <p:cNvPr id="17" name="Text 12"/>
          <p:cNvSpPr/>
          <p:nvPr/>
        </p:nvSpPr>
        <p:spPr>
          <a:xfrm>
            <a:off x="4972050" y="2833892"/>
            <a:ext cx="3600450"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Taxonomy</a:t>
            </a:r>
            <a:endParaRPr lang="en-US" sz="1400" dirty="0"/>
          </a:p>
        </p:txBody>
      </p:sp>
      <p:sp>
        <p:nvSpPr>
          <p:cNvPr id="18" name="Text 13"/>
          <p:cNvSpPr/>
          <p:nvPr/>
        </p:nvSpPr>
        <p:spPr>
          <a:xfrm>
            <a:off x="4972050" y="3239300"/>
            <a:ext cx="3600450"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Communications structure</a:t>
            </a:r>
            <a:endParaRPr lang="en-US" sz="1400" dirty="0"/>
          </a:p>
        </p:txBody>
      </p:sp>
      <p:sp>
        <p:nvSpPr>
          <p:cNvPr id="19" name="Text 14"/>
          <p:cNvSpPr/>
          <p:nvPr/>
        </p:nvSpPr>
        <p:spPr>
          <a:xfrm>
            <a:off x="4972050" y="3644708"/>
            <a:ext cx="3600450"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Operational data inputs</a:t>
            </a:r>
            <a:endParaRPr lang="en-US" sz="1400" dirty="0"/>
          </a:p>
        </p:txBody>
      </p:sp>
      <p:sp>
        <p:nvSpPr>
          <p:cNvPr id="20" name="Text 15"/>
          <p:cNvSpPr/>
          <p:nvPr/>
        </p:nvSpPr>
        <p:spPr>
          <a:xfrm>
            <a:off x="571500" y="4407303"/>
            <a:ext cx="8001000" cy="342900"/>
          </a:xfrm>
          <a:prstGeom prst="rect">
            <a:avLst/>
          </a:prstGeom>
          <a:noFill/>
          <a:ln/>
        </p:spPr>
        <p:txBody>
          <a:bodyPr wrap="square" lIns="0" tIns="0" rIns="0" bIns="0" rtlCol="0" anchor="t">
            <a:spAutoFit/>
          </a:bodyPr>
          <a:lstStyle/>
          <a:p>
            <a:pPr algn="ctr" indent="0" marL="0">
              <a:buNone/>
            </a:pPr>
            <a:r>
              <a:rPr lang="en-US" sz="1600" b="1" i="1" dirty="0">
                <a:solidFill>
                  <a:srgbClr val="04787F"/>
                </a:solidFill>
                <a:latin typeface="Kanit Medium" pitchFamily="34" charset="0"/>
                <a:ea typeface="Kanit Medium" pitchFamily="34" charset="-122"/>
                <a:cs typeface="Kanit Medium" pitchFamily="34" charset="-120"/>
              </a:rPr>
              <a:t>Inconsistent inputs create unreliable comparison.</a:t>
            </a:r>
            <a:endParaRPr lang="en-US" sz="1600" dirty="0"/>
          </a:p>
        </p:txBody>
      </p:sp>
      <p:sp>
        <p:nvSpPr>
          <p:cNvPr id="21" name="Text 16"/>
          <p:cNvSpPr/>
          <p:nvPr/>
        </p:nvSpPr>
        <p:spPr>
          <a:xfrm>
            <a:off x="4972050" y="2414197"/>
            <a:ext cx="142875" cy="257175"/>
          </a:xfrm>
          <a:prstGeom prst="rect">
            <a:avLst/>
          </a:prstGeom>
          <a:noFill/>
          <a:ln/>
        </p:spPr>
        <p:txBody>
          <a:bodyPr wrap="none" lIns="0" tIns="0" rIns="0" bIns="0" rtlCol="0" anchor="t">
            <a:spAutoFit/>
          </a:bodyPr>
          <a:lstStyle/>
          <a:p>
            <a:pPr algn="l" indent="0" marL="0">
              <a:buNone/>
            </a:pPr>
            <a:r>
              <a:rPr lang="en-US" sz="1200" b="1" dirty="0">
                <a:solidFill>
                  <a:srgbClr val="04787F"/>
                </a:solidFill>
                <a:latin typeface="Kanit Bold" pitchFamily="34" charset="0"/>
                <a:ea typeface="Kanit Bold" pitchFamily="34" charset="-122"/>
                <a:cs typeface="Kanit Bold" pitchFamily="34" charset="-120"/>
              </a:rPr>
              <a:t>✓</a:t>
            </a:r>
            <a:endParaRPr lang="en-US" sz="1200" dirty="0"/>
          </a:p>
        </p:txBody>
      </p:sp>
      <p:sp>
        <p:nvSpPr>
          <p:cNvPr id="22" name="Text 17"/>
          <p:cNvSpPr/>
          <p:nvPr/>
        </p:nvSpPr>
        <p:spPr>
          <a:xfrm>
            <a:off x="4972050" y="2819605"/>
            <a:ext cx="142875" cy="257175"/>
          </a:xfrm>
          <a:prstGeom prst="rect">
            <a:avLst/>
          </a:prstGeom>
          <a:noFill/>
          <a:ln/>
        </p:spPr>
        <p:txBody>
          <a:bodyPr wrap="none" lIns="0" tIns="0" rIns="0" bIns="0" rtlCol="0" anchor="t">
            <a:spAutoFit/>
          </a:bodyPr>
          <a:lstStyle/>
          <a:p>
            <a:pPr algn="l" indent="0" marL="0">
              <a:buNone/>
            </a:pPr>
            <a:r>
              <a:rPr lang="en-US" sz="1200" b="1" dirty="0">
                <a:solidFill>
                  <a:srgbClr val="04787F"/>
                </a:solidFill>
                <a:latin typeface="Kanit Bold" pitchFamily="34" charset="0"/>
                <a:ea typeface="Kanit Bold" pitchFamily="34" charset="-122"/>
                <a:cs typeface="Kanit Bold" pitchFamily="34" charset="-120"/>
              </a:rPr>
              <a:t>✓</a:t>
            </a:r>
            <a:endParaRPr lang="en-US" sz="1200" dirty="0"/>
          </a:p>
        </p:txBody>
      </p:sp>
      <p:sp>
        <p:nvSpPr>
          <p:cNvPr id="23" name="Text 18"/>
          <p:cNvSpPr/>
          <p:nvPr/>
        </p:nvSpPr>
        <p:spPr>
          <a:xfrm>
            <a:off x="4972050" y="3225012"/>
            <a:ext cx="142875" cy="257175"/>
          </a:xfrm>
          <a:prstGeom prst="rect">
            <a:avLst/>
          </a:prstGeom>
          <a:noFill/>
          <a:ln/>
        </p:spPr>
        <p:txBody>
          <a:bodyPr wrap="none" lIns="0" tIns="0" rIns="0" bIns="0" rtlCol="0" anchor="t">
            <a:spAutoFit/>
          </a:bodyPr>
          <a:lstStyle/>
          <a:p>
            <a:pPr algn="l" indent="0" marL="0">
              <a:buNone/>
            </a:pPr>
            <a:r>
              <a:rPr lang="en-US" sz="1200" b="1" dirty="0">
                <a:solidFill>
                  <a:srgbClr val="04787F"/>
                </a:solidFill>
                <a:latin typeface="Kanit Bold" pitchFamily="34" charset="0"/>
                <a:ea typeface="Kanit Bold" pitchFamily="34" charset="-122"/>
                <a:cs typeface="Kanit Bold" pitchFamily="34" charset="-120"/>
              </a:rPr>
              <a:t>✓</a:t>
            </a:r>
            <a:endParaRPr lang="en-US" sz="1200" dirty="0"/>
          </a:p>
        </p:txBody>
      </p:sp>
      <p:sp>
        <p:nvSpPr>
          <p:cNvPr id="24" name="Text 19"/>
          <p:cNvSpPr/>
          <p:nvPr/>
        </p:nvSpPr>
        <p:spPr>
          <a:xfrm>
            <a:off x="4972050" y="3630420"/>
            <a:ext cx="142875" cy="257175"/>
          </a:xfrm>
          <a:prstGeom prst="rect">
            <a:avLst/>
          </a:prstGeom>
          <a:noFill/>
          <a:ln/>
        </p:spPr>
        <p:txBody>
          <a:bodyPr wrap="none" lIns="0" tIns="0" rIns="0" bIns="0" rtlCol="0" anchor="t">
            <a:spAutoFit/>
          </a:bodyPr>
          <a:lstStyle/>
          <a:p>
            <a:pPr algn="l" indent="0" marL="0">
              <a:buNone/>
            </a:pPr>
            <a:r>
              <a:rPr lang="en-US" sz="1200" b="1" dirty="0">
                <a:solidFill>
                  <a:srgbClr val="04787F"/>
                </a:solidFill>
                <a:latin typeface="Kanit Bold" pitchFamily="34" charset="0"/>
                <a:ea typeface="Kanit Bold" pitchFamily="34" charset="-122"/>
                <a:cs typeface="Kanit Bold" pitchFamily="34" charset="-120"/>
              </a:rPr>
              <a:t>✓</a:t>
            </a:r>
            <a:endParaRPr lang="en-US" sz="1200" dirty="0"/>
          </a:p>
        </p:txBody>
      </p:sp>
      <p:pic>
        <p:nvPicPr>
          <p:cNvPr id="25"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914400" y="1096761"/>
            <a:ext cx="7315200" cy="684014"/>
          </a:xfrm>
          <a:prstGeom prst="rect">
            <a:avLst/>
          </a:prstGeom>
          <a:noFill/>
          <a:ln/>
        </p:spPr>
        <p:txBody>
          <a:bodyPr wrap="square" lIns="0" tIns="0" rIns="0" bIns="0" rtlCol="0" anchor="t">
            <a:spAutoFit/>
          </a:bodyPr>
          <a:lstStyle/>
          <a:p>
            <a:pPr algn="ctr" indent="0" marL="0">
              <a:buNone/>
            </a:pPr>
            <a:r>
              <a:rPr lang="en-US" sz="3500" dirty="0">
                <a:solidFill>
                  <a:srgbClr val="333333"/>
                </a:solidFill>
                <a:latin typeface="Kanit Medium" pitchFamily="34" charset="0"/>
                <a:ea typeface="Kanit Medium" pitchFamily="34" charset="-122"/>
                <a:cs typeface="Kanit Medium" pitchFamily="34" charset="-120"/>
              </a:rPr>
              <a:t>KPIs change.</a:t>
            </a:r>
            <a:endParaRPr lang="en-US" sz="3500" dirty="0"/>
          </a:p>
        </p:txBody>
      </p:sp>
      <p:sp>
        <p:nvSpPr>
          <p:cNvPr id="6" name="Text 1"/>
          <p:cNvSpPr/>
          <p:nvPr/>
        </p:nvSpPr>
        <p:spPr>
          <a:xfrm>
            <a:off x="914400" y="1923650"/>
            <a:ext cx="7315200" cy="1508727"/>
          </a:xfrm>
          <a:prstGeom prst="rect">
            <a:avLst/>
          </a:prstGeom>
          <a:noFill/>
          <a:ln/>
        </p:spPr>
        <p:txBody>
          <a:bodyPr wrap="square" lIns="0" tIns="0" rIns="0" bIns="0" rtlCol="0" anchor="t">
            <a:spAutoFit/>
          </a:bodyPr>
          <a:lstStyle/>
          <a:p>
            <a:pPr algn="ctr" indent="0" marL="0">
              <a:lnSpc>
                <a:spcPct val="88000"/>
              </a:lnSpc>
              <a:buNone/>
            </a:pPr>
            <a:r>
              <a:rPr lang="en-US" sz="4950" b="1" dirty="0">
                <a:solidFill>
                  <a:srgbClr val="FF5800"/>
                </a:solidFill>
                <a:latin typeface="Kanit Bold" pitchFamily="34" charset="0"/>
                <a:ea typeface="Kanit Bold" pitchFamily="34" charset="-122"/>
                <a:cs typeface="Kanit Bold" pitchFamily="34" charset="-120"/>
              </a:rPr>
              <a:t>CLASSIFICATION</a:t>
            </a:r>
            <a:r>
              <a:rPr lang="en-US" sz="4950" b="1" dirty="0">
                <a:solidFill>
                  <a:srgbClr val="04787F"/>
                </a:solidFill>
                <a:latin typeface="Kanit Bold" pitchFamily="34" charset="0"/>
                <a:ea typeface="Kanit Bold" pitchFamily="34" charset="-122"/>
                <a:cs typeface="Kanit Bold" pitchFamily="34" charset="-120"/>
              </a:rPr>
              <a:t> SHOULDN'T.</a:t>
            </a:r>
            <a:endParaRPr lang="en-US" sz="4950" dirty="0"/>
          </a:p>
        </p:txBody>
      </p:sp>
      <p:pic>
        <p:nvPicPr>
          <p:cNvPr id="7"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84198"/>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428625"/>
            <a:ext cx="6858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000000"/>
                </a:solidFill>
                <a:latin typeface="Kanit Bold" pitchFamily="34" charset="0"/>
                <a:ea typeface="Kanit Bold" pitchFamily="34" charset="-122"/>
                <a:cs typeface="Kanit Bold" pitchFamily="34" charset="-120"/>
              </a:rPr>
              <a:t>FIXED DRIVERS BENEATH FLEXIBLE OUTCOMES</a:t>
            </a:r>
            <a:endParaRPr lang="en-US" sz="2450" dirty="0"/>
          </a:p>
        </p:txBody>
      </p:sp>
      <p:sp>
        <p:nvSpPr>
          <p:cNvPr id="6" name="Shape 1"/>
          <p:cNvSpPr/>
          <p:nvPr/>
        </p:nvSpPr>
        <p:spPr>
          <a:xfrm>
            <a:off x="571500" y="1608739"/>
            <a:ext cx="3680454" cy="2961084"/>
          </a:xfrm>
          <a:prstGeom prst="rect">
            <a:avLst/>
          </a:prstGeom>
          <a:solidFill>
            <a:srgbClr val="FFFFFF"/>
          </a:solidFill>
          <a:ln w="18288">
            <a:solidFill>
              <a:srgbClr val="04787F"/>
            </a:solidFill>
            <a:prstDash val="solid"/>
          </a:ln>
        </p:spPr>
      </p:sp>
      <p:sp>
        <p:nvSpPr>
          <p:cNvPr id="7" name="Text 2"/>
          <p:cNvSpPr/>
          <p:nvPr/>
        </p:nvSpPr>
        <p:spPr>
          <a:xfrm>
            <a:off x="785813" y="1823052"/>
            <a:ext cx="3251829" cy="405408"/>
          </a:xfrm>
          <a:prstGeom prst="rect">
            <a:avLst/>
          </a:prstGeom>
          <a:noFill/>
          <a:ln/>
        </p:spPr>
        <p:txBody>
          <a:bodyPr wrap="square" lIns="0" tIns="0" rIns="0" bIns="102108" rtlCol="0" anchor="t">
            <a:spAutoFit/>
          </a:bodyPr>
          <a:lstStyle/>
          <a:p>
            <a:pPr algn="ctr" indent="0" marL="0">
              <a:buNone/>
            </a:pPr>
            <a:r>
              <a:rPr lang="en-US" sz="1400" b="1" dirty="0">
                <a:solidFill>
                  <a:srgbClr val="04787F"/>
                </a:solidFill>
                <a:latin typeface="Kanit Bold" pitchFamily="34" charset="0"/>
                <a:ea typeface="Kanit Bold" pitchFamily="34" charset="-122"/>
                <a:cs typeface="Kanit Bold" pitchFamily="34" charset="-120"/>
              </a:rPr>
              <a:t>Flexible (changes by campaign)</a:t>
            </a:r>
            <a:endParaRPr lang="en-US" sz="1400" dirty="0"/>
          </a:p>
        </p:txBody>
      </p:sp>
      <p:sp>
        <p:nvSpPr>
          <p:cNvPr id="8" name="Text 3"/>
          <p:cNvSpPr/>
          <p:nvPr/>
        </p:nvSpPr>
        <p:spPr>
          <a:xfrm>
            <a:off x="785813" y="2371334"/>
            <a:ext cx="3251829"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Objectives</a:t>
            </a:r>
            <a:endParaRPr lang="en-US" sz="1400" dirty="0"/>
          </a:p>
        </p:txBody>
      </p:sp>
      <p:sp>
        <p:nvSpPr>
          <p:cNvPr id="9" name="Text 4"/>
          <p:cNvSpPr/>
          <p:nvPr/>
        </p:nvSpPr>
        <p:spPr>
          <a:xfrm>
            <a:off x="785813" y="2762455"/>
            <a:ext cx="3251829"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Target audiences</a:t>
            </a:r>
            <a:endParaRPr lang="en-US" sz="1400" dirty="0"/>
          </a:p>
        </p:txBody>
      </p:sp>
      <p:sp>
        <p:nvSpPr>
          <p:cNvPr id="10" name="Text 5"/>
          <p:cNvSpPr/>
          <p:nvPr/>
        </p:nvSpPr>
        <p:spPr>
          <a:xfrm>
            <a:off x="785813" y="3153575"/>
            <a:ext cx="3251829"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Outcomes</a:t>
            </a:r>
            <a:endParaRPr lang="en-US" sz="1400" dirty="0"/>
          </a:p>
        </p:txBody>
      </p:sp>
      <p:sp>
        <p:nvSpPr>
          <p:cNvPr id="11" name="Text 6"/>
          <p:cNvSpPr/>
          <p:nvPr/>
        </p:nvSpPr>
        <p:spPr>
          <a:xfrm>
            <a:off x="785813" y="3544695"/>
            <a:ext cx="3251829"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KPIs</a:t>
            </a:r>
            <a:endParaRPr lang="en-US" sz="1400" dirty="0"/>
          </a:p>
        </p:txBody>
      </p:sp>
      <p:sp>
        <p:nvSpPr>
          <p:cNvPr id="12" name="Text 7"/>
          <p:cNvSpPr/>
          <p:nvPr/>
        </p:nvSpPr>
        <p:spPr>
          <a:xfrm>
            <a:off x="785813" y="3935816"/>
            <a:ext cx="3251829"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Success metrics</a:t>
            </a:r>
            <a:endParaRPr lang="en-US" sz="1400" dirty="0"/>
          </a:p>
        </p:txBody>
      </p:sp>
      <p:sp>
        <p:nvSpPr>
          <p:cNvPr id="13" name="Shape 8"/>
          <p:cNvSpPr/>
          <p:nvPr/>
        </p:nvSpPr>
        <p:spPr>
          <a:xfrm>
            <a:off x="4892046" y="1608739"/>
            <a:ext cx="3680454" cy="2961084"/>
          </a:xfrm>
          <a:prstGeom prst="rect">
            <a:avLst/>
          </a:prstGeom>
          <a:solidFill>
            <a:srgbClr val="FFFFFF"/>
          </a:solidFill>
          <a:ln w="18288">
            <a:solidFill>
              <a:srgbClr val="04787F"/>
            </a:solidFill>
            <a:prstDash val="solid"/>
          </a:ln>
        </p:spPr>
      </p:sp>
      <p:sp>
        <p:nvSpPr>
          <p:cNvPr id="14" name="Text 9"/>
          <p:cNvSpPr/>
          <p:nvPr/>
        </p:nvSpPr>
        <p:spPr>
          <a:xfrm>
            <a:off x="785813" y="2414197"/>
            <a:ext cx="77688" cy="191095"/>
          </a:xfrm>
          <a:prstGeom prst="rect">
            <a:avLst/>
          </a:prstGeom>
          <a:noFill/>
          <a:ln/>
        </p:spPr>
        <p:txBody>
          <a:bodyPr wrap="none" lIns="0" tIns="0" rIns="0" bIns="0" rtlCol="0" anchor="t">
            <a:spAutoFit/>
          </a:bodyPr>
          <a:lstStyle/>
          <a:p>
            <a:pPr algn="l" indent="0" marL="0">
              <a:buNone/>
            </a:pPr>
            <a:r>
              <a:rPr lang="en-US" sz="950" dirty="0">
                <a:solidFill>
                  <a:srgbClr val="FF5800"/>
                </a:solidFill>
                <a:latin typeface="Kanit" pitchFamily="34" charset="0"/>
                <a:ea typeface="Kanit" pitchFamily="34" charset="-122"/>
                <a:cs typeface="Kanit" pitchFamily="34" charset="-120"/>
              </a:rPr>
              <a:t>■</a:t>
            </a:r>
            <a:endParaRPr lang="en-US" sz="950" dirty="0"/>
          </a:p>
        </p:txBody>
      </p:sp>
      <p:sp>
        <p:nvSpPr>
          <p:cNvPr id="15" name="Text 10"/>
          <p:cNvSpPr/>
          <p:nvPr/>
        </p:nvSpPr>
        <p:spPr>
          <a:xfrm>
            <a:off x="785813" y="2805317"/>
            <a:ext cx="77688" cy="191095"/>
          </a:xfrm>
          <a:prstGeom prst="rect">
            <a:avLst/>
          </a:prstGeom>
          <a:noFill/>
          <a:ln/>
        </p:spPr>
        <p:txBody>
          <a:bodyPr wrap="none" lIns="0" tIns="0" rIns="0" bIns="0" rtlCol="0" anchor="t">
            <a:spAutoFit/>
          </a:bodyPr>
          <a:lstStyle/>
          <a:p>
            <a:pPr algn="l" indent="0" marL="0">
              <a:buNone/>
            </a:pPr>
            <a:r>
              <a:rPr lang="en-US" sz="950" dirty="0">
                <a:solidFill>
                  <a:srgbClr val="FF5800"/>
                </a:solidFill>
                <a:latin typeface="Kanit" pitchFamily="34" charset="0"/>
                <a:ea typeface="Kanit" pitchFamily="34" charset="-122"/>
                <a:cs typeface="Kanit" pitchFamily="34" charset="-120"/>
              </a:rPr>
              <a:t>■</a:t>
            </a:r>
            <a:endParaRPr lang="en-US" sz="950" dirty="0"/>
          </a:p>
        </p:txBody>
      </p:sp>
      <p:sp>
        <p:nvSpPr>
          <p:cNvPr id="16" name="Text 11"/>
          <p:cNvSpPr/>
          <p:nvPr/>
        </p:nvSpPr>
        <p:spPr>
          <a:xfrm>
            <a:off x="785813" y="3196437"/>
            <a:ext cx="77688" cy="191095"/>
          </a:xfrm>
          <a:prstGeom prst="rect">
            <a:avLst/>
          </a:prstGeom>
          <a:noFill/>
          <a:ln/>
        </p:spPr>
        <p:txBody>
          <a:bodyPr wrap="none" lIns="0" tIns="0" rIns="0" bIns="0" rtlCol="0" anchor="t">
            <a:spAutoFit/>
          </a:bodyPr>
          <a:lstStyle/>
          <a:p>
            <a:pPr algn="l" indent="0" marL="0">
              <a:buNone/>
            </a:pPr>
            <a:r>
              <a:rPr lang="en-US" sz="950" dirty="0">
                <a:solidFill>
                  <a:srgbClr val="FF5800"/>
                </a:solidFill>
                <a:latin typeface="Kanit" pitchFamily="34" charset="0"/>
                <a:ea typeface="Kanit" pitchFamily="34" charset="-122"/>
                <a:cs typeface="Kanit" pitchFamily="34" charset="-120"/>
              </a:rPr>
              <a:t>■</a:t>
            </a:r>
            <a:endParaRPr lang="en-US" sz="950" dirty="0"/>
          </a:p>
        </p:txBody>
      </p:sp>
      <p:sp>
        <p:nvSpPr>
          <p:cNvPr id="17" name="Text 12"/>
          <p:cNvSpPr/>
          <p:nvPr/>
        </p:nvSpPr>
        <p:spPr>
          <a:xfrm>
            <a:off x="785813" y="3587558"/>
            <a:ext cx="77688" cy="191095"/>
          </a:xfrm>
          <a:prstGeom prst="rect">
            <a:avLst/>
          </a:prstGeom>
          <a:noFill/>
          <a:ln/>
        </p:spPr>
        <p:txBody>
          <a:bodyPr wrap="none" lIns="0" tIns="0" rIns="0" bIns="0" rtlCol="0" anchor="t">
            <a:spAutoFit/>
          </a:bodyPr>
          <a:lstStyle/>
          <a:p>
            <a:pPr algn="l" indent="0" marL="0">
              <a:buNone/>
            </a:pPr>
            <a:r>
              <a:rPr lang="en-US" sz="950" dirty="0">
                <a:solidFill>
                  <a:srgbClr val="FF5800"/>
                </a:solidFill>
                <a:latin typeface="Kanit" pitchFamily="34" charset="0"/>
                <a:ea typeface="Kanit" pitchFamily="34" charset="-122"/>
                <a:cs typeface="Kanit" pitchFamily="34" charset="-120"/>
              </a:rPr>
              <a:t>■</a:t>
            </a:r>
            <a:endParaRPr lang="en-US" sz="950" dirty="0"/>
          </a:p>
        </p:txBody>
      </p:sp>
      <p:sp>
        <p:nvSpPr>
          <p:cNvPr id="18" name="Text 13"/>
          <p:cNvSpPr/>
          <p:nvPr/>
        </p:nvSpPr>
        <p:spPr>
          <a:xfrm>
            <a:off x="785813" y="3978678"/>
            <a:ext cx="77688" cy="191095"/>
          </a:xfrm>
          <a:prstGeom prst="rect">
            <a:avLst/>
          </a:prstGeom>
          <a:noFill/>
          <a:ln/>
        </p:spPr>
        <p:txBody>
          <a:bodyPr wrap="none" lIns="0" tIns="0" rIns="0" bIns="0" rtlCol="0" anchor="t">
            <a:spAutoFit/>
          </a:bodyPr>
          <a:lstStyle/>
          <a:p>
            <a:pPr algn="l" indent="0" marL="0">
              <a:buNone/>
            </a:pPr>
            <a:r>
              <a:rPr lang="en-US" sz="950" dirty="0">
                <a:solidFill>
                  <a:srgbClr val="FF5800"/>
                </a:solidFill>
                <a:latin typeface="Kanit" pitchFamily="34" charset="0"/>
                <a:ea typeface="Kanit" pitchFamily="34" charset="-122"/>
                <a:cs typeface="Kanit" pitchFamily="34" charset="-120"/>
              </a:rPr>
              <a:t>■</a:t>
            </a:r>
            <a:endParaRPr lang="en-US" sz="950" dirty="0"/>
          </a:p>
        </p:txBody>
      </p:sp>
      <p:sp>
        <p:nvSpPr>
          <p:cNvPr id="19" name="Text 14"/>
          <p:cNvSpPr/>
          <p:nvPr/>
        </p:nvSpPr>
        <p:spPr>
          <a:xfrm>
            <a:off x="5106358" y="1823052"/>
            <a:ext cx="3251829" cy="405408"/>
          </a:xfrm>
          <a:prstGeom prst="rect">
            <a:avLst/>
          </a:prstGeom>
          <a:noFill/>
          <a:ln/>
        </p:spPr>
        <p:txBody>
          <a:bodyPr wrap="square" lIns="0" tIns="0" rIns="0" bIns="102108" rtlCol="0" anchor="t">
            <a:spAutoFit/>
          </a:bodyPr>
          <a:lstStyle/>
          <a:p>
            <a:pPr algn="ctr" indent="0" marL="0">
              <a:buNone/>
            </a:pPr>
            <a:r>
              <a:rPr lang="en-US" sz="1400" b="1" dirty="0">
                <a:solidFill>
                  <a:srgbClr val="04787F"/>
                </a:solidFill>
                <a:latin typeface="Kanit Bold" pitchFamily="34" charset="0"/>
                <a:ea typeface="Kanit Bold" pitchFamily="34" charset="-122"/>
                <a:cs typeface="Kanit Bold" pitchFamily="34" charset="-120"/>
              </a:rPr>
              <a:t>Fixed (stays constant always)</a:t>
            </a:r>
            <a:endParaRPr lang="en-US" sz="1400" dirty="0"/>
          </a:p>
        </p:txBody>
      </p:sp>
      <p:sp>
        <p:nvSpPr>
          <p:cNvPr id="20" name="Text 15"/>
          <p:cNvSpPr/>
          <p:nvPr/>
        </p:nvSpPr>
        <p:spPr>
          <a:xfrm>
            <a:off x="5106358" y="2371334"/>
            <a:ext cx="3251829"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Activity type</a:t>
            </a:r>
            <a:endParaRPr lang="en-US" sz="1400" dirty="0"/>
          </a:p>
        </p:txBody>
      </p:sp>
      <p:sp>
        <p:nvSpPr>
          <p:cNvPr id="21" name="Text 16"/>
          <p:cNvSpPr/>
          <p:nvPr/>
        </p:nvSpPr>
        <p:spPr>
          <a:xfrm>
            <a:off x="5106358" y="2762455"/>
            <a:ext cx="3251829"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Published format</a:t>
            </a:r>
            <a:endParaRPr lang="en-US" sz="1400" dirty="0"/>
          </a:p>
        </p:txBody>
      </p:sp>
      <p:sp>
        <p:nvSpPr>
          <p:cNvPr id="22" name="Text 17"/>
          <p:cNvSpPr/>
          <p:nvPr/>
        </p:nvSpPr>
        <p:spPr>
          <a:xfrm>
            <a:off x="5106358" y="3153575"/>
            <a:ext cx="3251829"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Sentiment</a:t>
            </a:r>
            <a:endParaRPr lang="en-US" sz="1400" dirty="0"/>
          </a:p>
        </p:txBody>
      </p:sp>
      <p:sp>
        <p:nvSpPr>
          <p:cNvPr id="23" name="Text 18"/>
          <p:cNvSpPr/>
          <p:nvPr/>
        </p:nvSpPr>
        <p:spPr>
          <a:xfrm>
            <a:off x="5106358" y="3544695"/>
            <a:ext cx="3251829"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Brand prominence</a:t>
            </a:r>
            <a:endParaRPr lang="en-US" sz="1400" dirty="0"/>
          </a:p>
        </p:txBody>
      </p:sp>
      <p:sp>
        <p:nvSpPr>
          <p:cNvPr id="24" name="Text 19"/>
          <p:cNvSpPr/>
          <p:nvPr/>
        </p:nvSpPr>
        <p:spPr>
          <a:xfrm>
            <a:off x="5106358" y="3935816"/>
            <a:ext cx="3251829" cy="276820"/>
          </a:xfrm>
          <a:prstGeom prst="rect">
            <a:avLst/>
          </a:prstGeom>
          <a:noFill/>
          <a:ln/>
        </p:spPr>
        <p:txBody>
          <a:bodyPr wrap="square" lIns="272161" tIns="0" rIns="0" bIns="0" rtlCol="0" anchor="t">
            <a:spAutoFit/>
          </a:bodyPr>
          <a:lstStyle/>
          <a:p>
            <a:pPr algn="l" indent="0" marL="0">
              <a:buNone/>
            </a:pPr>
            <a:r>
              <a:rPr lang="en-US" sz="1400" dirty="0">
                <a:solidFill>
                  <a:srgbClr val="333333"/>
                </a:solidFill>
                <a:latin typeface="Kanit" pitchFamily="34" charset="0"/>
                <a:ea typeface="Kanit" pitchFamily="34" charset="-122"/>
                <a:cs typeface="Kanit" pitchFamily="34" charset="-120"/>
              </a:rPr>
              <a:t>Source / outlet tier</a:t>
            </a:r>
            <a:endParaRPr lang="en-US" sz="1400" dirty="0"/>
          </a:p>
        </p:txBody>
      </p:sp>
      <p:sp>
        <p:nvSpPr>
          <p:cNvPr id="25" name="Text 20"/>
          <p:cNvSpPr/>
          <p:nvPr/>
        </p:nvSpPr>
        <p:spPr>
          <a:xfrm>
            <a:off x="5106358" y="2414197"/>
            <a:ext cx="77688" cy="191095"/>
          </a:xfrm>
          <a:prstGeom prst="rect">
            <a:avLst/>
          </a:prstGeom>
          <a:noFill/>
          <a:ln/>
        </p:spPr>
        <p:txBody>
          <a:bodyPr wrap="none" lIns="0" tIns="0" rIns="0" bIns="0" rtlCol="0" anchor="t">
            <a:spAutoFit/>
          </a:bodyPr>
          <a:lstStyle/>
          <a:p>
            <a:pPr algn="l" indent="0" marL="0">
              <a:buNone/>
            </a:pPr>
            <a:r>
              <a:rPr lang="en-US" sz="950" dirty="0">
                <a:solidFill>
                  <a:srgbClr val="FF5800"/>
                </a:solidFill>
                <a:latin typeface="Kanit" pitchFamily="34" charset="0"/>
                <a:ea typeface="Kanit" pitchFamily="34" charset="-122"/>
                <a:cs typeface="Kanit" pitchFamily="34" charset="-120"/>
              </a:rPr>
              <a:t>■</a:t>
            </a:r>
            <a:endParaRPr lang="en-US" sz="950" dirty="0"/>
          </a:p>
        </p:txBody>
      </p:sp>
      <p:sp>
        <p:nvSpPr>
          <p:cNvPr id="26" name="Text 21"/>
          <p:cNvSpPr/>
          <p:nvPr/>
        </p:nvSpPr>
        <p:spPr>
          <a:xfrm>
            <a:off x="5106358" y="2805317"/>
            <a:ext cx="77688" cy="191095"/>
          </a:xfrm>
          <a:prstGeom prst="rect">
            <a:avLst/>
          </a:prstGeom>
          <a:noFill/>
          <a:ln/>
        </p:spPr>
        <p:txBody>
          <a:bodyPr wrap="none" lIns="0" tIns="0" rIns="0" bIns="0" rtlCol="0" anchor="t">
            <a:spAutoFit/>
          </a:bodyPr>
          <a:lstStyle/>
          <a:p>
            <a:pPr algn="l" indent="0" marL="0">
              <a:buNone/>
            </a:pPr>
            <a:r>
              <a:rPr lang="en-US" sz="950" dirty="0">
                <a:solidFill>
                  <a:srgbClr val="FF5800"/>
                </a:solidFill>
                <a:latin typeface="Kanit" pitchFamily="34" charset="0"/>
                <a:ea typeface="Kanit" pitchFamily="34" charset="-122"/>
                <a:cs typeface="Kanit" pitchFamily="34" charset="-120"/>
              </a:rPr>
              <a:t>■</a:t>
            </a:r>
            <a:endParaRPr lang="en-US" sz="950" dirty="0"/>
          </a:p>
        </p:txBody>
      </p:sp>
      <p:sp>
        <p:nvSpPr>
          <p:cNvPr id="27" name="Text 22"/>
          <p:cNvSpPr/>
          <p:nvPr/>
        </p:nvSpPr>
        <p:spPr>
          <a:xfrm>
            <a:off x="5106358" y="3196437"/>
            <a:ext cx="77688" cy="191095"/>
          </a:xfrm>
          <a:prstGeom prst="rect">
            <a:avLst/>
          </a:prstGeom>
          <a:noFill/>
          <a:ln/>
        </p:spPr>
        <p:txBody>
          <a:bodyPr wrap="none" lIns="0" tIns="0" rIns="0" bIns="0" rtlCol="0" anchor="t">
            <a:spAutoFit/>
          </a:bodyPr>
          <a:lstStyle/>
          <a:p>
            <a:pPr algn="l" indent="0" marL="0">
              <a:buNone/>
            </a:pPr>
            <a:r>
              <a:rPr lang="en-US" sz="950" dirty="0">
                <a:solidFill>
                  <a:srgbClr val="FF5800"/>
                </a:solidFill>
                <a:latin typeface="Kanit" pitchFamily="34" charset="0"/>
                <a:ea typeface="Kanit" pitchFamily="34" charset="-122"/>
                <a:cs typeface="Kanit" pitchFamily="34" charset="-120"/>
              </a:rPr>
              <a:t>■</a:t>
            </a:r>
            <a:endParaRPr lang="en-US" sz="950" dirty="0"/>
          </a:p>
        </p:txBody>
      </p:sp>
      <p:sp>
        <p:nvSpPr>
          <p:cNvPr id="28" name="Text 23"/>
          <p:cNvSpPr/>
          <p:nvPr/>
        </p:nvSpPr>
        <p:spPr>
          <a:xfrm>
            <a:off x="5106358" y="3587558"/>
            <a:ext cx="77688" cy="191095"/>
          </a:xfrm>
          <a:prstGeom prst="rect">
            <a:avLst/>
          </a:prstGeom>
          <a:noFill/>
          <a:ln/>
        </p:spPr>
        <p:txBody>
          <a:bodyPr wrap="none" lIns="0" tIns="0" rIns="0" bIns="0" rtlCol="0" anchor="t">
            <a:spAutoFit/>
          </a:bodyPr>
          <a:lstStyle/>
          <a:p>
            <a:pPr algn="l" indent="0" marL="0">
              <a:buNone/>
            </a:pPr>
            <a:r>
              <a:rPr lang="en-US" sz="950" dirty="0">
                <a:solidFill>
                  <a:srgbClr val="FF5800"/>
                </a:solidFill>
                <a:latin typeface="Kanit" pitchFamily="34" charset="0"/>
                <a:ea typeface="Kanit" pitchFamily="34" charset="-122"/>
                <a:cs typeface="Kanit" pitchFamily="34" charset="-120"/>
              </a:rPr>
              <a:t>■</a:t>
            </a:r>
            <a:endParaRPr lang="en-US" sz="950" dirty="0"/>
          </a:p>
        </p:txBody>
      </p:sp>
      <p:sp>
        <p:nvSpPr>
          <p:cNvPr id="29" name="Text 24"/>
          <p:cNvSpPr/>
          <p:nvPr/>
        </p:nvSpPr>
        <p:spPr>
          <a:xfrm>
            <a:off x="5106358" y="3978678"/>
            <a:ext cx="77688" cy="191095"/>
          </a:xfrm>
          <a:prstGeom prst="rect">
            <a:avLst/>
          </a:prstGeom>
          <a:noFill/>
          <a:ln/>
        </p:spPr>
        <p:txBody>
          <a:bodyPr wrap="none" lIns="0" tIns="0" rIns="0" bIns="0" rtlCol="0" anchor="t">
            <a:spAutoFit/>
          </a:bodyPr>
          <a:lstStyle/>
          <a:p>
            <a:pPr algn="l" indent="0" marL="0">
              <a:buNone/>
            </a:pPr>
            <a:r>
              <a:rPr lang="en-US" sz="950" dirty="0">
                <a:solidFill>
                  <a:srgbClr val="FF5800"/>
                </a:solidFill>
                <a:latin typeface="Kanit" pitchFamily="34" charset="0"/>
                <a:ea typeface="Kanit" pitchFamily="34" charset="-122"/>
                <a:cs typeface="Kanit" pitchFamily="34" charset="-120"/>
              </a:rPr>
              <a:t>■</a:t>
            </a:r>
            <a:endParaRPr lang="en-US" sz="950" dirty="0"/>
          </a:p>
        </p:txBody>
      </p:sp>
      <p:pic>
        <p:nvPicPr>
          <p:cNvPr id="30" name="Image 2" descr="preencoded.png">    </p:cNvPr>
          <p:cNvPicPr>
            <a:picLocks noChangeAspect="1"/>
          </p:cNvPicPr>
          <p:nvPr/>
        </p:nvPicPr>
        <p:blipFill>
          <a:blip r:embed="rId3"/>
          <a:stretch>
            <a:fillRect/>
          </a:stretch>
        </p:blipFill>
        <p:spPr>
          <a:xfrm>
            <a:off x="0" y="4641261"/>
            <a:ext cx="9144000" cy="6143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000000"/>
                </a:solidFill>
                <a:latin typeface="Kanit Bold" pitchFamily="34" charset="0"/>
                <a:ea typeface="Kanit Bold" pitchFamily="34" charset="-122"/>
                <a:cs typeface="Kanit Bold" pitchFamily="34" charset="-120"/>
              </a:rPr>
              <a:t>WHAT STRUCTURAL CONSISTENCY ACTUALLY UNLOCKS</a:t>
            </a:r>
            <a:endParaRPr lang="en-US" sz="2450" dirty="0"/>
          </a:p>
        </p:txBody>
      </p:sp>
      <p:sp>
        <p:nvSpPr>
          <p:cNvPr id="6" name="Text 1"/>
          <p:cNvSpPr/>
          <p:nvPr/>
        </p:nvSpPr>
        <p:spPr>
          <a:xfrm>
            <a:off x="571500" y="1751614"/>
            <a:ext cx="11220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FF5800"/>
                </a:solidFill>
                <a:latin typeface="Kanit" pitchFamily="34" charset="0"/>
                <a:ea typeface="Kanit" pitchFamily="34" charset="-122"/>
                <a:cs typeface="Kanit" pitchFamily="34" charset="-120"/>
              </a:rPr>
              <a:t>■</a:t>
            </a:r>
            <a:endParaRPr lang="en-US" sz="1400" dirty="0"/>
          </a:p>
        </p:txBody>
      </p:sp>
      <p:sp>
        <p:nvSpPr>
          <p:cNvPr id="7" name="Text 2"/>
          <p:cNvSpPr/>
          <p:nvPr/>
        </p:nvSpPr>
        <p:spPr>
          <a:xfrm>
            <a:off x="798007" y="1751614"/>
            <a:ext cx="3559680" cy="480027"/>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04787F"/>
                </a:solidFill>
                <a:latin typeface="Kanit Bold" pitchFamily="34" charset="0"/>
                <a:ea typeface="Kanit Bold" pitchFamily="34" charset="-122"/>
                <a:cs typeface="Kanit Bold" pitchFamily="34" charset="-120"/>
              </a:rPr>
              <a:t>Comparison</a:t>
            </a:r>
            <a:r>
              <a:rPr lang="en-US" sz="1250" dirty="0">
                <a:solidFill>
                  <a:srgbClr val="333333"/>
                </a:solidFill>
                <a:latin typeface="Kanit" pitchFamily="34" charset="0"/>
                <a:ea typeface="Kanit" pitchFamily="34" charset="-122"/>
                <a:cs typeface="Kanit" pitchFamily="34" charset="-120"/>
              </a:rPr>
              <a:t> — across campaigns, teams, </a:t>
            </a:r>
            <a:r>
              <a:rPr lang="en-US" sz="1250" dirty="0">
                <a:solidFill>
                  <a:srgbClr val="333333"/>
                </a:solidFill>
                <a:latin typeface="Kanit" pitchFamily="34" charset="0"/>
                <a:ea typeface="Kanit" pitchFamily="34" charset="-122"/>
                <a:cs typeface="Kanit" pitchFamily="34" charset="-120"/>
              </a:rPr>
              <a:t>markets and time periods</a:t>
            </a:r>
            <a:endParaRPr lang="en-US" sz="1200" dirty="0"/>
          </a:p>
        </p:txBody>
      </p:sp>
      <p:sp>
        <p:nvSpPr>
          <p:cNvPr id="8" name="Text 3"/>
          <p:cNvSpPr/>
          <p:nvPr/>
        </p:nvSpPr>
        <p:spPr>
          <a:xfrm>
            <a:off x="4786313" y="1751614"/>
            <a:ext cx="11220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FF5800"/>
                </a:solidFill>
                <a:latin typeface="Kanit" pitchFamily="34" charset="0"/>
                <a:ea typeface="Kanit" pitchFamily="34" charset="-122"/>
                <a:cs typeface="Kanit" pitchFamily="34" charset="-120"/>
              </a:rPr>
              <a:t>■</a:t>
            </a:r>
            <a:endParaRPr lang="en-US" sz="1400" dirty="0"/>
          </a:p>
        </p:txBody>
      </p:sp>
      <p:sp>
        <p:nvSpPr>
          <p:cNvPr id="9" name="Text 4"/>
          <p:cNvSpPr/>
          <p:nvPr/>
        </p:nvSpPr>
        <p:spPr>
          <a:xfrm>
            <a:off x="5012820" y="1751614"/>
            <a:ext cx="3559680" cy="480027"/>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04787F"/>
                </a:solidFill>
                <a:latin typeface="Kanit Bold" pitchFamily="34" charset="0"/>
                <a:ea typeface="Kanit Bold" pitchFamily="34" charset="-122"/>
                <a:cs typeface="Kanit Bold" pitchFamily="34" charset="-120"/>
              </a:rPr>
              <a:t>Strategic learning</a:t>
            </a:r>
            <a:r>
              <a:rPr lang="en-US" sz="1250" dirty="0">
                <a:solidFill>
                  <a:srgbClr val="333333"/>
                </a:solidFill>
                <a:latin typeface="Kanit" pitchFamily="34" charset="0"/>
                <a:ea typeface="Kanit" pitchFamily="34" charset="-122"/>
                <a:cs typeface="Kanit" pitchFamily="34" charset="-120"/>
              </a:rPr>
              <a:t> — insight that accumulates </a:t>
            </a:r>
            <a:r>
              <a:rPr lang="en-US" sz="1250" dirty="0">
                <a:solidFill>
                  <a:srgbClr val="333333"/>
                </a:solidFill>
                <a:latin typeface="Kanit" pitchFamily="34" charset="0"/>
                <a:ea typeface="Kanit" pitchFamily="34" charset="-122"/>
                <a:cs typeface="Kanit" pitchFamily="34" charset="-120"/>
              </a:rPr>
              <a:t>rather than resets</a:t>
            </a:r>
            <a:endParaRPr lang="en-US" sz="1200" dirty="0"/>
          </a:p>
        </p:txBody>
      </p:sp>
      <p:sp>
        <p:nvSpPr>
          <p:cNvPr id="10" name="Text 5"/>
          <p:cNvSpPr/>
          <p:nvPr/>
        </p:nvSpPr>
        <p:spPr>
          <a:xfrm>
            <a:off x="571500" y="2431666"/>
            <a:ext cx="11220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FF5800"/>
                </a:solidFill>
                <a:latin typeface="Kanit" pitchFamily="34" charset="0"/>
                <a:ea typeface="Kanit" pitchFamily="34" charset="-122"/>
                <a:cs typeface="Kanit" pitchFamily="34" charset="-120"/>
              </a:rPr>
              <a:t>■</a:t>
            </a:r>
            <a:endParaRPr lang="en-US" sz="1400" dirty="0"/>
          </a:p>
        </p:txBody>
      </p:sp>
      <p:sp>
        <p:nvSpPr>
          <p:cNvPr id="11" name="Text 6"/>
          <p:cNvSpPr/>
          <p:nvPr/>
        </p:nvSpPr>
        <p:spPr>
          <a:xfrm>
            <a:off x="798007" y="2431666"/>
            <a:ext cx="3559680" cy="480027"/>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04787F"/>
                </a:solidFill>
                <a:latin typeface="Kanit Bold" pitchFamily="34" charset="0"/>
                <a:ea typeface="Kanit Bold" pitchFamily="34" charset="-122"/>
                <a:cs typeface="Kanit Bold" pitchFamily="34" charset="-120"/>
              </a:rPr>
              <a:t>Benchmarking</a:t>
            </a:r>
            <a:r>
              <a:rPr lang="en-US" sz="1250" dirty="0">
                <a:solidFill>
                  <a:srgbClr val="333333"/>
                </a:solidFill>
                <a:latin typeface="Kanit" pitchFamily="34" charset="0"/>
                <a:ea typeface="Kanit" pitchFamily="34" charset="-122"/>
                <a:cs typeface="Kanit" pitchFamily="34" charset="-120"/>
              </a:rPr>
              <a:t> — meaningful performance </a:t>
            </a:r>
            <a:r>
              <a:rPr lang="en-US" sz="1250" dirty="0">
                <a:solidFill>
                  <a:srgbClr val="333333"/>
                </a:solidFill>
                <a:latin typeface="Kanit" pitchFamily="34" charset="0"/>
                <a:ea typeface="Kanit" pitchFamily="34" charset="-122"/>
                <a:cs typeface="Kanit" pitchFamily="34" charset="-120"/>
              </a:rPr>
              <a:t>reference points</a:t>
            </a:r>
            <a:endParaRPr lang="en-US" sz="1200" dirty="0"/>
          </a:p>
        </p:txBody>
      </p:sp>
      <p:sp>
        <p:nvSpPr>
          <p:cNvPr id="12" name="Text 7"/>
          <p:cNvSpPr/>
          <p:nvPr/>
        </p:nvSpPr>
        <p:spPr>
          <a:xfrm>
            <a:off x="4786313" y="2431666"/>
            <a:ext cx="11220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FF5800"/>
                </a:solidFill>
                <a:latin typeface="Kanit" pitchFamily="34" charset="0"/>
                <a:ea typeface="Kanit" pitchFamily="34" charset="-122"/>
                <a:cs typeface="Kanit" pitchFamily="34" charset="-120"/>
              </a:rPr>
              <a:t>■</a:t>
            </a:r>
            <a:endParaRPr lang="en-US" sz="1400" dirty="0"/>
          </a:p>
        </p:txBody>
      </p:sp>
      <p:sp>
        <p:nvSpPr>
          <p:cNvPr id="13" name="Text 8"/>
          <p:cNvSpPr/>
          <p:nvPr/>
        </p:nvSpPr>
        <p:spPr>
          <a:xfrm>
            <a:off x="5012820" y="2431666"/>
            <a:ext cx="3559680" cy="480027"/>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04787F"/>
                </a:solidFill>
                <a:latin typeface="Kanit Bold" pitchFamily="34" charset="0"/>
                <a:ea typeface="Kanit Bold" pitchFamily="34" charset="-122"/>
                <a:cs typeface="Kanit Bold" pitchFamily="34" charset="-120"/>
              </a:rPr>
              <a:t>AI-ready data</a:t>
            </a:r>
            <a:r>
              <a:rPr lang="en-US" sz="1250" dirty="0">
                <a:solidFill>
                  <a:srgbClr val="333333"/>
                </a:solidFill>
                <a:latin typeface="Kanit" pitchFamily="34" charset="0"/>
                <a:ea typeface="Kanit" pitchFamily="34" charset="-122"/>
                <a:cs typeface="Kanit" pitchFamily="34" charset="-120"/>
              </a:rPr>
              <a:t> — consistent inputs that AI can </a:t>
            </a:r>
            <a:r>
              <a:rPr lang="en-US" sz="1250" dirty="0">
                <a:solidFill>
                  <a:srgbClr val="333333"/>
                </a:solidFill>
                <a:latin typeface="Kanit" pitchFamily="34" charset="0"/>
                <a:ea typeface="Kanit" pitchFamily="34" charset="-122"/>
                <a:cs typeface="Kanit" pitchFamily="34" charset="-120"/>
              </a:rPr>
              <a:t>reliably analyse</a:t>
            </a:r>
            <a:endParaRPr lang="en-US" sz="1200" dirty="0"/>
          </a:p>
        </p:txBody>
      </p:sp>
      <p:sp>
        <p:nvSpPr>
          <p:cNvPr id="14" name="Text 9"/>
          <p:cNvSpPr/>
          <p:nvPr/>
        </p:nvSpPr>
        <p:spPr>
          <a:xfrm>
            <a:off x="571500" y="3111717"/>
            <a:ext cx="11220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FF5800"/>
                </a:solidFill>
                <a:latin typeface="Kanit" pitchFamily="34" charset="0"/>
                <a:ea typeface="Kanit" pitchFamily="34" charset="-122"/>
                <a:cs typeface="Kanit" pitchFamily="34" charset="-120"/>
              </a:rPr>
              <a:t>■</a:t>
            </a:r>
            <a:endParaRPr lang="en-US" sz="1400" dirty="0"/>
          </a:p>
        </p:txBody>
      </p:sp>
      <p:sp>
        <p:nvSpPr>
          <p:cNvPr id="15" name="Text 10"/>
          <p:cNvSpPr/>
          <p:nvPr/>
        </p:nvSpPr>
        <p:spPr>
          <a:xfrm>
            <a:off x="798007" y="3111717"/>
            <a:ext cx="3559680" cy="480027"/>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04787F"/>
                </a:solidFill>
                <a:latin typeface="Kanit Bold" pitchFamily="34" charset="0"/>
                <a:ea typeface="Kanit Bold" pitchFamily="34" charset="-122"/>
                <a:cs typeface="Kanit Bold" pitchFamily="34" charset="-120"/>
              </a:rPr>
              <a:t>Pattern recognition</a:t>
            </a:r>
            <a:r>
              <a:rPr lang="en-US" sz="1250" dirty="0">
                <a:solidFill>
                  <a:srgbClr val="333333"/>
                </a:solidFill>
                <a:latin typeface="Kanit" pitchFamily="34" charset="0"/>
                <a:ea typeface="Kanit" pitchFamily="34" charset="-122"/>
                <a:cs typeface="Kanit" pitchFamily="34" charset="-120"/>
              </a:rPr>
              <a:t> — what types of activity </a:t>
            </a:r>
            <a:r>
              <a:rPr lang="en-US" sz="1250" dirty="0">
                <a:solidFill>
                  <a:srgbClr val="333333"/>
                </a:solidFill>
                <a:latin typeface="Kanit" pitchFamily="34" charset="0"/>
                <a:ea typeface="Kanit" pitchFamily="34" charset="-122"/>
                <a:cs typeface="Kanit" pitchFamily="34" charset="-120"/>
              </a:rPr>
              <a:t>consistently drive outcomes</a:t>
            </a:r>
            <a:endParaRPr lang="en-US" sz="1200" dirty="0"/>
          </a:p>
        </p:txBody>
      </p:sp>
      <p:sp>
        <p:nvSpPr>
          <p:cNvPr id="16" name="Text 11"/>
          <p:cNvSpPr/>
          <p:nvPr/>
        </p:nvSpPr>
        <p:spPr>
          <a:xfrm>
            <a:off x="4786313" y="3111717"/>
            <a:ext cx="11220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FF5800"/>
                </a:solidFill>
                <a:latin typeface="Kanit" pitchFamily="34" charset="0"/>
                <a:ea typeface="Kanit" pitchFamily="34" charset="-122"/>
                <a:cs typeface="Kanit" pitchFamily="34" charset="-120"/>
              </a:rPr>
              <a:t>■</a:t>
            </a:r>
            <a:endParaRPr lang="en-US" sz="1400" dirty="0"/>
          </a:p>
        </p:txBody>
      </p:sp>
      <p:sp>
        <p:nvSpPr>
          <p:cNvPr id="17" name="Text 12"/>
          <p:cNvSpPr/>
          <p:nvPr/>
        </p:nvSpPr>
        <p:spPr>
          <a:xfrm>
            <a:off x="5012820" y="3111717"/>
            <a:ext cx="3559680" cy="480027"/>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04787F"/>
                </a:solidFill>
                <a:latin typeface="Kanit Bold" pitchFamily="34" charset="0"/>
                <a:ea typeface="Kanit Bold" pitchFamily="34" charset="-122"/>
                <a:cs typeface="Kanit Bold" pitchFamily="34" charset="-120"/>
              </a:rPr>
              <a:t>Cross-market consistency</a:t>
            </a:r>
            <a:r>
              <a:rPr lang="en-US" sz="1250" dirty="0">
                <a:solidFill>
                  <a:srgbClr val="333333"/>
                </a:solidFill>
                <a:latin typeface="Kanit" pitchFamily="34" charset="0"/>
                <a:ea typeface="Kanit" pitchFamily="34" charset="-122"/>
                <a:cs typeface="Kanit" pitchFamily="34" charset="-120"/>
              </a:rPr>
              <a:t> — comparable </a:t>
            </a:r>
            <a:r>
              <a:rPr lang="en-US" sz="1250" dirty="0">
                <a:solidFill>
                  <a:srgbClr val="333333"/>
                </a:solidFill>
                <a:latin typeface="Kanit" pitchFamily="34" charset="0"/>
                <a:ea typeface="Kanit" pitchFamily="34" charset="-122"/>
                <a:cs typeface="Kanit" pitchFamily="34" charset="-120"/>
              </a:rPr>
              <a:t>data across geographies and agencies</a:t>
            </a:r>
            <a:endParaRPr lang="en-US" sz="1200" dirty="0"/>
          </a:p>
        </p:txBody>
      </p:sp>
      <p:sp>
        <p:nvSpPr>
          <p:cNvPr id="18" name="Text 13"/>
          <p:cNvSpPr/>
          <p:nvPr/>
        </p:nvSpPr>
        <p:spPr>
          <a:xfrm>
            <a:off x="1371600" y="3877494"/>
            <a:ext cx="6400800" cy="512564"/>
          </a:xfrm>
          <a:prstGeom prst="rect">
            <a:avLst/>
          </a:prstGeom>
          <a:noFill/>
          <a:ln/>
        </p:spPr>
        <p:txBody>
          <a:bodyPr wrap="square" lIns="0" tIns="212598" rIns="0" bIns="0" rtlCol="0" anchor="t">
            <a:spAutoFit/>
          </a:bodyPr>
          <a:lstStyle/>
          <a:p>
            <a:pPr algn="ctr" indent="0" marL="0">
              <a:buNone/>
            </a:pPr>
            <a:r>
              <a:rPr lang="en-US" sz="1600" i="1" dirty="0">
                <a:solidFill>
                  <a:srgbClr val="000000"/>
                </a:solidFill>
                <a:latin typeface="Kanit Medium" pitchFamily="34" charset="0"/>
                <a:ea typeface="Kanit Medium" pitchFamily="34" charset="-122"/>
                <a:cs typeface="Kanit Medium" pitchFamily="34" charset="-120"/>
              </a:rPr>
              <a:t>"Without consistency, every campaign becomes an island."</a:t>
            </a:r>
            <a:endParaRPr lang="en-US" sz="1600" dirty="0"/>
          </a:p>
        </p:txBody>
      </p:sp>
      <p:pic>
        <p:nvPicPr>
          <p:cNvPr id="19"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543159"/>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428625"/>
            <a:ext cx="6858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000000"/>
                </a:solidFill>
                <a:latin typeface="Kanit Bold" pitchFamily="34" charset="0"/>
                <a:ea typeface="Kanit Bold" pitchFamily="34" charset="-122"/>
                <a:cs typeface="Kanit Bold" pitchFamily="34" charset="-120"/>
              </a:rPr>
              <a:t>THE SAME STRUCTURE WORKS ACROSS ALL PR DISCIPLINES</a:t>
            </a:r>
            <a:endParaRPr lang="en-US" sz="2450" dirty="0"/>
          </a:p>
        </p:txBody>
      </p:sp>
      <p:sp>
        <p:nvSpPr>
          <p:cNvPr id="6" name="Shape 1"/>
          <p:cNvSpPr/>
          <p:nvPr/>
        </p:nvSpPr>
        <p:spPr>
          <a:xfrm>
            <a:off x="971550" y="1537302"/>
            <a:ext cx="7200900" cy="2578894"/>
          </a:xfrm>
          <a:prstGeom prst="rect">
            <a:avLst/>
          </a:prstGeom>
          <a:solidFill>
            <a:srgbClr val="FFFFFF"/>
          </a:solidFill>
          <a:ln w="18288">
            <a:solidFill>
              <a:srgbClr val="04787F"/>
            </a:solidFill>
            <a:prstDash val="solid"/>
          </a:ln>
        </p:spPr>
      </p:sp>
      <p:sp>
        <p:nvSpPr>
          <p:cNvPr id="7" name="Shape 2"/>
          <p:cNvSpPr/>
          <p:nvPr/>
        </p:nvSpPr>
        <p:spPr>
          <a:xfrm>
            <a:off x="975122" y="1540873"/>
            <a:ext cx="1798439" cy="478631"/>
          </a:xfrm>
          <a:prstGeom prst="rect">
            <a:avLst/>
          </a:prstGeom>
          <a:solidFill>
            <a:srgbClr val="04787F"/>
          </a:solidFill>
          <a:ln w="9144">
            <a:solidFill>
              <a:srgbClr val="04787F"/>
            </a:solidFill>
            <a:prstDash val="solid"/>
          </a:ln>
        </p:spPr>
      </p:sp>
      <p:sp>
        <p:nvSpPr>
          <p:cNvPr id="8" name="Text 3"/>
          <p:cNvSpPr/>
          <p:nvPr/>
        </p:nvSpPr>
        <p:spPr>
          <a:xfrm>
            <a:off x="975122" y="1540873"/>
            <a:ext cx="1798439" cy="478631"/>
          </a:xfrm>
          <a:prstGeom prst="rect">
            <a:avLst/>
          </a:prstGeom>
          <a:noFill/>
          <a:ln/>
        </p:spPr>
        <p:txBody>
          <a:bodyPr wrap="square" lIns="170053" tIns="127508" rIns="170053" bIns="127508" rtlCol="0" anchor="ctr">
            <a:spAutoFit/>
          </a:bodyPr>
          <a:lstStyle/>
          <a:p>
            <a:pPr algn="l" indent="0" marL="0">
              <a:buNone/>
            </a:pPr>
            <a:r>
              <a:rPr lang="en-US" sz="1250" dirty="0">
                <a:solidFill>
                  <a:srgbClr val="FFFFFF"/>
                </a:solidFill>
                <a:latin typeface="Kanit Medium" pitchFamily="34" charset="0"/>
                <a:ea typeface="Kanit Medium" pitchFamily="34" charset="-122"/>
                <a:cs typeface="Kanit Medium" pitchFamily="34" charset="-120"/>
              </a:rPr>
              <a:t>PR Discipline</a:t>
            </a:r>
            <a:endParaRPr lang="en-US" sz="1250" dirty="0"/>
          </a:p>
        </p:txBody>
      </p:sp>
      <p:sp>
        <p:nvSpPr>
          <p:cNvPr id="9" name="Shape 4"/>
          <p:cNvSpPr/>
          <p:nvPr/>
        </p:nvSpPr>
        <p:spPr>
          <a:xfrm>
            <a:off x="2773561" y="1540873"/>
            <a:ext cx="2158110" cy="478631"/>
          </a:xfrm>
          <a:prstGeom prst="rect">
            <a:avLst/>
          </a:prstGeom>
          <a:solidFill>
            <a:srgbClr val="04787F"/>
          </a:solidFill>
          <a:ln w="9144">
            <a:solidFill>
              <a:srgbClr val="04787F"/>
            </a:solidFill>
            <a:prstDash val="solid"/>
          </a:ln>
        </p:spPr>
      </p:sp>
      <p:sp>
        <p:nvSpPr>
          <p:cNvPr id="10" name="Text 5"/>
          <p:cNvSpPr/>
          <p:nvPr/>
        </p:nvSpPr>
        <p:spPr>
          <a:xfrm>
            <a:off x="2773561" y="1540873"/>
            <a:ext cx="2158110" cy="478631"/>
          </a:xfrm>
          <a:prstGeom prst="rect">
            <a:avLst/>
          </a:prstGeom>
          <a:noFill/>
          <a:ln/>
        </p:spPr>
        <p:txBody>
          <a:bodyPr wrap="square" lIns="170053" tIns="127508" rIns="170053" bIns="127508" rtlCol="0" anchor="ctr">
            <a:spAutoFit/>
          </a:bodyPr>
          <a:lstStyle/>
          <a:p>
            <a:pPr algn="l" indent="0" marL="0">
              <a:buNone/>
            </a:pPr>
            <a:r>
              <a:rPr lang="en-US" sz="1250" dirty="0">
                <a:solidFill>
                  <a:srgbClr val="FFFFFF"/>
                </a:solidFill>
                <a:latin typeface="Kanit Medium" pitchFamily="34" charset="0"/>
                <a:ea typeface="Kanit Medium" pitchFamily="34" charset="-122"/>
                <a:cs typeface="Kanit Medium" pitchFamily="34" charset="-120"/>
              </a:rPr>
              <a:t>Campaign Objective</a:t>
            </a:r>
            <a:endParaRPr lang="en-US" sz="1250" dirty="0"/>
          </a:p>
        </p:txBody>
      </p:sp>
      <p:sp>
        <p:nvSpPr>
          <p:cNvPr id="11" name="Shape 6"/>
          <p:cNvSpPr/>
          <p:nvPr/>
        </p:nvSpPr>
        <p:spPr>
          <a:xfrm>
            <a:off x="4931671" y="1540873"/>
            <a:ext cx="3237207" cy="478631"/>
          </a:xfrm>
          <a:prstGeom prst="rect">
            <a:avLst/>
          </a:prstGeom>
          <a:solidFill>
            <a:srgbClr val="04787F"/>
          </a:solidFill>
          <a:ln w="9144">
            <a:solidFill>
              <a:srgbClr val="04787F"/>
            </a:solidFill>
            <a:prstDash val="solid"/>
          </a:ln>
        </p:spPr>
      </p:sp>
      <p:sp>
        <p:nvSpPr>
          <p:cNvPr id="12" name="Text 7"/>
          <p:cNvSpPr/>
          <p:nvPr/>
        </p:nvSpPr>
        <p:spPr>
          <a:xfrm>
            <a:off x="4931671" y="1540873"/>
            <a:ext cx="3237207" cy="478631"/>
          </a:xfrm>
          <a:prstGeom prst="rect">
            <a:avLst/>
          </a:prstGeom>
          <a:noFill/>
          <a:ln/>
        </p:spPr>
        <p:txBody>
          <a:bodyPr wrap="square" lIns="170053" tIns="127508" rIns="170053" bIns="127508" rtlCol="0" anchor="ctr">
            <a:spAutoFit/>
          </a:bodyPr>
          <a:lstStyle/>
          <a:p>
            <a:pPr algn="l" indent="0" marL="0">
              <a:buNone/>
            </a:pPr>
            <a:r>
              <a:rPr lang="en-US" sz="1250" dirty="0">
                <a:solidFill>
                  <a:srgbClr val="FFFFFF"/>
                </a:solidFill>
                <a:latin typeface="Kanit Medium" pitchFamily="34" charset="0"/>
                <a:ea typeface="Kanit Medium" pitchFamily="34" charset="-122"/>
                <a:cs typeface="Kanit Medium" pitchFamily="34" charset="-120"/>
              </a:rPr>
              <a:t>Fixed Structure Underneath</a:t>
            </a:r>
            <a:endParaRPr lang="en-US" sz="1250" dirty="0"/>
          </a:p>
        </p:txBody>
      </p:sp>
      <p:sp>
        <p:nvSpPr>
          <p:cNvPr id="13" name="Text 8"/>
          <p:cNvSpPr/>
          <p:nvPr/>
        </p:nvSpPr>
        <p:spPr>
          <a:xfrm>
            <a:off x="975122" y="2012361"/>
            <a:ext cx="1798439" cy="692944"/>
          </a:xfrm>
          <a:prstGeom prst="rect">
            <a:avLst/>
          </a:prstGeom>
          <a:noFill/>
          <a:ln/>
        </p:spPr>
        <p:txBody>
          <a:bodyPr wrap="square" lIns="170053" tIns="127508" rIns="170053" bIns="127508" rtlCol="0" anchor="ctr">
            <a:spAutoFit/>
          </a:bodyPr>
          <a:lstStyle/>
          <a:p>
            <a:pPr algn="l" indent="0" marL="0">
              <a:buNone/>
            </a:pPr>
            <a:r>
              <a:rPr lang="en-US" sz="1100" b="1" dirty="0">
                <a:solidFill>
                  <a:srgbClr val="333333"/>
                </a:solidFill>
                <a:latin typeface="Kanit Bold" pitchFamily="34" charset="0"/>
                <a:ea typeface="Kanit Bold" pitchFamily="34" charset="-122"/>
                <a:cs typeface="Kanit Bold" pitchFamily="34" charset="-120"/>
              </a:rPr>
              <a:t>Consumer PR</a:t>
            </a:r>
            <a:endParaRPr lang="en-US" sz="1100" dirty="0"/>
          </a:p>
        </p:txBody>
      </p:sp>
      <p:sp>
        <p:nvSpPr>
          <p:cNvPr id="14" name="Text 9"/>
          <p:cNvSpPr/>
          <p:nvPr/>
        </p:nvSpPr>
        <p:spPr>
          <a:xfrm>
            <a:off x="2773561" y="2012361"/>
            <a:ext cx="2158110" cy="692944"/>
          </a:xfrm>
          <a:prstGeom prst="rect">
            <a:avLst/>
          </a:prstGeom>
          <a:noFill/>
          <a:ln/>
        </p:spPr>
        <p:txBody>
          <a:bodyPr wrap="square" lIns="170053" tIns="127508" rIns="170053" bIns="127508" rtlCol="0" anchor="ctr">
            <a:spAutoFit/>
          </a:bodyPr>
          <a:lstStyle/>
          <a:p>
            <a:pPr algn="l" indent="0" marL="0">
              <a:buNone/>
            </a:pPr>
            <a:r>
              <a:rPr lang="en-US" sz="1150" i="1" dirty="0">
                <a:solidFill>
                  <a:srgbClr val="333333"/>
                </a:solidFill>
                <a:latin typeface="Kanit" pitchFamily="34" charset="0"/>
                <a:ea typeface="Kanit" pitchFamily="34" charset="-122"/>
                <a:cs typeface="Kanit" pitchFamily="34" charset="-120"/>
              </a:rPr>
              <a:t>Brand awareness</a:t>
            </a:r>
            <a:endParaRPr lang="en-US" sz="1150" dirty="0"/>
          </a:p>
        </p:txBody>
      </p:sp>
      <p:sp>
        <p:nvSpPr>
          <p:cNvPr id="15" name="Text 10"/>
          <p:cNvSpPr/>
          <p:nvPr/>
        </p:nvSpPr>
        <p:spPr>
          <a:xfrm>
            <a:off x="4931671" y="2012361"/>
            <a:ext cx="3237207" cy="692944"/>
          </a:xfrm>
          <a:prstGeom prst="rect">
            <a:avLst/>
          </a:prstGeom>
          <a:noFill/>
          <a:ln/>
        </p:spPr>
        <p:txBody>
          <a:bodyPr wrap="square" lIns="170053" tIns="127508" rIns="170053" bIns="127508" rtlCol="0" anchor="ctr">
            <a:spAutoFit/>
          </a:bodyPr>
          <a:lstStyle/>
          <a:p>
            <a:pPr algn="l" indent="0" marL="0">
              <a:buNone/>
            </a:pPr>
            <a:r>
              <a:rPr lang="en-US" sz="1150" dirty="0">
                <a:solidFill>
                  <a:srgbClr val="FF5800"/>
                </a:solidFill>
                <a:latin typeface="Kanit Medium" pitchFamily="34" charset="0"/>
                <a:ea typeface="Kanit Medium" pitchFamily="34" charset="-122"/>
                <a:cs typeface="Kanit Medium" pitchFamily="34" charset="-120"/>
              </a:rPr>
              <a:t>Activity · Format · Sentiment · Prominence</a:t>
            </a:r>
            <a:endParaRPr lang="en-US" sz="1150" dirty="0"/>
          </a:p>
        </p:txBody>
      </p:sp>
      <p:sp>
        <p:nvSpPr>
          <p:cNvPr id="16" name="Shape 11"/>
          <p:cNvSpPr/>
          <p:nvPr/>
        </p:nvSpPr>
        <p:spPr>
          <a:xfrm>
            <a:off x="975122" y="2705305"/>
            <a:ext cx="7193756" cy="692944"/>
          </a:xfrm>
          <a:prstGeom prst="rect">
            <a:avLst/>
          </a:prstGeom>
          <a:solidFill>
            <a:srgbClr val="F9F9F9"/>
          </a:solidFill>
          <a:ln/>
        </p:spPr>
      </p:sp>
      <p:sp>
        <p:nvSpPr>
          <p:cNvPr id="17" name="Text 12"/>
          <p:cNvSpPr/>
          <p:nvPr/>
        </p:nvSpPr>
        <p:spPr>
          <a:xfrm>
            <a:off x="975122" y="2705305"/>
            <a:ext cx="1798439" cy="692944"/>
          </a:xfrm>
          <a:prstGeom prst="rect">
            <a:avLst/>
          </a:prstGeom>
          <a:noFill/>
          <a:ln/>
        </p:spPr>
        <p:txBody>
          <a:bodyPr wrap="square" lIns="170053" tIns="127508" rIns="170053" bIns="127508" rtlCol="0" anchor="ctr">
            <a:spAutoFit/>
          </a:bodyPr>
          <a:lstStyle/>
          <a:p>
            <a:pPr algn="l" indent="0" marL="0">
              <a:buNone/>
            </a:pPr>
            <a:r>
              <a:rPr lang="en-US" sz="1100" b="1" dirty="0">
                <a:solidFill>
                  <a:srgbClr val="333333"/>
                </a:solidFill>
                <a:latin typeface="Kanit Bold" pitchFamily="34" charset="0"/>
                <a:ea typeface="Kanit Bold" pitchFamily="34" charset="-122"/>
                <a:cs typeface="Kanit Bold" pitchFamily="34" charset="-120"/>
              </a:rPr>
              <a:t>Corporate PR</a:t>
            </a:r>
            <a:endParaRPr lang="en-US" sz="1100" dirty="0"/>
          </a:p>
        </p:txBody>
      </p:sp>
      <p:sp>
        <p:nvSpPr>
          <p:cNvPr id="18" name="Text 13"/>
          <p:cNvSpPr/>
          <p:nvPr/>
        </p:nvSpPr>
        <p:spPr>
          <a:xfrm>
            <a:off x="2773561" y="2705305"/>
            <a:ext cx="2158110" cy="692944"/>
          </a:xfrm>
          <a:prstGeom prst="rect">
            <a:avLst/>
          </a:prstGeom>
          <a:noFill/>
          <a:ln/>
        </p:spPr>
        <p:txBody>
          <a:bodyPr wrap="square" lIns="170053" tIns="127508" rIns="170053" bIns="127508" rtlCol="0" anchor="ctr">
            <a:spAutoFit/>
          </a:bodyPr>
          <a:lstStyle/>
          <a:p>
            <a:pPr algn="l" indent="0" marL="0">
              <a:buNone/>
            </a:pPr>
            <a:r>
              <a:rPr lang="en-US" sz="1150" i="1" dirty="0">
                <a:solidFill>
                  <a:srgbClr val="333333"/>
                </a:solidFill>
                <a:latin typeface="Kanit" pitchFamily="34" charset="0"/>
                <a:ea typeface="Kanit" pitchFamily="34" charset="-122"/>
                <a:cs typeface="Kanit" pitchFamily="34" charset="-120"/>
              </a:rPr>
              <a:t>Stakeholder confidence</a:t>
            </a:r>
            <a:endParaRPr lang="en-US" sz="1150" dirty="0"/>
          </a:p>
        </p:txBody>
      </p:sp>
      <p:sp>
        <p:nvSpPr>
          <p:cNvPr id="19" name="Text 14"/>
          <p:cNvSpPr/>
          <p:nvPr/>
        </p:nvSpPr>
        <p:spPr>
          <a:xfrm>
            <a:off x="4931671" y="2705305"/>
            <a:ext cx="3237207" cy="692944"/>
          </a:xfrm>
          <a:prstGeom prst="rect">
            <a:avLst/>
          </a:prstGeom>
          <a:noFill/>
          <a:ln/>
        </p:spPr>
        <p:txBody>
          <a:bodyPr wrap="square" lIns="170053" tIns="127508" rIns="170053" bIns="127508" rtlCol="0" anchor="ctr">
            <a:spAutoFit/>
          </a:bodyPr>
          <a:lstStyle/>
          <a:p>
            <a:pPr algn="l" indent="0" marL="0">
              <a:buNone/>
            </a:pPr>
            <a:r>
              <a:rPr lang="en-US" sz="1150" dirty="0">
                <a:solidFill>
                  <a:srgbClr val="FF5800"/>
                </a:solidFill>
                <a:latin typeface="Kanit Medium" pitchFamily="34" charset="0"/>
                <a:ea typeface="Kanit Medium" pitchFamily="34" charset="-122"/>
                <a:cs typeface="Kanit Medium" pitchFamily="34" charset="-120"/>
              </a:rPr>
              <a:t>Activity · Format · Sentiment · Prominence</a:t>
            </a:r>
            <a:endParaRPr lang="en-US" sz="1150" dirty="0"/>
          </a:p>
        </p:txBody>
      </p:sp>
      <p:sp>
        <p:nvSpPr>
          <p:cNvPr id="20" name="Text 15"/>
          <p:cNvSpPr/>
          <p:nvPr/>
        </p:nvSpPr>
        <p:spPr>
          <a:xfrm>
            <a:off x="975122" y="3398248"/>
            <a:ext cx="1798439" cy="692944"/>
          </a:xfrm>
          <a:prstGeom prst="rect">
            <a:avLst/>
          </a:prstGeom>
          <a:noFill/>
          <a:ln/>
        </p:spPr>
        <p:txBody>
          <a:bodyPr wrap="square" lIns="170053" tIns="127508" rIns="170053" bIns="127508" rtlCol="0" anchor="ctr">
            <a:spAutoFit/>
          </a:bodyPr>
          <a:lstStyle/>
          <a:p>
            <a:pPr algn="l" indent="0" marL="0">
              <a:buNone/>
            </a:pPr>
            <a:r>
              <a:rPr lang="en-US" sz="1100" b="1" dirty="0">
                <a:solidFill>
                  <a:srgbClr val="333333"/>
                </a:solidFill>
                <a:latin typeface="Kanit Bold" pitchFamily="34" charset="0"/>
                <a:ea typeface="Kanit Bold" pitchFamily="34" charset="-122"/>
                <a:cs typeface="Kanit Bold" pitchFamily="34" charset="-120"/>
              </a:rPr>
              <a:t>Crisis PR</a:t>
            </a:r>
            <a:endParaRPr lang="en-US" sz="1100" dirty="0"/>
          </a:p>
        </p:txBody>
      </p:sp>
      <p:sp>
        <p:nvSpPr>
          <p:cNvPr id="21" name="Text 16"/>
          <p:cNvSpPr/>
          <p:nvPr/>
        </p:nvSpPr>
        <p:spPr>
          <a:xfrm>
            <a:off x="2773561" y="3398248"/>
            <a:ext cx="2158110" cy="692944"/>
          </a:xfrm>
          <a:prstGeom prst="rect">
            <a:avLst/>
          </a:prstGeom>
          <a:noFill/>
          <a:ln/>
        </p:spPr>
        <p:txBody>
          <a:bodyPr wrap="square" lIns="170053" tIns="127508" rIns="170053" bIns="127508" rtlCol="0" anchor="ctr">
            <a:spAutoFit/>
          </a:bodyPr>
          <a:lstStyle/>
          <a:p>
            <a:pPr algn="l" indent="0" marL="0">
              <a:buNone/>
            </a:pPr>
            <a:r>
              <a:rPr lang="en-US" sz="1150" i="1" dirty="0">
                <a:solidFill>
                  <a:srgbClr val="333333"/>
                </a:solidFill>
                <a:latin typeface="Kanit" pitchFamily="34" charset="0"/>
                <a:ea typeface="Kanit" pitchFamily="34" charset="-122"/>
                <a:cs typeface="Kanit" pitchFamily="34" charset="-120"/>
              </a:rPr>
              <a:t>Narrative stabilisation</a:t>
            </a:r>
            <a:endParaRPr lang="en-US" sz="1150" dirty="0"/>
          </a:p>
        </p:txBody>
      </p:sp>
      <p:sp>
        <p:nvSpPr>
          <p:cNvPr id="22" name="Text 17"/>
          <p:cNvSpPr/>
          <p:nvPr/>
        </p:nvSpPr>
        <p:spPr>
          <a:xfrm>
            <a:off x="4931671" y="3398248"/>
            <a:ext cx="3237207" cy="692944"/>
          </a:xfrm>
          <a:prstGeom prst="rect">
            <a:avLst/>
          </a:prstGeom>
          <a:noFill/>
          <a:ln/>
        </p:spPr>
        <p:txBody>
          <a:bodyPr wrap="square" lIns="170053" tIns="127508" rIns="170053" bIns="127508" rtlCol="0" anchor="ctr">
            <a:spAutoFit/>
          </a:bodyPr>
          <a:lstStyle/>
          <a:p>
            <a:pPr algn="l" indent="0" marL="0">
              <a:buNone/>
            </a:pPr>
            <a:r>
              <a:rPr lang="en-US" sz="1150" dirty="0">
                <a:solidFill>
                  <a:srgbClr val="FF5800"/>
                </a:solidFill>
                <a:latin typeface="Kanit Medium" pitchFamily="34" charset="0"/>
                <a:ea typeface="Kanit Medium" pitchFamily="34" charset="-122"/>
                <a:cs typeface="Kanit Medium" pitchFamily="34" charset="-120"/>
              </a:rPr>
              <a:t>Activity · Format · Sentiment · Prominence</a:t>
            </a:r>
            <a:endParaRPr lang="en-US" sz="1150" dirty="0"/>
          </a:p>
        </p:txBody>
      </p:sp>
      <p:sp>
        <p:nvSpPr>
          <p:cNvPr id="23" name="Text 18"/>
          <p:cNvSpPr/>
          <p:nvPr/>
        </p:nvSpPr>
        <p:spPr>
          <a:xfrm>
            <a:off x="1828800" y="4380514"/>
            <a:ext cx="5486400" cy="426839"/>
          </a:xfrm>
          <a:prstGeom prst="rect">
            <a:avLst/>
          </a:prstGeom>
          <a:noFill/>
          <a:ln/>
        </p:spPr>
        <p:txBody>
          <a:bodyPr wrap="square" lIns="0" tIns="0" rIns="0" bIns="0" rtlCol="0" anchor="t">
            <a:spAutoFit/>
          </a:bodyPr>
          <a:lstStyle/>
          <a:p>
            <a:pPr algn="ctr" indent="0" marL="0">
              <a:buNone/>
            </a:pPr>
            <a:r>
              <a:rPr lang="en-US" sz="2000" b="1" dirty="0">
                <a:solidFill>
                  <a:srgbClr val="04787F"/>
                </a:solidFill>
                <a:latin typeface="Kanit Bold" pitchFamily="34" charset="0"/>
                <a:ea typeface="Kanit Bold" pitchFamily="34" charset="-122"/>
                <a:cs typeface="Kanit Bold" pitchFamily="34" charset="-120"/>
              </a:rPr>
              <a:t>SAME STRUCTURE. DIFFERENT OUTCOMES.</a:t>
            </a:r>
            <a:endParaRPr lang="en-US" sz="2000" dirty="0"/>
          </a:p>
        </p:txBody>
      </p:sp>
      <p:pic>
        <p:nvPicPr>
          <p:cNvPr id="24" name="Image 2" descr="preencoded.png">    </p:cNvPr>
          <p:cNvPicPr>
            <a:picLocks noChangeAspect="1"/>
          </p:cNvPicPr>
          <p:nvPr/>
        </p:nvPicPr>
        <p:blipFill>
          <a:blip r:embed="rId3"/>
          <a:stretch>
            <a:fillRect/>
          </a:stretch>
        </p:blipFill>
        <p:spPr>
          <a:xfrm>
            <a:off x="0" y="4907366"/>
            <a:ext cx="9144000" cy="61436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4" name="Shape 0"/>
          <p:cNvSpPr/>
          <p:nvPr/>
        </p:nvSpPr>
        <p:spPr>
          <a:xfrm>
            <a:off x="3151287" y="1161752"/>
            <a:ext cx="2109192" cy="305395"/>
          </a:xfrm>
          <a:prstGeom prst="rect">
            <a:avLst/>
          </a:prstGeom>
          <a:solidFill>
            <a:srgbClr val="04787F"/>
          </a:solidFill>
          <a:ln/>
        </p:spPr>
      </p:sp>
      <p:sp>
        <p:nvSpPr>
          <p:cNvPr id="5" name="Text 1"/>
          <p:cNvSpPr/>
          <p:nvPr/>
        </p:nvSpPr>
        <p:spPr>
          <a:xfrm>
            <a:off x="3151287" y="1161752"/>
            <a:ext cx="2109192" cy="305395"/>
          </a:xfrm>
          <a:prstGeom prst="rect">
            <a:avLst/>
          </a:prstGeom>
          <a:noFill/>
          <a:ln/>
        </p:spPr>
        <p:txBody>
          <a:bodyPr wrap="square" lIns="187071" tIns="68072" rIns="187071" bIns="68072" rtlCol="0" anchor="t">
            <a:spAutoFit/>
          </a:bodyPr>
          <a:lstStyle/>
          <a:p>
            <a:pPr algn="l" indent="0" marL="0">
              <a:buNone/>
            </a:pPr>
            <a:r>
              <a:rPr lang="en-US" sz="900" b="1" spc="2" kern="0" dirty="0">
                <a:solidFill>
                  <a:srgbClr val="FFFFFF"/>
                </a:solidFill>
                <a:latin typeface="Kanit Bold" pitchFamily="34" charset="0"/>
                <a:ea typeface="Kanit Bold" pitchFamily="34" charset="-122"/>
                <a:cs typeface="Kanit Bold" pitchFamily="34" charset="-120"/>
              </a:rPr>
              <a:t>REAL-WORLD EXAMPLE</a:t>
            </a:r>
            <a:endParaRPr lang="en-US" sz="900" dirty="0"/>
          </a:p>
        </p:txBody>
      </p:sp>
      <p:sp>
        <p:nvSpPr>
          <p:cNvPr id="6" name="Text 2"/>
          <p:cNvSpPr/>
          <p:nvPr/>
        </p:nvSpPr>
        <p:spPr>
          <a:xfrm>
            <a:off x="5403354" y="1028700"/>
            <a:ext cx="589359" cy="571500"/>
          </a:xfrm>
          <a:prstGeom prst="rect">
            <a:avLst/>
          </a:prstGeom>
          <a:noFill/>
          <a:ln/>
        </p:spPr>
        <p:txBody>
          <a:bodyPr wrap="none" lIns="0" tIns="0" rIns="0" bIns="0" rtlCol="0" anchor="t">
            <a:spAutoFit/>
          </a:bodyPr>
          <a:lstStyle/>
          <a:p>
            <a:pPr algn="l" indent="0" marL="0">
              <a:lnSpc>
                <a:spcPct val="80000"/>
              </a:lnSpc>
              <a:buNone/>
            </a:pPr>
            <a:r>
              <a:rPr lang="en-US" sz="4150" b="1" dirty="0">
                <a:solidFill>
                  <a:srgbClr val="FF5800"/>
                </a:solidFill>
                <a:latin typeface="Kanit Bold" pitchFamily="34" charset="0"/>
                <a:ea typeface="Kanit Bold" pitchFamily="34" charset="-122"/>
                <a:cs typeface="Kanit Bold" pitchFamily="34" charset="-120"/>
              </a:rPr>
              <a:t>01</a:t>
            </a:r>
            <a:endParaRPr lang="en-US" sz="4150" dirty="0"/>
          </a:p>
        </p:txBody>
      </p:sp>
      <p:sp>
        <p:nvSpPr>
          <p:cNvPr id="7" name="Shape 3"/>
          <p:cNvSpPr/>
          <p:nvPr/>
        </p:nvSpPr>
        <p:spPr>
          <a:xfrm>
            <a:off x="1357313" y="1828800"/>
            <a:ext cx="6429375" cy="2286000"/>
          </a:xfrm>
          <a:prstGeom prst="rect">
            <a:avLst/>
          </a:prstGeom>
          <a:solidFill>
            <a:srgbClr val="000000">
              <a:alpha val="0"/>
            </a:srgbClr>
          </a:solidFill>
          <a:ln w="18288">
            <a:solidFill>
              <a:srgbClr val="04787F"/>
            </a:solidFill>
            <a:prstDash val="dash"/>
          </a:ln>
        </p:spPr>
      </p:sp>
      <p:sp>
        <p:nvSpPr>
          <p:cNvPr id="8" name="Text 4"/>
          <p:cNvSpPr/>
          <p:nvPr/>
        </p:nvSpPr>
        <p:spPr>
          <a:xfrm>
            <a:off x="4477345" y="2280642"/>
            <a:ext cx="189309" cy="596503"/>
          </a:xfrm>
          <a:prstGeom prst="rect">
            <a:avLst/>
          </a:prstGeom>
          <a:noFill/>
          <a:ln/>
        </p:spPr>
        <p:txBody>
          <a:bodyPr wrap="none" lIns="0" tIns="0" rIns="0" bIns="0" rtlCol="0" anchor="t">
            <a:spAutoFit/>
          </a:bodyPr>
          <a:lstStyle/>
          <a:p>
            <a:pPr algn="l" indent="0" marL="0">
              <a:buNone/>
            </a:pPr>
            <a:r>
              <a:rPr lang="en-US" sz="3050" dirty="0">
                <a:solidFill>
                  <a:srgbClr val="04787F">
                    <a:alpha val="40000"/>
                  </a:srgbClr>
                </a:solidFill>
                <a:latin typeface="Kanit" pitchFamily="34" charset="0"/>
                <a:ea typeface="Kanit" pitchFamily="34" charset="-122"/>
                <a:cs typeface="Kanit" pitchFamily="34" charset="-120"/>
              </a:rPr>
              <a:t>+</a:t>
            </a:r>
            <a:endParaRPr lang="en-US" sz="3050" dirty="0"/>
          </a:p>
        </p:txBody>
      </p:sp>
      <p:sp>
        <p:nvSpPr>
          <p:cNvPr id="9" name="Text 5"/>
          <p:cNvSpPr/>
          <p:nvPr/>
        </p:nvSpPr>
        <p:spPr>
          <a:xfrm>
            <a:off x="3176290" y="2991445"/>
            <a:ext cx="2791420" cy="342900"/>
          </a:xfrm>
          <a:prstGeom prst="rect">
            <a:avLst/>
          </a:prstGeom>
          <a:noFill/>
          <a:ln/>
        </p:spPr>
        <p:txBody>
          <a:bodyPr wrap="square" lIns="0" tIns="0" rIns="0" bIns="0" rtlCol="0" anchor="t">
            <a:spAutoFit/>
          </a:bodyPr>
          <a:lstStyle/>
          <a:p>
            <a:pPr algn="l" indent="0" marL="0">
              <a:buNone/>
            </a:pPr>
            <a:r>
              <a:rPr lang="en-US" sz="1600" b="1" dirty="0">
                <a:solidFill>
                  <a:srgbClr val="04787F">
                    <a:alpha val="60000"/>
                  </a:srgbClr>
                </a:solidFill>
                <a:latin typeface="Kanit Bold" pitchFamily="34" charset="0"/>
                <a:ea typeface="Kanit Bold" pitchFamily="34" charset="-122"/>
                <a:cs typeface="Kanit Bold" pitchFamily="34" charset="-120"/>
              </a:rPr>
              <a:t>ADD YOUR EXAMPLE HERE</a:t>
            </a:r>
            <a:endParaRPr lang="en-US" sz="1600" dirty="0"/>
          </a:p>
        </p:txBody>
      </p:sp>
      <p:sp>
        <p:nvSpPr>
          <p:cNvPr id="10" name="Text 6"/>
          <p:cNvSpPr/>
          <p:nvPr/>
        </p:nvSpPr>
        <p:spPr>
          <a:xfrm>
            <a:off x="3022699" y="3448645"/>
            <a:ext cx="3098602" cy="214313"/>
          </a:xfrm>
          <a:prstGeom prst="rect">
            <a:avLst/>
          </a:prstGeom>
          <a:noFill/>
          <a:ln/>
        </p:spPr>
        <p:txBody>
          <a:bodyPr wrap="square" lIns="0" tIns="0" rIns="0" bIns="0" rtlCol="0" anchor="t">
            <a:spAutoFit/>
          </a:bodyPr>
          <a:lstStyle/>
          <a:p>
            <a:pPr algn="l" indent="0" marL="0">
              <a:buNone/>
            </a:pPr>
            <a:r>
              <a:rPr lang="en-US" sz="1050" i="1" dirty="0">
                <a:solidFill>
                  <a:srgbClr val="737373"/>
                </a:solidFill>
                <a:latin typeface="Kanit" pitchFamily="34" charset="0"/>
                <a:ea typeface="Kanit" pitchFamily="34" charset="-122"/>
                <a:cs typeface="Kanit" pitchFamily="34" charset="-120"/>
              </a:rPr>
              <a:t>Screenshot, case study, data visual, or live demo</a:t>
            </a:r>
            <a:endParaRPr lang="en-US" sz="1050" dirty="0"/>
          </a:p>
        </p:txBody>
      </p:sp>
      <p:pic>
        <p:nvPicPr>
          <p:cNvPr id="11"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4" name="Shape 0"/>
          <p:cNvSpPr/>
          <p:nvPr/>
        </p:nvSpPr>
        <p:spPr>
          <a:xfrm>
            <a:off x="3106638" y="1161752"/>
            <a:ext cx="2109192" cy="305395"/>
          </a:xfrm>
          <a:prstGeom prst="rect">
            <a:avLst/>
          </a:prstGeom>
          <a:solidFill>
            <a:srgbClr val="FF5800"/>
          </a:solidFill>
          <a:ln/>
        </p:spPr>
      </p:sp>
      <p:sp>
        <p:nvSpPr>
          <p:cNvPr id="5" name="Text 1"/>
          <p:cNvSpPr/>
          <p:nvPr/>
        </p:nvSpPr>
        <p:spPr>
          <a:xfrm>
            <a:off x="3106638" y="1161752"/>
            <a:ext cx="2109192" cy="305395"/>
          </a:xfrm>
          <a:prstGeom prst="rect">
            <a:avLst/>
          </a:prstGeom>
          <a:noFill/>
          <a:ln/>
        </p:spPr>
        <p:txBody>
          <a:bodyPr wrap="square" lIns="187071" tIns="68072" rIns="187071" bIns="68072" rtlCol="0" anchor="t">
            <a:spAutoFit/>
          </a:bodyPr>
          <a:lstStyle/>
          <a:p>
            <a:pPr algn="l" indent="0" marL="0">
              <a:buNone/>
            </a:pPr>
            <a:r>
              <a:rPr lang="en-US" sz="900" b="1" spc="2" kern="0" dirty="0">
                <a:solidFill>
                  <a:srgbClr val="FFFFFF"/>
                </a:solidFill>
                <a:latin typeface="Kanit Bold" pitchFamily="34" charset="0"/>
                <a:ea typeface="Kanit Bold" pitchFamily="34" charset="-122"/>
                <a:cs typeface="Kanit Bold" pitchFamily="34" charset="-120"/>
              </a:rPr>
              <a:t>REAL-WORLD EXAMPLE</a:t>
            </a:r>
            <a:endParaRPr lang="en-US" sz="900" dirty="0"/>
          </a:p>
        </p:txBody>
      </p:sp>
      <p:sp>
        <p:nvSpPr>
          <p:cNvPr id="6" name="Text 2"/>
          <p:cNvSpPr/>
          <p:nvPr/>
        </p:nvSpPr>
        <p:spPr>
          <a:xfrm>
            <a:off x="5358705" y="1028700"/>
            <a:ext cx="678656" cy="571500"/>
          </a:xfrm>
          <a:prstGeom prst="rect">
            <a:avLst/>
          </a:prstGeom>
          <a:noFill/>
          <a:ln/>
        </p:spPr>
        <p:txBody>
          <a:bodyPr wrap="none" lIns="0" tIns="0" rIns="0" bIns="0" rtlCol="0" anchor="t">
            <a:spAutoFit/>
          </a:bodyPr>
          <a:lstStyle/>
          <a:p>
            <a:pPr algn="l" indent="0" marL="0">
              <a:lnSpc>
                <a:spcPct val="80000"/>
              </a:lnSpc>
              <a:buNone/>
            </a:pPr>
            <a:r>
              <a:rPr lang="en-US" sz="4150" b="1" dirty="0">
                <a:solidFill>
                  <a:srgbClr val="04787F"/>
                </a:solidFill>
                <a:latin typeface="Kanit Bold" pitchFamily="34" charset="0"/>
                <a:ea typeface="Kanit Bold" pitchFamily="34" charset="-122"/>
                <a:cs typeface="Kanit Bold" pitchFamily="34" charset="-120"/>
              </a:rPr>
              <a:t>02</a:t>
            </a:r>
            <a:endParaRPr lang="en-US" sz="4150" dirty="0"/>
          </a:p>
        </p:txBody>
      </p:sp>
      <p:sp>
        <p:nvSpPr>
          <p:cNvPr id="7" name="Shape 3"/>
          <p:cNvSpPr/>
          <p:nvPr/>
        </p:nvSpPr>
        <p:spPr>
          <a:xfrm>
            <a:off x="1357313" y="1828800"/>
            <a:ext cx="6429375" cy="2286000"/>
          </a:xfrm>
          <a:prstGeom prst="rect">
            <a:avLst/>
          </a:prstGeom>
          <a:solidFill>
            <a:srgbClr val="000000">
              <a:alpha val="0"/>
            </a:srgbClr>
          </a:solidFill>
          <a:ln w="18288">
            <a:solidFill>
              <a:srgbClr val="FF5800"/>
            </a:solidFill>
            <a:prstDash val="dash"/>
          </a:ln>
        </p:spPr>
      </p:sp>
      <p:sp>
        <p:nvSpPr>
          <p:cNvPr id="8" name="Text 4"/>
          <p:cNvSpPr/>
          <p:nvPr/>
        </p:nvSpPr>
        <p:spPr>
          <a:xfrm>
            <a:off x="4477345" y="2280642"/>
            <a:ext cx="189309" cy="596503"/>
          </a:xfrm>
          <a:prstGeom prst="rect">
            <a:avLst/>
          </a:prstGeom>
          <a:noFill/>
          <a:ln/>
        </p:spPr>
        <p:txBody>
          <a:bodyPr wrap="none" lIns="0" tIns="0" rIns="0" bIns="0" rtlCol="0" anchor="t">
            <a:spAutoFit/>
          </a:bodyPr>
          <a:lstStyle/>
          <a:p>
            <a:pPr algn="l" indent="0" marL="0">
              <a:buNone/>
            </a:pPr>
            <a:r>
              <a:rPr lang="en-US" sz="3050" dirty="0">
                <a:solidFill>
                  <a:srgbClr val="FF5800">
                    <a:alpha val="40000"/>
                  </a:srgbClr>
                </a:solidFill>
                <a:latin typeface="Kanit" pitchFamily="34" charset="0"/>
                <a:ea typeface="Kanit" pitchFamily="34" charset="-122"/>
                <a:cs typeface="Kanit" pitchFamily="34" charset="-120"/>
              </a:rPr>
              <a:t>+</a:t>
            </a:r>
            <a:endParaRPr lang="en-US" sz="3050" dirty="0"/>
          </a:p>
        </p:txBody>
      </p:sp>
      <p:sp>
        <p:nvSpPr>
          <p:cNvPr id="9" name="Text 5"/>
          <p:cNvSpPr/>
          <p:nvPr/>
        </p:nvSpPr>
        <p:spPr>
          <a:xfrm>
            <a:off x="3176290" y="2991445"/>
            <a:ext cx="2791420" cy="342900"/>
          </a:xfrm>
          <a:prstGeom prst="rect">
            <a:avLst/>
          </a:prstGeom>
          <a:noFill/>
          <a:ln/>
        </p:spPr>
        <p:txBody>
          <a:bodyPr wrap="square" lIns="0" tIns="0" rIns="0" bIns="0" rtlCol="0" anchor="t">
            <a:spAutoFit/>
          </a:bodyPr>
          <a:lstStyle/>
          <a:p>
            <a:pPr algn="l" indent="0" marL="0">
              <a:buNone/>
            </a:pPr>
            <a:r>
              <a:rPr lang="en-US" sz="1600" b="1" dirty="0">
                <a:solidFill>
                  <a:srgbClr val="FF5800">
                    <a:alpha val="60000"/>
                  </a:srgbClr>
                </a:solidFill>
                <a:latin typeface="Kanit Bold" pitchFamily="34" charset="0"/>
                <a:ea typeface="Kanit Bold" pitchFamily="34" charset="-122"/>
                <a:cs typeface="Kanit Bold" pitchFamily="34" charset="-120"/>
              </a:rPr>
              <a:t>ADD YOUR EXAMPLE HERE</a:t>
            </a:r>
            <a:endParaRPr lang="en-US" sz="1600" dirty="0"/>
          </a:p>
        </p:txBody>
      </p:sp>
      <p:sp>
        <p:nvSpPr>
          <p:cNvPr id="10" name="Text 6"/>
          <p:cNvSpPr/>
          <p:nvPr/>
        </p:nvSpPr>
        <p:spPr>
          <a:xfrm>
            <a:off x="3022699" y="3448645"/>
            <a:ext cx="3098602" cy="214313"/>
          </a:xfrm>
          <a:prstGeom prst="rect">
            <a:avLst/>
          </a:prstGeom>
          <a:noFill/>
          <a:ln/>
        </p:spPr>
        <p:txBody>
          <a:bodyPr wrap="square" lIns="0" tIns="0" rIns="0" bIns="0" rtlCol="0" anchor="t">
            <a:spAutoFit/>
          </a:bodyPr>
          <a:lstStyle/>
          <a:p>
            <a:pPr algn="l" indent="0" marL="0">
              <a:buNone/>
            </a:pPr>
            <a:r>
              <a:rPr lang="en-US" sz="1050" i="1" dirty="0">
                <a:solidFill>
                  <a:srgbClr val="737373"/>
                </a:solidFill>
                <a:latin typeface="Kanit" pitchFamily="34" charset="0"/>
                <a:ea typeface="Kanit" pitchFamily="34" charset="-122"/>
                <a:cs typeface="Kanit" pitchFamily="34" charset="-120"/>
              </a:rPr>
              <a:t>Screenshot, case study, data visual, or live demo</a:t>
            </a:r>
            <a:endParaRPr lang="en-US" sz="1050" dirty="0"/>
          </a:p>
        </p:txBody>
      </p:sp>
      <p:pic>
        <p:nvPicPr>
          <p:cNvPr id="11"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4" name="Shape 0"/>
          <p:cNvSpPr/>
          <p:nvPr/>
        </p:nvSpPr>
        <p:spPr>
          <a:xfrm>
            <a:off x="3103066" y="1161752"/>
            <a:ext cx="2109192" cy="305395"/>
          </a:xfrm>
          <a:prstGeom prst="rect">
            <a:avLst/>
          </a:prstGeom>
          <a:solidFill>
            <a:srgbClr val="FF5800"/>
          </a:solidFill>
          <a:ln/>
        </p:spPr>
      </p:sp>
      <p:sp>
        <p:nvSpPr>
          <p:cNvPr id="5" name="Text 1"/>
          <p:cNvSpPr/>
          <p:nvPr/>
        </p:nvSpPr>
        <p:spPr>
          <a:xfrm>
            <a:off x="3103066" y="1161752"/>
            <a:ext cx="2109192" cy="305395"/>
          </a:xfrm>
          <a:prstGeom prst="rect">
            <a:avLst/>
          </a:prstGeom>
          <a:noFill/>
          <a:ln/>
        </p:spPr>
        <p:txBody>
          <a:bodyPr wrap="square" lIns="187071" tIns="68072" rIns="187071" bIns="68072" rtlCol="0" anchor="t">
            <a:spAutoFit/>
          </a:bodyPr>
          <a:lstStyle/>
          <a:p>
            <a:pPr algn="l" indent="0" marL="0">
              <a:buNone/>
            </a:pPr>
            <a:r>
              <a:rPr lang="en-US" sz="900" b="1" spc="2" kern="0" dirty="0">
                <a:solidFill>
                  <a:srgbClr val="FFFFFF"/>
                </a:solidFill>
                <a:latin typeface="Kanit Bold" pitchFamily="34" charset="0"/>
                <a:ea typeface="Kanit Bold" pitchFamily="34" charset="-122"/>
                <a:cs typeface="Kanit Bold" pitchFamily="34" charset="-120"/>
              </a:rPr>
              <a:t>REAL-WORLD EXAMPLE</a:t>
            </a:r>
            <a:endParaRPr lang="en-US" sz="900" dirty="0"/>
          </a:p>
        </p:txBody>
      </p:sp>
      <p:sp>
        <p:nvSpPr>
          <p:cNvPr id="6" name="Text 2"/>
          <p:cNvSpPr/>
          <p:nvPr/>
        </p:nvSpPr>
        <p:spPr>
          <a:xfrm>
            <a:off x="5355134" y="1028700"/>
            <a:ext cx="685800" cy="571500"/>
          </a:xfrm>
          <a:prstGeom prst="rect">
            <a:avLst/>
          </a:prstGeom>
          <a:noFill/>
          <a:ln/>
        </p:spPr>
        <p:txBody>
          <a:bodyPr wrap="none" lIns="0" tIns="0" rIns="0" bIns="0" rtlCol="0" anchor="t">
            <a:spAutoFit/>
          </a:bodyPr>
          <a:lstStyle/>
          <a:p>
            <a:pPr algn="l" indent="0" marL="0">
              <a:lnSpc>
                <a:spcPct val="80000"/>
              </a:lnSpc>
              <a:buNone/>
            </a:pPr>
            <a:r>
              <a:rPr lang="en-US" sz="4150" b="1" dirty="0">
                <a:solidFill>
                  <a:srgbClr val="04787F"/>
                </a:solidFill>
                <a:latin typeface="Kanit Bold" pitchFamily="34" charset="0"/>
                <a:ea typeface="Kanit Bold" pitchFamily="34" charset="-122"/>
                <a:cs typeface="Kanit Bold" pitchFamily="34" charset="-120"/>
              </a:rPr>
              <a:t>03</a:t>
            </a:r>
            <a:endParaRPr lang="en-US" sz="4150" dirty="0"/>
          </a:p>
        </p:txBody>
      </p:sp>
      <p:sp>
        <p:nvSpPr>
          <p:cNvPr id="7" name="Shape 3"/>
          <p:cNvSpPr/>
          <p:nvPr/>
        </p:nvSpPr>
        <p:spPr>
          <a:xfrm>
            <a:off x="1357313" y="1828800"/>
            <a:ext cx="6429375" cy="2286000"/>
          </a:xfrm>
          <a:prstGeom prst="rect">
            <a:avLst/>
          </a:prstGeom>
          <a:solidFill>
            <a:srgbClr val="000000">
              <a:alpha val="0"/>
            </a:srgbClr>
          </a:solidFill>
          <a:ln w="18288">
            <a:solidFill>
              <a:srgbClr val="04787F"/>
            </a:solidFill>
            <a:prstDash val="dash"/>
          </a:ln>
        </p:spPr>
      </p:sp>
      <p:sp>
        <p:nvSpPr>
          <p:cNvPr id="8" name="Text 4"/>
          <p:cNvSpPr/>
          <p:nvPr/>
        </p:nvSpPr>
        <p:spPr>
          <a:xfrm>
            <a:off x="4477345" y="2280642"/>
            <a:ext cx="189309" cy="596503"/>
          </a:xfrm>
          <a:prstGeom prst="rect">
            <a:avLst/>
          </a:prstGeom>
          <a:noFill/>
          <a:ln/>
        </p:spPr>
        <p:txBody>
          <a:bodyPr wrap="none" lIns="0" tIns="0" rIns="0" bIns="0" rtlCol="0" anchor="t">
            <a:spAutoFit/>
          </a:bodyPr>
          <a:lstStyle/>
          <a:p>
            <a:pPr algn="l" indent="0" marL="0">
              <a:buNone/>
            </a:pPr>
            <a:r>
              <a:rPr lang="en-US" sz="3050" dirty="0">
                <a:solidFill>
                  <a:srgbClr val="04787F">
                    <a:alpha val="40000"/>
                  </a:srgbClr>
                </a:solidFill>
                <a:latin typeface="Kanit" pitchFamily="34" charset="0"/>
                <a:ea typeface="Kanit" pitchFamily="34" charset="-122"/>
                <a:cs typeface="Kanit" pitchFamily="34" charset="-120"/>
              </a:rPr>
              <a:t>+</a:t>
            </a:r>
            <a:endParaRPr lang="en-US" sz="3050" dirty="0"/>
          </a:p>
        </p:txBody>
      </p:sp>
      <p:sp>
        <p:nvSpPr>
          <p:cNvPr id="9" name="Text 5"/>
          <p:cNvSpPr/>
          <p:nvPr/>
        </p:nvSpPr>
        <p:spPr>
          <a:xfrm>
            <a:off x="3176290" y="2991445"/>
            <a:ext cx="2791420" cy="342900"/>
          </a:xfrm>
          <a:prstGeom prst="rect">
            <a:avLst/>
          </a:prstGeom>
          <a:noFill/>
          <a:ln/>
        </p:spPr>
        <p:txBody>
          <a:bodyPr wrap="square" lIns="0" tIns="0" rIns="0" bIns="0" rtlCol="0" anchor="t">
            <a:spAutoFit/>
          </a:bodyPr>
          <a:lstStyle/>
          <a:p>
            <a:pPr algn="l" indent="0" marL="0">
              <a:buNone/>
            </a:pPr>
            <a:r>
              <a:rPr lang="en-US" sz="1600" b="1" dirty="0">
                <a:solidFill>
                  <a:srgbClr val="04787F">
                    <a:alpha val="60000"/>
                  </a:srgbClr>
                </a:solidFill>
                <a:latin typeface="Kanit Bold" pitchFamily="34" charset="0"/>
                <a:ea typeface="Kanit Bold" pitchFamily="34" charset="-122"/>
                <a:cs typeface="Kanit Bold" pitchFamily="34" charset="-120"/>
              </a:rPr>
              <a:t>ADD YOUR EXAMPLE HERE</a:t>
            </a:r>
            <a:endParaRPr lang="en-US" sz="1600" dirty="0"/>
          </a:p>
        </p:txBody>
      </p:sp>
      <p:sp>
        <p:nvSpPr>
          <p:cNvPr id="10" name="Text 6"/>
          <p:cNvSpPr/>
          <p:nvPr/>
        </p:nvSpPr>
        <p:spPr>
          <a:xfrm>
            <a:off x="3022699" y="3448645"/>
            <a:ext cx="3098602" cy="214313"/>
          </a:xfrm>
          <a:prstGeom prst="rect">
            <a:avLst/>
          </a:prstGeom>
          <a:noFill/>
          <a:ln/>
        </p:spPr>
        <p:txBody>
          <a:bodyPr wrap="square" lIns="0" tIns="0" rIns="0" bIns="0" rtlCol="0" anchor="t">
            <a:spAutoFit/>
          </a:bodyPr>
          <a:lstStyle/>
          <a:p>
            <a:pPr algn="l" indent="0" marL="0">
              <a:buNone/>
            </a:pPr>
            <a:r>
              <a:rPr lang="en-US" sz="1050" i="1" dirty="0">
                <a:solidFill>
                  <a:srgbClr val="737373"/>
                </a:solidFill>
                <a:latin typeface="Kanit" pitchFamily="34" charset="0"/>
                <a:ea typeface="Kanit" pitchFamily="34" charset="-122"/>
                <a:cs typeface="Kanit" pitchFamily="34" charset="-120"/>
              </a:rPr>
              <a:t>Screenshot, case study, data visual, or live demo</a:t>
            </a:r>
            <a:endParaRPr lang="en-US" sz="1050" dirty="0"/>
          </a:p>
        </p:txBody>
      </p:sp>
      <p:pic>
        <p:nvPicPr>
          <p:cNvPr id="11"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714375" y="588857"/>
            <a:ext cx="7000875" cy="891518"/>
          </a:xfrm>
          <a:prstGeom prst="rect">
            <a:avLst/>
          </a:prstGeom>
          <a:noFill/>
          <a:ln/>
        </p:spPr>
        <p:txBody>
          <a:bodyPr wrap="square" lIns="0" tIns="0" rIns="0" bIns="0" rtlCol="0" anchor="t">
            <a:spAutoFit/>
          </a:bodyPr>
          <a:lstStyle/>
          <a:p>
            <a:pPr algn="l" indent="0" marL="0">
              <a:lnSpc>
                <a:spcPct val="96000"/>
              </a:lnSpc>
              <a:buNone/>
            </a:pPr>
            <a:r>
              <a:rPr lang="en-US" sz="2650" b="1" dirty="0">
                <a:solidFill>
                  <a:srgbClr val="000000"/>
                </a:solidFill>
                <a:latin typeface="Kanit Bold" pitchFamily="34" charset="0"/>
                <a:ea typeface="Kanit Bold" pitchFamily="34" charset="-122"/>
                <a:cs typeface="Kanit Bold" pitchFamily="34" charset="-120"/>
              </a:rPr>
              <a:t>THE SYSTEM MUST SCALE ACROSS EVERYDAY PR TEAMS.</a:t>
            </a:r>
            <a:endParaRPr lang="en-US" sz="2650" dirty="0"/>
          </a:p>
        </p:txBody>
      </p:sp>
      <p:sp>
        <p:nvSpPr>
          <p:cNvPr id="6" name="Text 1"/>
          <p:cNvSpPr/>
          <p:nvPr/>
        </p:nvSpPr>
        <p:spPr>
          <a:xfrm>
            <a:off x="714375" y="1837562"/>
            <a:ext cx="7000875" cy="334305"/>
          </a:xfrm>
          <a:prstGeom prst="rect">
            <a:avLst/>
          </a:prstGeom>
          <a:noFill/>
          <a:ln/>
        </p:spPr>
        <p:txBody>
          <a:bodyPr wrap="none" lIns="0" tIns="0" rIns="0" bIns="0" rtlCol="0" anchor="t">
            <a:spAutoFit/>
          </a:bodyPr>
          <a:lstStyle/>
          <a:p>
            <a:pPr algn="l" indent="0" marL="0">
              <a:lnSpc>
                <a:spcPct val="104000"/>
              </a:lnSpc>
              <a:buNone/>
            </a:pPr>
            <a:r>
              <a:rPr lang="en-US" sz="1900" dirty="0">
                <a:solidFill>
                  <a:srgbClr val="04787F"/>
                </a:solidFill>
                <a:latin typeface="Kanit Medium" pitchFamily="34" charset="0"/>
                <a:ea typeface="Kanit Medium" pitchFamily="34" charset="-122"/>
                <a:cs typeface="Kanit Medium" pitchFamily="34" charset="-120"/>
              </a:rPr>
              <a:t>PR professionals should not need to become analysts.</a:t>
            </a:r>
            <a:endParaRPr lang="en-US" sz="1900" dirty="0"/>
          </a:p>
        </p:txBody>
      </p:sp>
      <p:sp>
        <p:nvSpPr>
          <p:cNvPr id="7" name="Shape 2"/>
          <p:cNvSpPr/>
          <p:nvPr/>
        </p:nvSpPr>
        <p:spPr>
          <a:xfrm>
            <a:off x="714375" y="2529055"/>
            <a:ext cx="7000875" cy="1311213"/>
          </a:xfrm>
          <a:prstGeom prst="rect">
            <a:avLst/>
          </a:prstGeom>
          <a:solidFill>
            <a:srgbClr val="F5EDD8"/>
          </a:solidFill>
          <a:ln/>
        </p:spPr>
      </p:sp>
      <p:sp>
        <p:nvSpPr>
          <p:cNvPr id="8" name="Shape 3"/>
          <p:cNvSpPr/>
          <p:nvPr/>
        </p:nvSpPr>
        <p:spPr>
          <a:xfrm>
            <a:off x="714375" y="2529055"/>
            <a:ext cx="57150" cy="1311213"/>
          </a:xfrm>
          <a:prstGeom prst="rect">
            <a:avLst/>
          </a:prstGeom>
          <a:solidFill>
            <a:srgbClr val="FF5800"/>
          </a:solidFill>
          <a:ln/>
        </p:spPr>
      </p:sp>
      <p:sp>
        <p:nvSpPr>
          <p:cNvPr id="9" name="Text 4"/>
          <p:cNvSpPr/>
          <p:nvPr/>
        </p:nvSpPr>
        <p:spPr>
          <a:xfrm>
            <a:off x="942975" y="2729080"/>
            <a:ext cx="6543675" cy="319683"/>
          </a:xfrm>
          <a:prstGeom prst="rect">
            <a:avLst/>
          </a:prstGeom>
          <a:noFill/>
          <a:ln/>
        </p:spPr>
        <p:txBody>
          <a:bodyPr wrap="square" lIns="0" tIns="0" rIns="0" bIns="0" rtlCol="0" anchor="t">
            <a:spAutoFit/>
          </a:bodyPr>
          <a:lstStyle/>
          <a:p>
            <a:pPr algn="l" indent="0" marL="0">
              <a:buNone/>
            </a:pPr>
            <a:r>
              <a:rPr lang="en-US" sz="1500" b="1" dirty="0">
                <a:solidFill>
                  <a:srgbClr val="000000"/>
                </a:solidFill>
                <a:latin typeface="Kanit Bold" pitchFamily="34" charset="0"/>
                <a:ea typeface="Kanit Bold" pitchFamily="34" charset="-122"/>
                <a:cs typeface="Kanit Bold" pitchFamily="34" charset="-120"/>
              </a:rPr>
              <a:t>THE TIMING PROBLEM</a:t>
            </a:r>
            <a:endParaRPr lang="en-US" sz="1500" dirty="0"/>
          </a:p>
        </p:txBody>
      </p:sp>
      <p:sp>
        <p:nvSpPr>
          <p:cNvPr id="10" name="Text 5"/>
          <p:cNvSpPr/>
          <p:nvPr/>
        </p:nvSpPr>
        <p:spPr>
          <a:xfrm>
            <a:off x="942975" y="3120200"/>
            <a:ext cx="6543675" cy="520043"/>
          </a:xfrm>
          <a:prstGeom prst="rect">
            <a:avLst/>
          </a:prstGeom>
          <a:noFill/>
          <a:ln/>
        </p:spPr>
        <p:txBody>
          <a:bodyPr wrap="square" lIns="0" tIns="0" rIns="0" bIns="0" rtlCol="0" anchor="t">
            <a:spAutoFit/>
          </a:bodyPr>
          <a:lstStyle/>
          <a:p>
            <a:pPr algn="l" indent="0" marL="0">
              <a:lnSpc>
                <a:spcPct val="112000"/>
              </a:lnSpc>
              <a:buNone/>
            </a:pPr>
            <a:r>
              <a:rPr lang="en-US" sz="1300" b="1" dirty="0">
                <a:solidFill>
                  <a:srgbClr val="FF5800"/>
                </a:solidFill>
                <a:latin typeface="Kanit Bold" pitchFamily="34" charset="0"/>
                <a:ea typeface="Kanit Bold" pitchFamily="34" charset="-122"/>
                <a:cs typeface="Kanit Bold" pitchFamily="34" charset="-120"/>
              </a:rPr>
              <a:t>If insight only arrives at the end of the campaign, teams are learning too </a:t>
            </a:r>
            <a:r>
              <a:rPr lang="en-US" sz="1300" b="1" dirty="0">
                <a:solidFill>
                  <a:srgbClr val="FF5800"/>
                </a:solidFill>
                <a:latin typeface="Kanit Bold" pitchFamily="34" charset="0"/>
                <a:ea typeface="Kanit Bold" pitchFamily="34" charset="-122"/>
                <a:cs typeface="Kanit Bold" pitchFamily="34" charset="-120"/>
              </a:rPr>
              <a:t>late. Strategic learning needs to happen </a:t>
            </a:r>
            <a:r>
              <a:rPr lang="en-US" sz="1300" b="1" dirty="0">
                <a:solidFill>
                  <a:srgbClr val="FF5800"/>
                </a:solidFill>
                <a:latin typeface="Kanit Bold" pitchFamily="34" charset="0"/>
                <a:ea typeface="Kanit Bold" pitchFamily="34" charset="-122"/>
                <a:cs typeface="Kanit Bold" pitchFamily="34" charset="-120"/>
              </a:rPr>
              <a:t>during</a:t>
            </a:r>
            <a:r>
              <a:rPr lang="en-US" sz="1300" b="1" dirty="0">
                <a:solidFill>
                  <a:srgbClr val="FF5800"/>
                </a:solidFill>
                <a:latin typeface="Kanit Bold" pitchFamily="34" charset="0"/>
                <a:ea typeface="Kanit Bold" pitchFamily="34" charset="-122"/>
                <a:cs typeface="Kanit Bold" pitchFamily="34" charset="-120"/>
              </a:rPr>
              <a:t> campaigns.</a:t>
            </a:r>
            <a:endParaRPr lang="en-US" sz="1300" dirty="0"/>
          </a:p>
        </p:txBody>
      </p:sp>
      <p:pic>
        <p:nvPicPr>
          <p:cNvPr id="11"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471722"/>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000000"/>
                </a:solidFill>
                <a:latin typeface="Kanit Bold" pitchFamily="34" charset="0"/>
                <a:ea typeface="Kanit Bold" pitchFamily="34" charset="-122"/>
                <a:cs typeface="Kanit Bold" pitchFamily="34" charset="-120"/>
              </a:rPr>
              <a:t>OTHER INDUSTRIES IMPROVE BECAUSE THEY CAN COMPARE</a:t>
            </a:r>
            <a:endParaRPr lang="en-US" sz="2450" dirty="0"/>
          </a:p>
        </p:txBody>
      </p:sp>
      <p:sp>
        <p:nvSpPr>
          <p:cNvPr id="6" name="Shape 1"/>
          <p:cNvSpPr/>
          <p:nvPr/>
        </p:nvSpPr>
        <p:spPr>
          <a:xfrm>
            <a:off x="971550" y="1680177"/>
            <a:ext cx="7200900" cy="2700338"/>
          </a:xfrm>
          <a:prstGeom prst="rect">
            <a:avLst/>
          </a:prstGeom>
          <a:solidFill>
            <a:srgbClr val="FFFFFF"/>
          </a:solidFill>
          <a:ln w="18288">
            <a:solidFill>
              <a:srgbClr val="04787F"/>
            </a:solidFill>
            <a:prstDash val="solid"/>
          </a:ln>
        </p:spPr>
      </p:sp>
      <p:sp>
        <p:nvSpPr>
          <p:cNvPr id="7" name="Shape 2"/>
          <p:cNvSpPr/>
          <p:nvPr/>
        </p:nvSpPr>
        <p:spPr>
          <a:xfrm>
            <a:off x="975122" y="1683748"/>
            <a:ext cx="2158110" cy="464344"/>
          </a:xfrm>
          <a:prstGeom prst="rect">
            <a:avLst/>
          </a:prstGeom>
          <a:solidFill>
            <a:srgbClr val="04787F"/>
          </a:solidFill>
          <a:ln w="9144">
            <a:solidFill>
              <a:srgbClr val="04787F"/>
            </a:solidFill>
            <a:prstDash val="solid"/>
          </a:ln>
        </p:spPr>
      </p:sp>
      <p:sp>
        <p:nvSpPr>
          <p:cNvPr id="8" name="Text 3"/>
          <p:cNvSpPr/>
          <p:nvPr/>
        </p:nvSpPr>
        <p:spPr>
          <a:xfrm>
            <a:off x="975122" y="1683748"/>
            <a:ext cx="2158110" cy="464344"/>
          </a:xfrm>
          <a:prstGeom prst="rect">
            <a:avLst/>
          </a:prstGeom>
          <a:noFill/>
          <a:ln/>
        </p:spPr>
        <p:txBody>
          <a:bodyPr wrap="square" lIns="170053" tIns="119126" rIns="170053" bIns="119126" rtlCol="0" anchor="ctr">
            <a:spAutoFit/>
          </a:bodyPr>
          <a:lstStyle/>
          <a:p>
            <a:pPr algn="l" indent="0" marL="0">
              <a:buNone/>
            </a:pPr>
            <a:r>
              <a:rPr lang="en-US" sz="1250" dirty="0">
                <a:solidFill>
                  <a:srgbClr val="FFFFFF"/>
                </a:solidFill>
                <a:latin typeface="Kanit Medium" pitchFamily="34" charset="0"/>
                <a:ea typeface="Kanit Medium" pitchFamily="34" charset="-122"/>
                <a:cs typeface="Kanit Medium" pitchFamily="34" charset="-120"/>
              </a:rPr>
              <a:t>Industry</a:t>
            </a:r>
            <a:endParaRPr lang="en-US" sz="1250" dirty="0"/>
          </a:p>
        </p:txBody>
      </p:sp>
      <p:sp>
        <p:nvSpPr>
          <p:cNvPr id="9" name="Shape 4"/>
          <p:cNvSpPr/>
          <p:nvPr/>
        </p:nvSpPr>
        <p:spPr>
          <a:xfrm>
            <a:off x="3133232" y="1683748"/>
            <a:ext cx="5035646" cy="464344"/>
          </a:xfrm>
          <a:prstGeom prst="rect">
            <a:avLst/>
          </a:prstGeom>
          <a:solidFill>
            <a:srgbClr val="04787F"/>
          </a:solidFill>
          <a:ln w="9144">
            <a:solidFill>
              <a:srgbClr val="04787F"/>
            </a:solidFill>
            <a:prstDash val="solid"/>
          </a:ln>
        </p:spPr>
      </p:sp>
      <p:sp>
        <p:nvSpPr>
          <p:cNvPr id="10" name="Text 5"/>
          <p:cNvSpPr/>
          <p:nvPr/>
        </p:nvSpPr>
        <p:spPr>
          <a:xfrm>
            <a:off x="3133232" y="1683748"/>
            <a:ext cx="5035646" cy="464344"/>
          </a:xfrm>
          <a:prstGeom prst="rect">
            <a:avLst/>
          </a:prstGeom>
          <a:noFill/>
          <a:ln/>
        </p:spPr>
        <p:txBody>
          <a:bodyPr wrap="square" lIns="170053" tIns="119126" rIns="170053" bIns="119126" rtlCol="0" anchor="ctr">
            <a:spAutoFit/>
          </a:bodyPr>
          <a:lstStyle/>
          <a:p>
            <a:pPr algn="l" indent="0" marL="0">
              <a:buNone/>
            </a:pPr>
            <a:r>
              <a:rPr lang="en-US" sz="1250" dirty="0">
                <a:solidFill>
                  <a:srgbClr val="FFFFFF"/>
                </a:solidFill>
                <a:latin typeface="Kanit Medium" pitchFamily="34" charset="0"/>
                <a:ea typeface="Kanit Medium" pitchFamily="34" charset="-122"/>
                <a:cs typeface="Kanit Medium" pitchFamily="34" charset="-120"/>
              </a:rPr>
              <a:t>Shared Structure Enables</a:t>
            </a:r>
            <a:endParaRPr lang="en-US" sz="1250" dirty="0"/>
          </a:p>
        </p:txBody>
      </p:sp>
      <p:sp>
        <p:nvSpPr>
          <p:cNvPr id="11" name="Text 6"/>
          <p:cNvSpPr/>
          <p:nvPr/>
        </p:nvSpPr>
        <p:spPr>
          <a:xfrm>
            <a:off x="975122" y="2140948"/>
            <a:ext cx="2158110" cy="442913"/>
          </a:xfrm>
          <a:prstGeom prst="rect">
            <a:avLst/>
          </a:prstGeom>
          <a:noFill/>
          <a:ln/>
        </p:spPr>
        <p:txBody>
          <a:bodyPr wrap="square" lIns="170053" tIns="119126" rIns="170053" bIns="119126" rtlCol="0" anchor="ctr">
            <a:spAutoFit/>
          </a:bodyPr>
          <a:lstStyle/>
          <a:p>
            <a:pPr algn="l" indent="0" marL="0">
              <a:buNone/>
            </a:pPr>
            <a:r>
              <a:rPr lang="en-US" sz="1100" b="1" dirty="0">
                <a:solidFill>
                  <a:srgbClr val="333333"/>
                </a:solidFill>
                <a:latin typeface="Kanit Bold" pitchFamily="34" charset="0"/>
                <a:ea typeface="Kanit Bold" pitchFamily="34" charset="-122"/>
                <a:cs typeface="Kanit Bold" pitchFamily="34" charset="-120"/>
              </a:rPr>
              <a:t>SEO</a:t>
            </a:r>
            <a:endParaRPr lang="en-US" sz="1100" dirty="0"/>
          </a:p>
        </p:txBody>
      </p:sp>
      <p:sp>
        <p:nvSpPr>
          <p:cNvPr id="12" name="Text 7"/>
          <p:cNvSpPr/>
          <p:nvPr/>
        </p:nvSpPr>
        <p:spPr>
          <a:xfrm>
            <a:off x="3133232" y="2140948"/>
            <a:ext cx="5035646" cy="442913"/>
          </a:xfrm>
          <a:prstGeom prst="rect">
            <a:avLst/>
          </a:prstGeom>
          <a:noFill/>
          <a:ln/>
        </p:spPr>
        <p:txBody>
          <a:bodyPr wrap="square" lIns="170053" tIns="119126" rIns="170053" bIns="119126" rtlCol="0" anchor="ctr">
            <a:spAutoFit/>
          </a:bodyPr>
          <a:lstStyle/>
          <a:p>
            <a:pPr algn="l" indent="0" marL="0">
              <a:buNone/>
            </a:pPr>
            <a:r>
              <a:rPr lang="en-US" sz="1150" dirty="0">
                <a:solidFill>
                  <a:srgbClr val="333333"/>
                </a:solidFill>
                <a:latin typeface="Kanit" pitchFamily="34" charset="0"/>
                <a:ea typeface="Kanit" pitchFamily="34" charset="-122"/>
                <a:cs typeface="Kanit" pitchFamily="34" charset="-120"/>
              </a:rPr>
              <a:t>Cross-site benchmarking, algorithm learning</a:t>
            </a:r>
            <a:endParaRPr lang="en-US" sz="1150" dirty="0"/>
          </a:p>
        </p:txBody>
      </p:sp>
      <p:sp>
        <p:nvSpPr>
          <p:cNvPr id="13" name="Shape 8"/>
          <p:cNvSpPr/>
          <p:nvPr/>
        </p:nvSpPr>
        <p:spPr>
          <a:xfrm>
            <a:off x="975122" y="2583861"/>
            <a:ext cx="7193756" cy="442913"/>
          </a:xfrm>
          <a:prstGeom prst="rect">
            <a:avLst/>
          </a:prstGeom>
          <a:solidFill>
            <a:srgbClr val="F9F9F9"/>
          </a:solidFill>
          <a:ln/>
        </p:spPr>
      </p:sp>
      <p:sp>
        <p:nvSpPr>
          <p:cNvPr id="14" name="Text 9"/>
          <p:cNvSpPr/>
          <p:nvPr/>
        </p:nvSpPr>
        <p:spPr>
          <a:xfrm>
            <a:off x="975122" y="2583861"/>
            <a:ext cx="2158110" cy="442913"/>
          </a:xfrm>
          <a:prstGeom prst="rect">
            <a:avLst/>
          </a:prstGeom>
          <a:noFill/>
          <a:ln/>
        </p:spPr>
        <p:txBody>
          <a:bodyPr wrap="square" lIns="170053" tIns="119126" rIns="170053" bIns="119126" rtlCol="0" anchor="ctr">
            <a:spAutoFit/>
          </a:bodyPr>
          <a:lstStyle/>
          <a:p>
            <a:pPr algn="l" indent="0" marL="0">
              <a:buNone/>
            </a:pPr>
            <a:r>
              <a:rPr lang="en-US" sz="1100" b="1" dirty="0">
                <a:solidFill>
                  <a:srgbClr val="333333"/>
                </a:solidFill>
                <a:latin typeface="Kanit Bold" pitchFamily="34" charset="0"/>
                <a:ea typeface="Kanit Bold" pitchFamily="34" charset="-122"/>
                <a:cs typeface="Kanit Bold" pitchFamily="34" charset="-120"/>
              </a:rPr>
              <a:t>Paid media</a:t>
            </a:r>
            <a:endParaRPr lang="en-US" sz="1100" dirty="0"/>
          </a:p>
        </p:txBody>
      </p:sp>
      <p:sp>
        <p:nvSpPr>
          <p:cNvPr id="15" name="Text 10"/>
          <p:cNvSpPr/>
          <p:nvPr/>
        </p:nvSpPr>
        <p:spPr>
          <a:xfrm>
            <a:off x="3133232" y="2583861"/>
            <a:ext cx="5035646" cy="442913"/>
          </a:xfrm>
          <a:prstGeom prst="rect">
            <a:avLst/>
          </a:prstGeom>
          <a:noFill/>
          <a:ln/>
        </p:spPr>
        <p:txBody>
          <a:bodyPr wrap="square" lIns="170053" tIns="119126" rIns="170053" bIns="119126" rtlCol="0" anchor="ctr">
            <a:spAutoFit/>
          </a:bodyPr>
          <a:lstStyle/>
          <a:p>
            <a:pPr algn="l" indent="0" marL="0">
              <a:buNone/>
            </a:pPr>
            <a:r>
              <a:rPr lang="en-US" sz="1150" dirty="0">
                <a:solidFill>
                  <a:srgbClr val="333333"/>
                </a:solidFill>
                <a:latin typeface="Kanit" pitchFamily="34" charset="0"/>
                <a:ea typeface="Kanit" pitchFamily="34" charset="-122"/>
                <a:cs typeface="Kanit" pitchFamily="34" charset="-120"/>
              </a:rPr>
              <a:t>Cross-campaign ROAS comparison</a:t>
            </a:r>
            <a:endParaRPr lang="en-US" sz="1150" dirty="0"/>
          </a:p>
        </p:txBody>
      </p:sp>
      <p:sp>
        <p:nvSpPr>
          <p:cNvPr id="16" name="Text 11"/>
          <p:cNvSpPr/>
          <p:nvPr/>
        </p:nvSpPr>
        <p:spPr>
          <a:xfrm>
            <a:off x="975122" y="3026773"/>
            <a:ext cx="2158110" cy="442913"/>
          </a:xfrm>
          <a:prstGeom prst="rect">
            <a:avLst/>
          </a:prstGeom>
          <a:noFill/>
          <a:ln/>
        </p:spPr>
        <p:txBody>
          <a:bodyPr wrap="square" lIns="170053" tIns="119126" rIns="170053" bIns="119126" rtlCol="0" anchor="ctr">
            <a:spAutoFit/>
          </a:bodyPr>
          <a:lstStyle/>
          <a:p>
            <a:pPr algn="l" indent="0" marL="0">
              <a:buNone/>
            </a:pPr>
            <a:r>
              <a:rPr lang="en-US" sz="1100" b="1" dirty="0">
                <a:solidFill>
                  <a:srgbClr val="333333"/>
                </a:solidFill>
                <a:latin typeface="Kanit Bold" pitchFamily="34" charset="0"/>
                <a:ea typeface="Kanit Bold" pitchFamily="34" charset="-122"/>
                <a:cs typeface="Kanit Bold" pitchFamily="34" charset="-120"/>
              </a:rPr>
              <a:t>CRM</a:t>
            </a:r>
            <a:endParaRPr lang="en-US" sz="1100" dirty="0"/>
          </a:p>
        </p:txBody>
      </p:sp>
      <p:sp>
        <p:nvSpPr>
          <p:cNvPr id="17" name="Text 12"/>
          <p:cNvSpPr/>
          <p:nvPr/>
        </p:nvSpPr>
        <p:spPr>
          <a:xfrm>
            <a:off x="3133232" y="3026773"/>
            <a:ext cx="5035646" cy="442913"/>
          </a:xfrm>
          <a:prstGeom prst="rect">
            <a:avLst/>
          </a:prstGeom>
          <a:noFill/>
          <a:ln/>
        </p:spPr>
        <p:txBody>
          <a:bodyPr wrap="square" lIns="170053" tIns="119126" rIns="170053" bIns="119126" rtlCol="0" anchor="ctr">
            <a:spAutoFit/>
          </a:bodyPr>
          <a:lstStyle/>
          <a:p>
            <a:pPr algn="l" indent="0" marL="0">
              <a:buNone/>
            </a:pPr>
            <a:r>
              <a:rPr lang="en-US" sz="1150" dirty="0">
                <a:solidFill>
                  <a:srgbClr val="333333"/>
                </a:solidFill>
                <a:latin typeface="Kanit" pitchFamily="34" charset="0"/>
                <a:ea typeface="Kanit" pitchFamily="34" charset="-122"/>
                <a:cs typeface="Kanit" pitchFamily="34" charset="-120"/>
              </a:rPr>
              <a:t>Pipeline benchmarking across teams</a:t>
            </a:r>
            <a:endParaRPr lang="en-US" sz="1150" dirty="0"/>
          </a:p>
        </p:txBody>
      </p:sp>
      <p:sp>
        <p:nvSpPr>
          <p:cNvPr id="18" name="Shape 13"/>
          <p:cNvSpPr/>
          <p:nvPr/>
        </p:nvSpPr>
        <p:spPr>
          <a:xfrm>
            <a:off x="975122" y="3469686"/>
            <a:ext cx="7193756" cy="442913"/>
          </a:xfrm>
          <a:prstGeom prst="rect">
            <a:avLst/>
          </a:prstGeom>
          <a:solidFill>
            <a:srgbClr val="F9F9F9"/>
          </a:solidFill>
          <a:ln/>
        </p:spPr>
      </p:sp>
      <p:sp>
        <p:nvSpPr>
          <p:cNvPr id="19" name="Text 14"/>
          <p:cNvSpPr/>
          <p:nvPr/>
        </p:nvSpPr>
        <p:spPr>
          <a:xfrm>
            <a:off x="975122" y="3469686"/>
            <a:ext cx="2158110" cy="442913"/>
          </a:xfrm>
          <a:prstGeom prst="rect">
            <a:avLst/>
          </a:prstGeom>
          <a:noFill/>
          <a:ln/>
        </p:spPr>
        <p:txBody>
          <a:bodyPr wrap="square" lIns="170053" tIns="119126" rIns="170053" bIns="119126" rtlCol="0" anchor="ctr">
            <a:spAutoFit/>
          </a:bodyPr>
          <a:lstStyle/>
          <a:p>
            <a:pPr algn="l" indent="0" marL="0">
              <a:buNone/>
            </a:pPr>
            <a:r>
              <a:rPr lang="en-US" sz="1100" b="1" dirty="0">
                <a:solidFill>
                  <a:srgbClr val="333333"/>
                </a:solidFill>
                <a:latin typeface="Kanit Bold" pitchFamily="34" charset="0"/>
                <a:ea typeface="Kanit Bold" pitchFamily="34" charset="-122"/>
                <a:cs typeface="Kanit Bold" pitchFamily="34" charset="-120"/>
              </a:rPr>
              <a:t>Finance</a:t>
            </a:r>
            <a:endParaRPr lang="en-US" sz="1100" dirty="0"/>
          </a:p>
        </p:txBody>
      </p:sp>
      <p:sp>
        <p:nvSpPr>
          <p:cNvPr id="20" name="Text 15"/>
          <p:cNvSpPr/>
          <p:nvPr/>
        </p:nvSpPr>
        <p:spPr>
          <a:xfrm>
            <a:off x="3133232" y="3469686"/>
            <a:ext cx="5035646" cy="442913"/>
          </a:xfrm>
          <a:prstGeom prst="rect">
            <a:avLst/>
          </a:prstGeom>
          <a:noFill/>
          <a:ln/>
        </p:spPr>
        <p:txBody>
          <a:bodyPr wrap="square" lIns="170053" tIns="119126" rIns="170053" bIns="119126" rtlCol="0" anchor="ctr">
            <a:spAutoFit/>
          </a:bodyPr>
          <a:lstStyle/>
          <a:p>
            <a:pPr algn="l" indent="0" marL="0">
              <a:buNone/>
            </a:pPr>
            <a:r>
              <a:rPr lang="en-US" sz="1150" dirty="0">
                <a:solidFill>
                  <a:srgbClr val="333333"/>
                </a:solidFill>
                <a:latin typeface="Kanit" pitchFamily="34" charset="0"/>
                <a:ea typeface="Kanit" pitchFamily="34" charset="-122"/>
                <a:cs typeface="Kanit" pitchFamily="34" charset="-120"/>
              </a:rPr>
              <a:t>Cross-market performance comparison</a:t>
            </a:r>
            <a:endParaRPr lang="en-US" sz="1150" dirty="0"/>
          </a:p>
        </p:txBody>
      </p:sp>
      <p:sp>
        <p:nvSpPr>
          <p:cNvPr id="21" name="Text 16"/>
          <p:cNvSpPr/>
          <p:nvPr/>
        </p:nvSpPr>
        <p:spPr>
          <a:xfrm>
            <a:off x="975122" y="3912598"/>
            <a:ext cx="2158110" cy="442913"/>
          </a:xfrm>
          <a:prstGeom prst="rect">
            <a:avLst/>
          </a:prstGeom>
          <a:noFill/>
          <a:ln/>
        </p:spPr>
        <p:txBody>
          <a:bodyPr wrap="square" lIns="170053" tIns="119126" rIns="170053" bIns="119126" rtlCol="0" anchor="ctr">
            <a:spAutoFit/>
          </a:bodyPr>
          <a:lstStyle/>
          <a:p>
            <a:pPr algn="l" indent="0" marL="0">
              <a:buNone/>
            </a:pPr>
            <a:r>
              <a:rPr lang="en-US" sz="1100" b="1" dirty="0">
                <a:solidFill>
                  <a:srgbClr val="333333"/>
                </a:solidFill>
                <a:latin typeface="Kanit Bold" pitchFamily="34" charset="0"/>
                <a:ea typeface="Kanit Bold" pitchFamily="34" charset="-122"/>
                <a:cs typeface="Kanit Bold" pitchFamily="34" charset="-120"/>
              </a:rPr>
              <a:t>Analytics</a:t>
            </a:r>
            <a:endParaRPr lang="en-US" sz="1100" dirty="0"/>
          </a:p>
        </p:txBody>
      </p:sp>
      <p:sp>
        <p:nvSpPr>
          <p:cNvPr id="22" name="Text 17"/>
          <p:cNvSpPr/>
          <p:nvPr/>
        </p:nvSpPr>
        <p:spPr>
          <a:xfrm>
            <a:off x="3133232" y="3912598"/>
            <a:ext cx="5035646" cy="442913"/>
          </a:xfrm>
          <a:prstGeom prst="rect">
            <a:avLst/>
          </a:prstGeom>
          <a:noFill/>
          <a:ln/>
        </p:spPr>
        <p:txBody>
          <a:bodyPr wrap="square" lIns="170053" tIns="119126" rIns="170053" bIns="119126" rtlCol="0" anchor="ctr">
            <a:spAutoFit/>
          </a:bodyPr>
          <a:lstStyle/>
          <a:p>
            <a:pPr algn="l" indent="0" marL="0">
              <a:buNone/>
            </a:pPr>
            <a:r>
              <a:rPr lang="en-US" sz="1150" dirty="0">
                <a:solidFill>
                  <a:srgbClr val="333333"/>
                </a:solidFill>
                <a:latin typeface="Kanit" pitchFamily="34" charset="0"/>
                <a:ea typeface="Kanit" pitchFamily="34" charset="-122"/>
                <a:cs typeface="Kanit" pitchFamily="34" charset="-120"/>
              </a:rPr>
              <a:t>Consistent attribution modelling</a:t>
            </a:r>
            <a:endParaRPr lang="en-US" sz="1150" dirty="0"/>
          </a:p>
        </p:txBody>
      </p:sp>
      <p:sp>
        <p:nvSpPr>
          <p:cNvPr id="23" name="Shape 18"/>
          <p:cNvSpPr/>
          <p:nvPr/>
        </p:nvSpPr>
        <p:spPr>
          <a:xfrm>
            <a:off x="1149427" y="4026422"/>
            <a:ext cx="7200900" cy="876895"/>
          </a:xfrm>
          <a:prstGeom prst="rect">
            <a:avLst/>
          </a:prstGeom>
          <a:solidFill>
            <a:srgbClr val="FF5800">
              <a:alpha val="10000"/>
            </a:srgbClr>
          </a:solidFill>
          <a:ln/>
        </p:spPr>
      </p:sp>
      <p:sp>
        <p:nvSpPr>
          <p:cNvPr id="24" name="Shape 19"/>
          <p:cNvSpPr/>
          <p:nvPr/>
        </p:nvSpPr>
        <p:spPr>
          <a:xfrm>
            <a:off x="1149427" y="4026422"/>
            <a:ext cx="42863" cy="876895"/>
          </a:xfrm>
          <a:prstGeom prst="rect">
            <a:avLst/>
          </a:prstGeom>
          <a:solidFill>
            <a:srgbClr val="FF5800"/>
          </a:solidFill>
          <a:ln/>
        </p:spPr>
      </p:sp>
      <p:sp>
        <p:nvSpPr>
          <p:cNvPr id="25" name="Text 20"/>
          <p:cNvSpPr/>
          <p:nvPr/>
        </p:nvSpPr>
        <p:spPr>
          <a:xfrm>
            <a:off x="1320877" y="4169297"/>
            <a:ext cx="6858000" cy="276820"/>
          </a:xfrm>
          <a:prstGeom prst="rect">
            <a:avLst/>
          </a:prstGeom>
          <a:noFill/>
          <a:ln/>
        </p:spPr>
        <p:txBody>
          <a:bodyPr wrap="square" lIns="0" tIns="0" rIns="0" bIns="0" rtlCol="0" anchor="t">
            <a:spAutoFit/>
          </a:bodyPr>
          <a:lstStyle/>
          <a:p>
            <a:pPr algn="l" indent="0" marL="0">
              <a:buNone/>
            </a:pPr>
            <a:r>
              <a:rPr lang="en-US" sz="1300" b="1" dirty="0">
                <a:solidFill>
                  <a:srgbClr val="000000"/>
                </a:solidFill>
                <a:latin typeface="Kanit Bold" pitchFamily="34" charset="0"/>
                <a:ea typeface="Kanit Bold" pitchFamily="34" charset="-122"/>
                <a:cs typeface="Kanit Bold" pitchFamily="34" charset="-120"/>
              </a:rPr>
              <a:t>PR today:</a:t>
            </a:r>
            <a:endParaRPr lang="en-US" sz="1300" dirty="0"/>
          </a:p>
        </p:txBody>
      </p:sp>
      <p:sp>
        <p:nvSpPr>
          <p:cNvPr id="26" name="Text 21"/>
          <p:cNvSpPr/>
          <p:nvPr/>
        </p:nvSpPr>
        <p:spPr>
          <a:xfrm>
            <a:off x="1320877" y="4503267"/>
            <a:ext cx="6858000" cy="257175"/>
          </a:xfrm>
          <a:prstGeom prst="rect">
            <a:avLst/>
          </a:prstGeom>
          <a:noFill/>
          <a:ln/>
        </p:spPr>
        <p:txBody>
          <a:bodyPr wrap="square" lIns="0" tIns="0" rIns="0" bIns="0" rtlCol="0" anchor="t">
            <a:spAutoFit/>
          </a:bodyPr>
          <a:lstStyle/>
          <a:p>
            <a:pPr algn="l" indent="0" marL="0">
              <a:buNone/>
            </a:pPr>
            <a:r>
              <a:rPr lang="en-US" sz="1250" i="1" dirty="0">
                <a:solidFill>
                  <a:srgbClr val="333333"/>
                </a:solidFill>
                <a:latin typeface="Kanit" pitchFamily="34" charset="0"/>
                <a:ea typeface="Kanit" pitchFamily="34" charset="-122"/>
                <a:cs typeface="Kanit" pitchFamily="34" charset="-120"/>
              </a:rPr>
              <a:t>Still largely comparing isolated campaigns using inconsistent systems.</a:t>
            </a:r>
            <a:endParaRPr lang="en-US" sz="1250" dirty="0"/>
          </a:p>
        </p:txBody>
      </p:sp>
      <p:pic>
        <p:nvPicPr>
          <p:cNvPr id="27" name="Image 2" descr="preencoded.png">    </p:cNvPr>
          <p:cNvPicPr>
            <a:picLocks noChangeAspect="1"/>
          </p:cNvPicPr>
          <p:nvPr/>
        </p:nvPicPr>
        <p:blipFill>
          <a:blip r:embed="rId3"/>
          <a:stretch>
            <a:fillRect/>
          </a:stretch>
        </p:blipFill>
        <p:spPr>
          <a:xfrm>
            <a:off x="0" y="4835928"/>
            <a:ext cx="9144000" cy="61436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571500" y="571500"/>
            <a:ext cx="6858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000000"/>
                </a:solidFill>
                <a:latin typeface="Kanit Bold" pitchFamily="34" charset="0"/>
                <a:ea typeface="Kanit Bold" pitchFamily="34" charset="-122"/>
                <a:cs typeface="Kanit Bold" pitchFamily="34" charset="-120"/>
              </a:rPr>
              <a:t>WHAT SHARED STRUCTURE COULD UNLOCK FOR PR</a:t>
            </a:r>
            <a:endParaRPr lang="en-US" sz="2450" dirty="0"/>
          </a:p>
        </p:txBody>
      </p:sp>
      <p:sp>
        <p:nvSpPr>
          <p:cNvPr id="6" name="Text 1"/>
          <p:cNvSpPr/>
          <p:nvPr/>
        </p:nvSpPr>
        <p:spPr>
          <a:xfrm>
            <a:off x="571500" y="1751614"/>
            <a:ext cx="15537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04787F"/>
                </a:solidFill>
                <a:latin typeface="Kanit" pitchFamily="34" charset="0"/>
                <a:ea typeface="Kanit" pitchFamily="34" charset="-122"/>
                <a:cs typeface="Kanit" pitchFamily="34" charset="-120"/>
              </a:rPr>
              <a:t>✓</a:t>
            </a:r>
            <a:endParaRPr lang="en-US" sz="1400" dirty="0"/>
          </a:p>
        </p:txBody>
      </p:sp>
      <p:sp>
        <p:nvSpPr>
          <p:cNvPr id="7" name="Text 2"/>
          <p:cNvSpPr/>
          <p:nvPr/>
        </p:nvSpPr>
        <p:spPr>
          <a:xfrm>
            <a:off x="841177" y="1751614"/>
            <a:ext cx="3516511" cy="480027"/>
          </a:xfrm>
          <a:prstGeom prst="rect">
            <a:avLst/>
          </a:prstGeom>
          <a:noFill/>
          <a:ln/>
        </p:spPr>
        <p:txBody>
          <a:bodyPr wrap="square" lIns="0" tIns="0"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Meaningful benchmarking across agencies, markets and campaign types</a:t>
            </a:r>
            <a:endParaRPr lang="en-US" sz="1250" dirty="0"/>
          </a:p>
        </p:txBody>
      </p:sp>
      <p:sp>
        <p:nvSpPr>
          <p:cNvPr id="8" name="Text 3"/>
          <p:cNvSpPr/>
          <p:nvPr/>
        </p:nvSpPr>
        <p:spPr>
          <a:xfrm>
            <a:off x="4786313" y="1751614"/>
            <a:ext cx="15537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04787F"/>
                </a:solidFill>
                <a:latin typeface="Kanit" pitchFamily="34" charset="0"/>
                <a:ea typeface="Kanit" pitchFamily="34" charset="-122"/>
                <a:cs typeface="Kanit" pitchFamily="34" charset="-120"/>
              </a:rPr>
              <a:t>✓</a:t>
            </a:r>
            <a:endParaRPr lang="en-US" sz="1400" dirty="0"/>
          </a:p>
        </p:txBody>
      </p:sp>
      <p:sp>
        <p:nvSpPr>
          <p:cNvPr id="9" name="Text 4"/>
          <p:cNvSpPr/>
          <p:nvPr/>
        </p:nvSpPr>
        <p:spPr>
          <a:xfrm>
            <a:off x="5055989" y="1751614"/>
            <a:ext cx="3516511" cy="480027"/>
          </a:xfrm>
          <a:prstGeom prst="rect">
            <a:avLst/>
          </a:prstGeom>
          <a:noFill/>
          <a:ln/>
        </p:spPr>
        <p:txBody>
          <a:bodyPr wrap="square" lIns="0" tIns="0"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Stronger evidence of PR effectiveness for leadership</a:t>
            </a:r>
            <a:endParaRPr lang="en-US" sz="1250" dirty="0"/>
          </a:p>
        </p:txBody>
      </p:sp>
      <p:sp>
        <p:nvSpPr>
          <p:cNvPr id="10" name="Text 5"/>
          <p:cNvSpPr/>
          <p:nvPr/>
        </p:nvSpPr>
        <p:spPr>
          <a:xfrm>
            <a:off x="571500" y="2445953"/>
            <a:ext cx="15537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04787F"/>
                </a:solidFill>
                <a:latin typeface="Kanit" pitchFamily="34" charset="0"/>
                <a:ea typeface="Kanit" pitchFamily="34" charset="-122"/>
                <a:cs typeface="Kanit" pitchFamily="34" charset="-120"/>
              </a:rPr>
              <a:t>✓</a:t>
            </a:r>
            <a:endParaRPr lang="en-US" sz="1400" dirty="0"/>
          </a:p>
        </p:txBody>
      </p:sp>
      <p:sp>
        <p:nvSpPr>
          <p:cNvPr id="11" name="Text 6"/>
          <p:cNvSpPr/>
          <p:nvPr/>
        </p:nvSpPr>
        <p:spPr>
          <a:xfrm>
            <a:off x="841177" y="2445953"/>
            <a:ext cx="3516511" cy="480027"/>
          </a:xfrm>
          <a:prstGeom prst="rect">
            <a:avLst/>
          </a:prstGeom>
          <a:noFill/>
          <a:ln/>
        </p:spPr>
        <p:txBody>
          <a:bodyPr wrap="square" lIns="0" tIns="0"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Cross-agency comparison for the first time at scale</a:t>
            </a:r>
            <a:endParaRPr lang="en-US" sz="1250" dirty="0"/>
          </a:p>
        </p:txBody>
      </p:sp>
      <p:sp>
        <p:nvSpPr>
          <p:cNvPr id="12" name="Text 7"/>
          <p:cNvSpPr/>
          <p:nvPr/>
        </p:nvSpPr>
        <p:spPr>
          <a:xfrm>
            <a:off x="4786313" y="2445953"/>
            <a:ext cx="15537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04787F"/>
                </a:solidFill>
                <a:latin typeface="Kanit" pitchFamily="34" charset="0"/>
                <a:ea typeface="Kanit" pitchFamily="34" charset="-122"/>
                <a:cs typeface="Kanit" pitchFamily="34" charset="-120"/>
              </a:rPr>
              <a:t>✓</a:t>
            </a:r>
            <a:endParaRPr lang="en-US" sz="1400" dirty="0"/>
          </a:p>
        </p:txBody>
      </p:sp>
      <p:sp>
        <p:nvSpPr>
          <p:cNvPr id="13" name="Text 8"/>
          <p:cNvSpPr/>
          <p:nvPr/>
        </p:nvSpPr>
        <p:spPr>
          <a:xfrm>
            <a:off x="5055989" y="2445953"/>
            <a:ext cx="3516511" cy="480027"/>
          </a:xfrm>
          <a:prstGeom prst="rect">
            <a:avLst/>
          </a:prstGeom>
          <a:noFill/>
          <a:ln/>
        </p:spPr>
        <p:txBody>
          <a:bodyPr wrap="square" lIns="0" tIns="0"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More confident investment decisions based on reliable data</a:t>
            </a:r>
            <a:endParaRPr lang="en-US" sz="1250" dirty="0"/>
          </a:p>
        </p:txBody>
      </p:sp>
      <p:sp>
        <p:nvSpPr>
          <p:cNvPr id="14" name="Text 9"/>
          <p:cNvSpPr/>
          <p:nvPr/>
        </p:nvSpPr>
        <p:spPr>
          <a:xfrm>
            <a:off x="571500" y="3140292"/>
            <a:ext cx="15537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04787F"/>
                </a:solidFill>
                <a:latin typeface="Kanit" pitchFamily="34" charset="0"/>
                <a:ea typeface="Kanit" pitchFamily="34" charset="-122"/>
                <a:cs typeface="Kanit" pitchFamily="34" charset="-120"/>
              </a:rPr>
              <a:t>✓</a:t>
            </a:r>
            <a:endParaRPr lang="en-US" sz="1400" dirty="0"/>
          </a:p>
        </p:txBody>
      </p:sp>
      <p:sp>
        <p:nvSpPr>
          <p:cNvPr id="15" name="Text 10"/>
          <p:cNvSpPr/>
          <p:nvPr/>
        </p:nvSpPr>
        <p:spPr>
          <a:xfrm>
            <a:off x="841177" y="3140292"/>
            <a:ext cx="3516511" cy="480027"/>
          </a:xfrm>
          <a:prstGeom prst="rect">
            <a:avLst/>
          </a:prstGeom>
          <a:noFill/>
          <a:ln/>
        </p:spPr>
        <p:txBody>
          <a:bodyPr wrap="square" lIns="0" tIns="0"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Better strategic learning that accumulates across the industry</a:t>
            </a:r>
            <a:endParaRPr lang="en-US" sz="1250" dirty="0"/>
          </a:p>
        </p:txBody>
      </p:sp>
      <p:sp>
        <p:nvSpPr>
          <p:cNvPr id="16" name="Text 11"/>
          <p:cNvSpPr/>
          <p:nvPr/>
        </p:nvSpPr>
        <p:spPr>
          <a:xfrm>
            <a:off x="4786313" y="3140292"/>
            <a:ext cx="15537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04787F"/>
                </a:solidFill>
                <a:latin typeface="Kanit" pitchFamily="34" charset="0"/>
                <a:ea typeface="Kanit" pitchFamily="34" charset="-122"/>
                <a:cs typeface="Kanit" pitchFamily="34" charset="-120"/>
              </a:rPr>
              <a:t>✓</a:t>
            </a:r>
            <a:endParaRPr lang="en-US" sz="1400" dirty="0"/>
          </a:p>
        </p:txBody>
      </p:sp>
      <p:sp>
        <p:nvSpPr>
          <p:cNvPr id="17" name="Text 12"/>
          <p:cNvSpPr/>
          <p:nvPr/>
        </p:nvSpPr>
        <p:spPr>
          <a:xfrm>
            <a:off x="5055989" y="3140292"/>
            <a:ext cx="3516511" cy="480027"/>
          </a:xfrm>
          <a:prstGeom prst="rect">
            <a:avLst/>
          </a:prstGeom>
          <a:noFill/>
          <a:ln/>
        </p:spPr>
        <p:txBody>
          <a:bodyPr wrap="square" lIns="0" tIns="0"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Stronger industry credibility with boards and C-suites</a:t>
            </a:r>
            <a:endParaRPr lang="en-US" sz="1250" dirty="0"/>
          </a:p>
        </p:txBody>
      </p:sp>
      <p:sp>
        <p:nvSpPr>
          <p:cNvPr id="18" name="Text 13"/>
          <p:cNvSpPr/>
          <p:nvPr/>
        </p:nvSpPr>
        <p:spPr>
          <a:xfrm>
            <a:off x="571500" y="3834631"/>
            <a:ext cx="15537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04787F"/>
                </a:solidFill>
                <a:latin typeface="Kanit" pitchFamily="34" charset="0"/>
                <a:ea typeface="Kanit" pitchFamily="34" charset="-122"/>
                <a:cs typeface="Kanit" pitchFamily="34" charset="-120"/>
              </a:rPr>
              <a:t>✓</a:t>
            </a:r>
            <a:endParaRPr lang="en-US" sz="1400" dirty="0"/>
          </a:p>
        </p:txBody>
      </p:sp>
      <p:sp>
        <p:nvSpPr>
          <p:cNvPr id="19" name="Text 14"/>
          <p:cNvSpPr/>
          <p:nvPr/>
        </p:nvSpPr>
        <p:spPr>
          <a:xfrm>
            <a:off x="841177" y="3834631"/>
            <a:ext cx="3516511" cy="480027"/>
          </a:xfrm>
          <a:prstGeom prst="rect">
            <a:avLst/>
          </a:prstGeom>
          <a:noFill/>
          <a:ln/>
        </p:spPr>
        <p:txBody>
          <a:bodyPr wrap="square" lIns="0" tIns="0"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Clearer budget conversations grounded in comparable evidence</a:t>
            </a:r>
            <a:endParaRPr lang="en-US" sz="1250" dirty="0"/>
          </a:p>
        </p:txBody>
      </p:sp>
      <p:sp>
        <p:nvSpPr>
          <p:cNvPr id="20" name="Text 15"/>
          <p:cNvSpPr/>
          <p:nvPr/>
        </p:nvSpPr>
        <p:spPr>
          <a:xfrm>
            <a:off x="4786313" y="3834631"/>
            <a:ext cx="155377" cy="222879"/>
          </a:xfrm>
          <a:prstGeom prst="rect">
            <a:avLst/>
          </a:prstGeom>
          <a:noFill/>
          <a:ln/>
        </p:spPr>
        <p:txBody>
          <a:bodyPr wrap="none" lIns="0" tIns="0" rIns="0" bIns="0" rtlCol="0" anchor="t">
            <a:spAutoFit/>
          </a:bodyPr>
          <a:lstStyle/>
          <a:p>
            <a:pPr algn="l" indent="0" marL="0">
              <a:lnSpc>
                <a:spcPct val="96000"/>
              </a:lnSpc>
              <a:buNone/>
            </a:pPr>
            <a:r>
              <a:rPr lang="en-US" sz="1400" dirty="0">
                <a:solidFill>
                  <a:srgbClr val="04787F"/>
                </a:solidFill>
                <a:latin typeface="Kanit" pitchFamily="34" charset="0"/>
                <a:ea typeface="Kanit" pitchFamily="34" charset="-122"/>
                <a:cs typeface="Kanit" pitchFamily="34" charset="-120"/>
              </a:rPr>
              <a:t>✓</a:t>
            </a:r>
            <a:endParaRPr lang="en-US" sz="1400" dirty="0"/>
          </a:p>
        </p:txBody>
      </p:sp>
      <p:sp>
        <p:nvSpPr>
          <p:cNvPr id="21" name="Text 16"/>
          <p:cNvSpPr/>
          <p:nvPr/>
        </p:nvSpPr>
        <p:spPr>
          <a:xfrm>
            <a:off x="5055989" y="3834631"/>
            <a:ext cx="3516511" cy="480027"/>
          </a:xfrm>
          <a:prstGeom prst="rect">
            <a:avLst/>
          </a:prstGeom>
          <a:noFill/>
          <a:ln/>
        </p:spPr>
        <p:txBody>
          <a:bodyPr wrap="square" lIns="0" tIns="0" rIns="0" bIns="0" rtlCol="0" anchor="t">
            <a:spAutoFit/>
          </a:bodyPr>
          <a:lstStyle/>
          <a:p>
            <a:pPr algn="l" indent="0" marL="0">
              <a:lnSpc>
                <a:spcPct val="112000"/>
              </a:lnSpc>
              <a:buNone/>
            </a:pPr>
            <a:r>
              <a:rPr lang="en-US" sz="1250" dirty="0">
                <a:solidFill>
                  <a:srgbClr val="333333"/>
                </a:solidFill>
                <a:latin typeface="Kanit" pitchFamily="34" charset="0"/>
                <a:ea typeface="Kanit" pitchFamily="34" charset="-122"/>
                <a:cs typeface="Kanit" pitchFamily="34" charset="-120"/>
              </a:rPr>
              <a:t>Better AI analysis built on consistent, structured inputs</a:t>
            </a:r>
            <a:endParaRPr lang="en-US" sz="1250" dirty="0"/>
          </a:p>
        </p:txBody>
      </p:sp>
      <p:pic>
        <p:nvPicPr>
          <p:cNvPr id="22"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685800" y="825661"/>
            <a:ext cx="7772400" cy="512564"/>
          </a:xfrm>
          <a:prstGeom prst="rect">
            <a:avLst/>
          </a:prstGeom>
          <a:noFill/>
          <a:ln/>
        </p:spPr>
        <p:txBody>
          <a:bodyPr wrap="square" lIns="0" tIns="0" rIns="0" bIns="0" rtlCol="0" anchor="t">
            <a:spAutoFit/>
          </a:bodyPr>
          <a:lstStyle/>
          <a:p>
            <a:pPr algn="ctr" indent="0" marL="0">
              <a:buNone/>
            </a:pPr>
            <a:r>
              <a:rPr lang="en-US" sz="2600" dirty="0">
                <a:solidFill>
                  <a:srgbClr val="333333"/>
                </a:solidFill>
                <a:latin typeface="Kanit Medium" pitchFamily="34" charset="0"/>
                <a:ea typeface="Kanit Medium" pitchFamily="34" charset="-122"/>
                <a:cs typeface="Kanit Medium" pitchFamily="34" charset="-120"/>
              </a:rPr>
              <a:t>What could PR become…</a:t>
            </a:r>
            <a:endParaRPr lang="en-US" sz="2600" dirty="0"/>
          </a:p>
        </p:txBody>
      </p:sp>
      <p:sp>
        <p:nvSpPr>
          <p:cNvPr id="6" name="Text 1"/>
          <p:cNvSpPr/>
          <p:nvPr/>
        </p:nvSpPr>
        <p:spPr>
          <a:xfrm>
            <a:off x="685800" y="1409663"/>
            <a:ext cx="7772400" cy="1097235"/>
          </a:xfrm>
          <a:prstGeom prst="rect">
            <a:avLst/>
          </a:prstGeom>
          <a:noFill/>
          <a:ln/>
        </p:spPr>
        <p:txBody>
          <a:bodyPr wrap="square" lIns="0" tIns="0" rIns="0" bIns="0" rtlCol="0" anchor="t">
            <a:spAutoFit/>
          </a:bodyPr>
          <a:lstStyle/>
          <a:p>
            <a:pPr algn="ctr" indent="0" marL="0">
              <a:lnSpc>
                <a:spcPct val="96000"/>
              </a:lnSpc>
              <a:buNone/>
            </a:pPr>
            <a:r>
              <a:rPr lang="en-US" sz="3300" b="1" dirty="0">
                <a:solidFill>
                  <a:srgbClr val="04787F"/>
                </a:solidFill>
                <a:latin typeface="Kanit Bold" pitchFamily="34" charset="0"/>
                <a:ea typeface="Kanit Bold" pitchFamily="34" charset="-122"/>
                <a:cs typeface="Kanit Bold" pitchFamily="34" charset="-120"/>
              </a:rPr>
              <a:t>if the industry finally had comparable structured data?</a:t>
            </a:r>
            <a:endParaRPr lang="en-US" sz="3300" dirty="0"/>
          </a:p>
        </p:txBody>
      </p:sp>
      <p:sp>
        <p:nvSpPr>
          <p:cNvPr id="7" name="Text 2"/>
          <p:cNvSpPr/>
          <p:nvPr/>
        </p:nvSpPr>
        <p:spPr>
          <a:xfrm>
            <a:off x="685800" y="2935523"/>
            <a:ext cx="7772400" cy="767953"/>
          </a:xfrm>
          <a:prstGeom prst="rect">
            <a:avLst/>
          </a:prstGeom>
          <a:noFill/>
          <a:ln/>
        </p:spPr>
        <p:txBody>
          <a:bodyPr wrap="square" lIns="0" tIns="0" rIns="0" bIns="0" rtlCol="0" anchor="t">
            <a:spAutoFit/>
          </a:bodyPr>
          <a:lstStyle/>
          <a:p>
            <a:pPr algn="ctr" indent="0" marL="0">
              <a:buNone/>
            </a:pPr>
            <a:r>
              <a:rPr lang="en-US" sz="1800" b="1" dirty="0">
                <a:solidFill>
                  <a:srgbClr val="FF5800"/>
                </a:solidFill>
                <a:latin typeface="Kanit Bold" pitchFamily="34" charset="0"/>
                <a:ea typeface="Kanit Bold" pitchFamily="34" charset="-122"/>
                <a:cs typeface="Kanit Bold" pitchFamily="34" charset="-120"/>
              </a:rPr>
              <a:t>MEASUREMENT SHOULD BECOME A SYSTEM OF EVIDENCE FOR INFLUENCE.</a:t>
            </a:r>
            <a:endParaRPr lang="en-US" sz="1800" dirty="0"/>
          </a:p>
        </p:txBody>
      </p:sp>
      <p:pic>
        <p:nvPicPr>
          <p:cNvPr id="8"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7572375" y="285750"/>
            <a:ext cx="1285875" cy="428625"/>
          </a:xfrm>
          <a:prstGeom prst="rect">
            <a:avLst/>
          </a:prstGeom>
        </p:spPr>
      </p:pic>
      <p:sp>
        <p:nvSpPr>
          <p:cNvPr id="5" name="Text 0"/>
          <p:cNvSpPr/>
          <p:nvPr/>
        </p:nvSpPr>
        <p:spPr>
          <a:xfrm>
            <a:off x="2660154" y="708124"/>
            <a:ext cx="3823692" cy="685800"/>
          </a:xfrm>
          <a:prstGeom prst="rect">
            <a:avLst/>
          </a:prstGeom>
          <a:noFill/>
          <a:ln/>
        </p:spPr>
        <p:txBody>
          <a:bodyPr wrap="none" lIns="0" tIns="0" rIns="0" bIns="0" rtlCol="0" anchor="t">
            <a:spAutoFit/>
          </a:bodyPr>
          <a:lstStyle/>
          <a:p>
            <a:pPr algn="ctr" indent="0" marL="0">
              <a:lnSpc>
                <a:spcPct val="80000"/>
              </a:lnSpc>
              <a:buNone/>
            </a:pPr>
            <a:r>
              <a:rPr lang="en-US" sz="4950" b="1" dirty="0">
                <a:solidFill>
                  <a:srgbClr val="000000"/>
                </a:solidFill>
                <a:latin typeface="Kanit Bold" pitchFamily="34" charset="0"/>
                <a:ea typeface="Kanit Bold" pitchFamily="34" charset="-122"/>
                <a:cs typeface="Kanit Bold" pitchFamily="34" charset="-120"/>
              </a:rPr>
              <a:t>THANK YOU</a:t>
            </a:r>
            <a:endParaRPr lang="en-US" sz="4950" dirty="0"/>
          </a:p>
        </p:txBody>
      </p:sp>
      <p:sp>
        <p:nvSpPr>
          <p:cNvPr id="6" name="Text 1"/>
          <p:cNvSpPr/>
          <p:nvPr/>
        </p:nvSpPr>
        <p:spPr>
          <a:xfrm>
            <a:off x="2764631" y="1608237"/>
            <a:ext cx="3614738" cy="512564"/>
          </a:xfrm>
          <a:prstGeom prst="rect">
            <a:avLst/>
          </a:prstGeom>
          <a:noFill/>
          <a:ln/>
        </p:spPr>
        <p:txBody>
          <a:bodyPr wrap="square" lIns="0" tIns="0" rIns="0" bIns="0" rtlCol="0" anchor="t">
            <a:spAutoFit/>
          </a:bodyPr>
          <a:lstStyle/>
          <a:p>
            <a:pPr algn="ctr" indent="0" marL="0">
              <a:buNone/>
            </a:pPr>
            <a:r>
              <a:rPr lang="en-US" sz="2600" i="1" dirty="0">
                <a:solidFill>
                  <a:srgbClr val="04787F"/>
                </a:solidFill>
                <a:latin typeface="Kanit Medium" pitchFamily="34" charset="0"/>
                <a:ea typeface="Kanit Medium" pitchFamily="34" charset="-122"/>
                <a:cs typeface="Kanit Medium" pitchFamily="34" charset="-120"/>
              </a:rPr>
              <a:t>Questions &amp; Discussion</a:t>
            </a:r>
            <a:endParaRPr lang="en-US" sz="2600" dirty="0"/>
          </a:p>
        </p:txBody>
      </p:sp>
      <p:sp>
        <p:nvSpPr>
          <p:cNvPr id="7" name="Shape 2"/>
          <p:cNvSpPr/>
          <p:nvPr/>
        </p:nvSpPr>
        <p:spPr>
          <a:xfrm>
            <a:off x="2390477" y="2549426"/>
            <a:ext cx="4363045" cy="585788"/>
          </a:xfrm>
          <a:prstGeom prst="rect">
            <a:avLst/>
          </a:prstGeom>
          <a:solidFill>
            <a:srgbClr val="FFFFFF"/>
          </a:solidFill>
          <a:ln w="18288">
            <a:solidFill>
              <a:srgbClr val="FF5800"/>
            </a:solidFill>
            <a:prstDash val="solid"/>
          </a:ln>
        </p:spPr>
      </p:sp>
      <p:sp>
        <p:nvSpPr>
          <p:cNvPr id="8" name="Text 3"/>
          <p:cNvSpPr/>
          <p:nvPr/>
        </p:nvSpPr>
        <p:spPr>
          <a:xfrm>
            <a:off x="2390477" y="2549426"/>
            <a:ext cx="4363045" cy="585788"/>
          </a:xfrm>
          <a:prstGeom prst="rect">
            <a:avLst/>
          </a:prstGeom>
          <a:noFill/>
          <a:ln/>
        </p:spPr>
        <p:txBody>
          <a:bodyPr wrap="square" lIns="340233" tIns="127508" rIns="340233" bIns="127508" rtlCol="0" anchor="t">
            <a:spAutoFit/>
          </a:bodyPr>
          <a:lstStyle/>
          <a:p>
            <a:pPr algn="ctr" indent="0" marL="0">
              <a:buNone/>
            </a:pPr>
            <a:r>
              <a:rPr lang="en-US" sz="1700" dirty="0">
                <a:solidFill>
                  <a:srgbClr val="333333"/>
                </a:solidFill>
                <a:latin typeface="Kanit" pitchFamily="34" charset="0"/>
                <a:ea typeface="Kanit" pitchFamily="34" charset="-122"/>
                <a:cs typeface="Kanit" pitchFamily="34" charset="-120"/>
              </a:rPr>
              <a:t>[Your contact details / social handle]</a:t>
            </a:r>
            <a:endParaRPr lang="en-US" sz="1700" dirty="0"/>
          </a:p>
        </p:txBody>
      </p:sp>
      <p:sp>
        <p:nvSpPr>
          <p:cNvPr id="9" name="Text 4"/>
          <p:cNvSpPr/>
          <p:nvPr/>
        </p:nvSpPr>
        <p:spPr>
          <a:xfrm>
            <a:off x="1660922" y="3549551"/>
            <a:ext cx="5822156" cy="257175"/>
          </a:xfrm>
          <a:prstGeom prst="rect">
            <a:avLst/>
          </a:prstGeom>
          <a:noFill/>
          <a:ln/>
        </p:spPr>
        <p:txBody>
          <a:bodyPr wrap="square" lIns="0" tIns="0" rIns="0" bIns="0" rtlCol="0" anchor="t">
            <a:spAutoFit/>
          </a:bodyPr>
          <a:lstStyle/>
          <a:p>
            <a:pPr algn="ctr" indent="0" marL="0">
              <a:buNone/>
            </a:pPr>
            <a:r>
              <a:rPr lang="en-US" sz="1250" dirty="0">
                <a:solidFill>
                  <a:srgbClr val="FF5800"/>
                </a:solidFill>
                <a:latin typeface="Kanit Medium" pitchFamily="34" charset="0"/>
                <a:ea typeface="Kanit Medium" pitchFamily="34" charset="-122"/>
                <a:cs typeface="Kanit Medium" pitchFamily="34" charset="-120"/>
              </a:rPr>
              <a:t>AMEC Global Summit on Measurement and Evaluation 2026 </a:t>
            </a:r>
            <a:r>
              <a:rPr lang="en-US" sz="1250" dirty="0">
                <a:solidFill>
                  <a:srgbClr val="FF5800"/>
                </a:solidFill>
                <a:latin typeface="Kanit Medium" pitchFamily="34" charset="0"/>
                <a:ea typeface="Kanit Medium" pitchFamily="34" charset="-122"/>
                <a:cs typeface="Kanit Medium" pitchFamily="34" charset="-120"/>
              </a:rPr>
              <a:t>|</a:t>
            </a:r>
            <a:r>
              <a:rPr lang="en-US" sz="1250" dirty="0">
                <a:solidFill>
                  <a:srgbClr val="FF5800"/>
                </a:solidFill>
                <a:latin typeface="Kanit Medium" pitchFamily="34" charset="0"/>
                <a:ea typeface="Kanit Medium" pitchFamily="34" charset="-122"/>
                <a:cs typeface="Kanit Medium" pitchFamily="34" charset="-120"/>
              </a:rPr>
              <a:t> Dublin, Ireland</a:t>
            </a:r>
            <a:endParaRPr lang="en-US" sz="1250" dirty="0"/>
          </a:p>
        </p:txBody>
      </p:sp>
      <p:pic>
        <p:nvPicPr>
          <p:cNvPr id="10" name="Image 2" descr="preencoded.png">    </p:cNvPr>
          <p:cNvPicPr>
            <a:picLocks noChangeAspect="1"/>
          </p:cNvPicPr>
          <p:nvPr/>
        </p:nvPicPr>
        <p:blipFill>
          <a:blip r:embed="rId3"/>
          <a:stretch>
            <a:fillRect/>
          </a:stretch>
        </p:blipFill>
        <p:spPr>
          <a:xfrm>
            <a:off x="0" y="4529138"/>
            <a:ext cx="9144000" cy="6143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2026-05-14T16:12:42Z</dcterms:created>
  <dcterms:modified xsi:type="dcterms:W3CDTF">2026-05-14T16:12:42Z</dcterms:modified>
</cp:coreProperties>
</file>